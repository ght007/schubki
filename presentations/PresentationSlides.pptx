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and context: </a:t>
            </a:r>
          </a:p>
          <a:p>
            <a:r>
              <a:t>Reconstructed as editable text and vector elements from the revised jury PDF. Original AFS figures remain embedded images. Repository snapshot bf818a9.</a:t>
            </a:r>
          </a:p>
          <a:p>
            <a:r>
              <a:t>Repository: https://github.com/ght007/SchubKI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and context: Sources: challenge brief p.1; S02 slide 20. Workflow: frontend/js/app.js.</a:t>
            </a:r>
          </a:p>
          <a:p>
            <a:r>
              <a:t>Reconstructed as editable text and vector elements from the revised jury PDF. Original AFS figures remain embedded images. Repository snapshot bf818a9.</a:t>
            </a:r>
          </a:p>
          <a:p>
            <a:r>
              <a:t>Repository: https://github.com/ght007/SchubKI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and context: Adapted from AFS Fiberwise - Video Intro, slide 2. Implementation: engine/pipeline.py, precheck.py and confidence.py.</a:t>
            </a:r>
          </a:p>
          <a:p>
            <a:r>
              <a:t>Reconstructed as editable text and vector elements from the revised jury PDF. Original AFS figures remain embedded images. Repository snapshot bf818a9.</a:t>
            </a:r>
          </a:p>
          <a:p>
            <a:r>
              <a:t>Repository: https://github.com/ght007/SchubKI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and context: Sources: data/kb/claims.jsonl, rules.yaml and sources.json.</a:t>
            </a:r>
          </a:p>
          <a:p>
            <a:r>
              <a:t>Reconstructed as editable text and vector elements from the revised jury PDF. Original AFS figures remain embedded images. Repository snapshot bf818a9.</a:t>
            </a:r>
          </a:p>
          <a:p>
            <a:r>
              <a:t>Repository: https://github.com/ght007/SchubKI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and context: Code: engine/verify.py, quality.py and confidence.py. Citation counts cover selected report fields.</a:t>
            </a:r>
          </a:p>
          <a:p>
            <a:r>
              <a:t>Reconstructed as editable text and vector elements from the revised jury PDF. Original AFS figures remain embedded images. Repository snapshot bf818a9.</a:t>
            </a:r>
          </a:p>
          <a:p>
            <a:r>
              <a:t>Repository: https://github.com/ght007/SchubKI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and context: Archived H01 output. Technical basis: S01 pp.5, 8-10 and 14-15.</a:t>
            </a:r>
          </a:p>
          <a:p>
            <a:r>
              <a:t>Reconstructed as editable text and vector elements from the revised jury PDF. Original AFS figures remain embedded images. Repository snapshot bf818a9.</a:t>
            </a:r>
          </a:p>
          <a:p>
            <a:r>
              <a:t>Repository: https://github.com/ght007/SchubKI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and context: Based on the stored H01 plan. Acceptance criteria remain client-agreed; no spectra were supplied.</a:t>
            </a:r>
          </a:p>
          <a:p>
            <a:r>
              <a:t>Reconstructed as editable text and vector elements from the revised jury PDF. Original AFS figures remain embedded images. Repository snapshot bf818a9.</a:t>
            </a:r>
          </a:p>
          <a:p>
            <a:r>
              <a:t>Repository: https://github.com/ght007/SchubKI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and context: Archived H04 output. Fiber chart: art photonics, supplied S02 slide 6.</a:t>
            </a:r>
          </a:p>
          <a:p>
            <a:r>
              <a:t>Reconstructed as editable text and vector elements from the revised jury PDF. Original AFS figures remain embedded images. Repository snapshot bf818a9.</a:t>
            </a:r>
          </a:p>
          <a:p>
            <a:r>
              <a:t>Repository: https://github.com/ght007/SchubKI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and context: Path definitions: S02 slide 20. Code: engine/paths.py. AFS and the customer confirm the solution.</a:t>
            </a:r>
          </a:p>
          <a:p>
            <a:r>
              <a:t>Reconstructed as editable text and vector elements from the revised jury PDF. Original AFS figures remain embedded images. Repository snapshot bf818a9.</a:t>
            </a:r>
          </a:p>
          <a:p>
            <a:r>
              <a:t>Repository: https://github.com/ght007/SchubKI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and context: Repository:  github.com/ght007/SchubKI  / Reviewed snapshot bf818a9 / 18 October 2026</a:t>
            </a:r>
          </a:p>
          <a:p>
            <a:r>
              <a:t>Reconstructed as editable text and vector elements from the revised jury PDF. Original AFS figures remain embedded images. Repository snapshot bf818a9.</a:t>
            </a:r>
          </a:p>
          <a:p>
            <a:r>
              <a:t>Repository: https://github.com/ght007/SchubKI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and context: Evidence: outputs/H01.json, H04.json and outputs/adversarial at snapshot bf818a9. H01: H1 fail / U2 warn. H04: G1 and G2 fail.</a:t>
            </a:r>
          </a:p>
          <a:p>
            <a:r>
              <a:t>Reconstructed as editable text and vector elements from the revised jury PDF. Original AFS figures remain embedded images. Repository snapshot bf818a9.</a:t>
            </a:r>
          </a:p>
          <a:p>
            <a:r>
              <a:t>Repository: https://github.com/ght007/SchubKI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Sources and context: Challenge context: AI Assistant for In-line Spectroscopy Solution Design brief, pp.1-2; opening presentation, p.22.</a:t>
            </a:r>
          </a:p>
          <a:p>
            <a:r>
              <a:t>Reconstructed as editable text and vector elements from the revised jury PDF. Original AFS figures remain embedded images. Repository snapshot bf818a9.</a:t>
            </a:r>
          </a:p>
          <a:p>
            <a:r>
              <a:t>Repository: https://github.com/ght007/SchubKI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22E724F2-884E-4F77-9FF0-D351DC9F90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2F10DF2-F1E0-4604-A80F-512A6E2140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4FE4B52D-6E2B-4830-9938-A72CE441B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2816B1E-3CF4-4453-AA3E-04A771DB9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0473B54B-C1AD-4CC9-9629-99D6AB379B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B721532-DEB9-4C55-B32C-12D60BF8F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6BF0B9F4-10E6-4084-AB65-A7C1493D9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24E918BB-8C73-4B2E-B38A-44D500DE082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7C4FD8B3-37ED-423C-8F08-136FC8BE4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4396F6C-FBED-4E38-94FF-554C647D2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1 background or diagram 1">
            <a:extLst>
              <a:ext uri="{FF2B5EF4-FFF2-40B4-BE49-F238E27FC236}">
                <a16:creationId xmlns:a16="http://schemas.microsoft.com/office/drawing/2014/main" id="{E1E61CFA-A2AC-4D42-A8B5-4D345900FF6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D37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Diagram connector 2">
            <a:extLst>
              <a:ext uri="{FF2B5EF4-FFF2-40B4-BE49-F238E27FC236}">
                <a16:creationId xmlns:a16="http://schemas.microsoft.com/office/drawing/2014/main" id="{2FA0DBA9-E993-48C1-8C2D-29E7853FFFD0}"/>
              </a:ext>
            </a:extLst>
          </p:cNvPr>
          <p:cNvSpPr>
            <a:spLocks noGrp="1"/>
          </p:cNvSpPr>
          <p:nvPr/>
        </p:nvSpPr>
        <p:spPr>
          <a:xfrm>
            <a:off x="619125" y="4467225"/>
            <a:ext cx="10953750" cy="9525"/>
          </a:xfrm>
          <a:custGeom>
            <a:avLst/>
            <a:gdLst/>
            <a:ahLst/>
            <a:cxnLst/>
            <a:rect l="0" t="0" r="0" b="0"/>
            <a:pathLst>
              <a:path w="10953750" h="9525">
                <a:moveTo>
                  <a:pt x="0" y="0"/>
                </a:moveTo>
                <a:lnTo>
                  <a:pt x="10953750" y="0"/>
                </a:lnTo>
              </a:path>
            </a:pathLst>
          </a:custGeom>
          <a:noFill/>
          <a:ln w="9525">
            <a:solidFill>
              <a:srgbClr val="4261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.1">
            <a:extLst>
              <a:ext uri="{FF2B5EF4-FFF2-40B4-BE49-F238E27FC236}">
                <a16:creationId xmlns:a16="http://schemas.microsoft.com/office/drawing/2014/main" id="{988F5E04-26E1-40D8-B82E-BA359A8296DB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086574" cy="179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rPr>
              <a:t>AFS FIBERWISE</a:t>
            </a:r>
          </a:p>
        </p:txBody>
      </p:sp>
      <p:sp>
        <p:nvSpPr>
          <p:cNvPr id="4" name="Text 1.2">
            <a:extLst>
              <a:ext uri="{FF2B5EF4-FFF2-40B4-BE49-F238E27FC236}">
                <a16:creationId xmlns:a16="http://schemas.microsoft.com/office/drawing/2014/main" id="{C7540411-26FA-4FE8-9139-61E4329A7F09}"/>
              </a:ext>
            </a:extLst>
          </p:cNvPr>
          <p:cNvSpPr>
            <a:spLocks noGrp="1"/>
          </p:cNvSpPr>
          <p:nvPr/>
        </p:nvSpPr>
        <p:spPr>
          <a:xfrm>
            <a:off x="8191500" y="285750"/>
            <a:ext cx="141300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rPr>
              <a:t>JURY PRESENTATION / 01</a:t>
            </a:r>
          </a:p>
        </p:txBody>
      </p:sp>
      <p:sp>
        <p:nvSpPr>
          <p:cNvPr id="5" name="Text 1.3">
            <a:extLst>
              <a:ext uri="{FF2B5EF4-FFF2-40B4-BE49-F238E27FC236}">
                <a16:creationId xmlns:a16="http://schemas.microsoft.com/office/drawing/2014/main" id="{BDFC9F44-26F7-43CD-BE5D-AF128FE18C2B}"/>
              </a:ext>
            </a:extLst>
          </p:cNvPr>
          <p:cNvSpPr>
            <a:spLocks noGrp="1"/>
          </p:cNvSpPr>
          <p:nvPr/>
        </p:nvSpPr>
        <p:spPr>
          <a:xfrm>
            <a:off x="552450" y="1400175"/>
            <a:ext cx="5566563" cy="9791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54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54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54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54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54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54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54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54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54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54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54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pPr>
            <a:r>
              <a:rPr sz="5400" b="1">
                <a:solidFill>
                  <a:srgbClr val="F7F8F4"/>
                </a:solidFill>
                <a:latin typeface="DejaVu Sans"/>
                <a:ea typeface="DejaVu Sans"/>
                <a:cs typeface="DejaVu Sans"/>
              </a:rPr>
              <a:t>AFS Fiberwise</a:t>
            </a:r>
          </a:p>
        </p:txBody>
      </p:sp>
      <p:sp>
        <p:nvSpPr>
          <p:cNvPr id="6" name="Text 1.4">
            <a:extLst>
              <a:ext uri="{FF2B5EF4-FFF2-40B4-BE49-F238E27FC236}">
                <a16:creationId xmlns:a16="http://schemas.microsoft.com/office/drawing/2014/main" id="{CD5CC1B2-7A26-4A4A-B305-3A57D8557BAB}"/>
              </a:ext>
            </a:extLst>
          </p:cNvPr>
          <p:cNvSpPr>
            <a:spLocks noGrp="1"/>
          </p:cNvSpPr>
          <p:nvPr/>
        </p:nvSpPr>
        <p:spPr>
          <a:xfrm>
            <a:off x="600075" y="2428875"/>
            <a:ext cx="5230864" cy="4991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rPr>
              <a:t>First technical assessment for</a:t>
            </a:r>
          </a:p>
        </p:txBody>
      </p:sp>
      <p:sp>
        <p:nvSpPr>
          <p:cNvPr id="7" name="Text 1.5">
            <a:extLst>
              <a:ext uri="{FF2B5EF4-FFF2-40B4-BE49-F238E27FC236}">
                <a16:creationId xmlns:a16="http://schemas.microsoft.com/office/drawing/2014/main" id="{F1A3233A-D6AA-40A3-BAA9-D1563808867A}"/>
              </a:ext>
            </a:extLst>
          </p:cNvPr>
          <p:cNvSpPr>
            <a:spLocks noGrp="1"/>
          </p:cNvSpPr>
          <p:nvPr/>
        </p:nvSpPr>
        <p:spPr>
          <a:xfrm>
            <a:off x="600075" y="2881503"/>
            <a:ext cx="3538652" cy="4991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D9E8E5"/>
                </a:solidFill>
                <a:latin typeface="DejaVu Sans"/>
                <a:ea typeface="DejaVu Sans"/>
                <a:cs typeface="DejaVu Sans"/>
              </a:rPr>
              <a:t>in-line spectroscopy</a:t>
            </a:r>
          </a:p>
        </p:txBody>
      </p:sp>
      <p:sp>
        <p:nvSpPr>
          <p:cNvPr id="8" name="Text 1.6">
            <a:extLst>
              <a:ext uri="{FF2B5EF4-FFF2-40B4-BE49-F238E27FC236}">
                <a16:creationId xmlns:a16="http://schemas.microsoft.com/office/drawing/2014/main" id="{A491DF56-5BEF-4311-9EFC-EFD91C94E82C}"/>
              </a:ext>
            </a:extLst>
          </p:cNvPr>
          <p:cNvSpPr>
            <a:spLocks noGrp="1"/>
          </p:cNvSpPr>
          <p:nvPr/>
        </p:nvSpPr>
        <p:spPr>
          <a:xfrm>
            <a:off x="619125" y="3667125"/>
            <a:ext cx="5021561" cy="3124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650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650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pPr>
            <a:r>
              <a:rPr sz="1650" b="0">
                <a:solidFill>
                  <a:srgbClr val="A5C6C8"/>
                </a:solidFill>
                <a:latin typeface="DejaVu Sans"/>
                <a:ea typeface="DejaVu Sans"/>
                <a:cs typeface="DejaVu Sans"/>
              </a:rPr>
              <a:t>AFS evidence for a reviewable first experiment</a:t>
            </a:r>
          </a:p>
        </p:txBody>
      </p:sp>
      <p:sp>
        <p:nvSpPr>
          <p:cNvPr id="9" name="Text 1.7">
            <a:extLst>
              <a:ext uri="{FF2B5EF4-FFF2-40B4-BE49-F238E27FC236}">
                <a16:creationId xmlns:a16="http://schemas.microsoft.com/office/drawing/2014/main" id="{6F284201-BC0B-4035-8538-D48EF4917C0E}"/>
              </a:ext>
            </a:extLst>
          </p:cNvPr>
          <p:cNvSpPr>
            <a:spLocks noGrp="1"/>
          </p:cNvSpPr>
          <p:nvPr/>
        </p:nvSpPr>
        <p:spPr>
          <a:xfrm>
            <a:off x="619125" y="4695825"/>
            <a:ext cx="453466" cy="179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90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90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87CCC6"/>
                </a:solidFill>
                <a:latin typeface="DejaVu Sans"/>
                <a:ea typeface="DejaVu Sans"/>
                <a:cs typeface="DejaVu Sans"/>
              </a:rPr>
              <a:t>TEAM</a:t>
            </a:r>
          </a:p>
        </p:txBody>
      </p:sp>
      <p:sp>
        <p:nvSpPr>
          <p:cNvPr id="10" name="Text 1.8">
            <a:extLst>
              <a:ext uri="{FF2B5EF4-FFF2-40B4-BE49-F238E27FC236}">
                <a16:creationId xmlns:a16="http://schemas.microsoft.com/office/drawing/2014/main" id="{0E9459EA-FA23-4256-87BB-58475D67D6B4}"/>
              </a:ext>
            </a:extLst>
          </p:cNvPr>
          <p:cNvSpPr>
            <a:spLocks noGrp="1"/>
          </p:cNvSpPr>
          <p:nvPr/>
        </p:nvSpPr>
        <p:spPr>
          <a:xfrm>
            <a:off x="619125" y="5000625"/>
            <a:ext cx="4041686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rPr>
              <a:t>Akshdeep Singh    Atfan Deshmukh    Eisa Atif</a:t>
            </a:r>
          </a:p>
        </p:txBody>
      </p:sp>
      <p:sp>
        <p:nvSpPr>
          <p:cNvPr id="11" name="Text 1.9">
            <a:extLst>
              <a:ext uri="{FF2B5EF4-FFF2-40B4-BE49-F238E27FC236}">
                <a16:creationId xmlns:a16="http://schemas.microsoft.com/office/drawing/2014/main" id="{1ED25318-58AC-4369-996C-BE196AD0E589}"/>
              </a:ext>
            </a:extLst>
          </p:cNvPr>
          <p:cNvSpPr>
            <a:spLocks noGrp="1"/>
          </p:cNvSpPr>
          <p:nvPr/>
        </p:nvSpPr>
        <p:spPr>
          <a:xfrm>
            <a:off x="619125" y="5226939"/>
            <a:ext cx="5431288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F7F8F4"/>
                </a:solidFill>
                <a:latin typeface="DejaVu Sans"/>
                <a:ea typeface="DejaVu Sans"/>
                <a:cs typeface="DejaVu Sans"/>
              </a:rPr>
              <a:t>Marie Habermann    Naumanurrahman Shaikmujeeburrahman</a:t>
            </a:r>
          </a:p>
        </p:txBody>
      </p:sp>
      <p:sp>
        <p:nvSpPr>
          <p:cNvPr id="12" name="Text 1.10">
            <a:extLst>
              <a:ext uri="{FF2B5EF4-FFF2-40B4-BE49-F238E27FC236}">
                <a16:creationId xmlns:a16="http://schemas.microsoft.com/office/drawing/2014/main" id="{784EDB8B-BDEC-4711-9B56-CFA552BCABA9}"/>
              </a:ext>
            </a:extLst>
          </p:cNvPr>
          <p:cNvSpPr>
            <a:spLocks noGrp="1"/>
          </p:cNvSpPr>
          <p:nvPr/>
        </p:nvSpPr>
        <p:spPr>
          <a:xfrm>
            <a:off x="619125" y="5943600"/>
            <a:ext cx="2353132" cy="245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75" b="0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75" b="0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87CCC6"/>
                </a:solidFill>
                <a:latin typeface="DejaVu Sans"/>
                <a:ea typeface="DejaVu Sans"/>
                <a:cs typeface="DejaVu Sans"/>
              </a:rPr>
              <a:t>github.com/ght007/SchubKI</a:t>
            </a:r>
          </a:p>
        </p:txBody>
      </p:sp>
    </p:spTree>
    <p:extLst>
      <p:ext uri="{BB962C8B-B14F-4D97-AF65-F5344CB8AC3E}">
        <p14:creationId xmlns:p14="http://schemas.microsoft.com/office/powerpoint/2010/main" val="427029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2 background or diagram 1">
            <a:extLst>
              <a:ext uri="{FF2B5EF4-FFF2-40B4-BE49-F238E27FC236}">
                <a16:creationId xmlns:a16="http://schemas.microsoft.com/office/drawing/2014/main" id="{C011FB61-F508-4EE1-B1D1-3867F00F26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Diagram connector 2">
            <a:extLst>
              <a:ext uri="{FF2B5EF4-FFF2-40B4-BE49-F238E27FC236}">
                <a16:creationId xmlns:a16="http://schemas.microsoft.com/office/drawing/2014/main" id="{C188F1A0-9EDC-4BAE-A5F8-095DF7683F7B}"/>
              </a:ext>
            </a:extLst>
          </p:cNvPr>
          <p:cNvSpPr>
            <a:spLocks noGrp="1"/>
          </p:cNvSpPr>
          <p:nvPr/>
        </p:nvSpPr>
        <p:spPr>
          <a:xfrm>
            <a:off x="552450" y="6267450"/>
            <a:ext cx="11087100" cy="9525"/>
          </a:xfrm>
          <a:custGeom>
            <a:avLst/>
            <a:gdLst/>
            <a:ahLst/>
            <a:cxnLst/>
            <a:rect l="0" t="0" r="0" b="0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9525">
            <a:solidFill>
              <a:srgbClr val="CCD8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.1">
            <a:extLst>
              <a:ext uri="{FF2B5EF4-FFF2-40B4-BE49-F238E27FC236}">
                <a16:creationId xmlns:a16="http://schemas.microsoft.com/office/drawing/2014/main" id="{700D583A-CA80-4F27-BC7D-D090AF79A6EF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086574" cy="179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AFS FIBERWISE</a:t>
            </a:r>
          </a:p>
        </p:txBody>
      </p:sp>
      <p:sp>
        <p:nvSpPr>
          <p:cNvPr id="5" name="Text 2.2">
            <a:extLst>
              <a:ext uri="{FF2B5EF4-FFF2-40B4-BE49-F238E27FC236}">
                <a16:creationId xmlns:a16="http://schemas.microsoft.com/office/drawing/2014/main" id="{5C204C1E-8AD5-4DEF-8BD2-8D2D7F6F1518}"/>
              </a:ext>
            </a:extLst>
          </p:cNvPr>
          <p:cNvSpPr>
            <a:spLocks noGrp="1"/>
          </p:cNvSpPr>
          <p:nvPr/>
        </p:nvSpPr>
        <p:spPr>
          <a:xfrm>
            <a:off x="8191500" y="285750"/>
            <a:ext cx="141300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JURY PRESENTATION / 02</a:t>
            </a:r>
          </a:p>
        </p:txBody>
      </p:sp>
      <p:sp>
        <p:nvSpPr>
          <p:cNvPr id="6" name="Text 2.3">
            <a:extLst>
              <a:ext uri="{FF2B5EF4-FFF2-40B4-BE49-F238E27FC236}">
                <a16:creationId xmlns:a16="http://schemas.microsoft.com/office/drawing/2014/main" id="{1875FA21-F73E-4097-985D-CB54565794DF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5797334" cy="4991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The first customer discussion</a:t>
            </a:r>
          </a:p>
        </p:txBody>
      </p:sp>
      <p:sp>
        <p:nvSpPr>
          <p:cNvPr id="7" name="Text 2.4">
            <a:extLst>
              <a:ext uri="{FF2B5EF4-FFF2-40B4-BE49-F238E27FC236}">
                <a16:creationId xmlns:a16="http://schemas.microsoft.com/office/drawing/2014/main" id="{CDBADAFF-C853-447F-957C-AC1566A0AFC4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5964842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The assistant proposes an investigation for an AFS expert to review.</a:t>
            </a:r>
          </a:p>
        </p:txBody>
      </p:sp>
      <p:sp>
        <p:nvSpPr>
          <p:cNvPr id="8" name="Text 2.5">
            <a:extLst>
              <a:ext uri="{FF2B5EF4-FFF2-40B4-BE49-F238E27FC236}">
                <a16:creationId xmlns:a16="http://schemas.microsoft.com/office/drawing/2014/main" id="{7F226CC3-A683-459D-BBED-B3CE8EDEA91E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466496" cy="3924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Text 2.6">
            <a:extLst>
              <a:ext uri="{FF2B5EF4-FFF2-40B4-BE49-F238E27FC236}">
                <a16:creationId xmlns:a16="http://schemas.microsoft.com/office/drawing/2014/main" id="{24711C96-A4D7-40CD-BC86-C64CF210CF88}"/>
              </a:ext>
            </a:extLst>
          </p:cNvPr>
          <p:cNvSpPr>
            <a:spLocks noGrp="1"/>
          </p:cNvSpPr>
          <p:nvPr/>
        </p:nvSpPr>
        <p:spPr>
          <a:xfrm>
            <a:off x="1381125" y="2076450"/>
            <a:ext cx="2301992" cy="3257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Customer enquiry</a:t>
            </a:r>
          </a:p>
        </p:txBody>
      </p:sp>
      <p:sp>
        <p:nvSpPr>
          <p:cNvPr id="10" name="Text 2.7">
            <a:extLst>
              <a:ext uri="{FF2B5EF4-FFF2-40B4-BE49-F238E27FC236}">
                <a16:creationId xmlns:a16="http://schemas.microsoft.com/office/drawing/2014/main" id="{7BAE5C98-F7D0-462A-A637-3928F3B01C75}"/>
              </a:ext>
            </a:extLst>
          </p:cNvPr>
          <p:cNvSpPr>
            <a:spLocks noGrp="1"/>
          </p:cNvSpPr>
          <p:nvPr/>
        </p:nvSpPr>
        <p:spPr>
          <a:xfrm>
            <a:off x="1381125" y="2400300"/>
            <a:ext cx="5335276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Target, material, process conditions and existing equipment.</a:t>
            </a:r>
          </a:p>
        </p:txBody>
      </p:sp>
      <p:sp>
        <p:nvSpPr>
          <p:cNvPr id="11" name="Text 2.8">
            <a:extLst>
              <a:ext uri="{FF2B5EF4-FFF2-40B4-BE49-F238E27FC236}">
                <a16:creationId xmlns:a16="http://schemas.microsoft.com/office/drawing/2014/main" id="{6321E493-C691-4812-AF6C-9B3E05912EFF}"/>
              </a:ext>
            </a:extLst>
          </p:cNvPr>
          <p:cNvSpPr>
            <a:spLocks noGrp="1"/>
          </p:cNvSpPr>
          <p:nvPr/>
        </p:nvSpPr>
        <p:spPr>
          <a:xfrm>
            <a:off x="571500" y="2971800"/>
            <a:ext cx="466496" cy="3924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Text 2.9">
            <a:extLst>
              <a:ext uri="{FF2B5EF4-FFF2-40B4-BE49-F238E27FC236}">
                <a16:creationId xmlns:a16="http://schemas.microsoft.com/office/drawing/2014/main" id="{183C3BB3-0E2E-4942-A32B-ABF5A5D14949}"/>
              </a:ext>
            </a:extLst>
          </p:cNvPr>
          <p:cNvSpPr>
            <a:spLocks noGrp="1"/>
          </p:cNvSpPr>
          <p:nvPr/>
        </p:nvSpPr>
        <p:spPr>
          <a:xfrm>
            <a:off x="1381125" y="2971800"/>
            <a:ext cx="2580218" cy="3257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Confirm the reading</a:t>
            </a:r>
          </a:p>
        </p:txBody>
      </p:sp>
      <p:sp>
        <p:nvSpPr>
          <p:cNvPr id="13" name="Text 2.10">
            <a:extLst>
              <a:ext uri="{FF2B5EF4-FFF2-40B4-BE49-F238E27FC236}">
                <a16:creationId xmlns:a16="http://schemas.microsoft.com/office/drawing/2014/main" id="{540C1436-6A6F-49A0-BD86-410B27671795}"/>
              </a:ext>
            </a:extLst>
          </p:cNvPr>
          <p:cNvSpPr>
            <a:spLocks noGrp="1"/>
          </p:cNvSpPr>
          <p:nvPr/>
        </p:nvSpPr>
        <p:spPr>
          <a:xfrm>
            <a:off x="1381125" y="3295650"/>
            <a:ext cx="432115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Confirm extracted facts and correct misreadings.</a:t>
            </a:r>
          </a:p>
        </p:txBody>
      </p:sp>
      <p:sp>
        <p:nvSpPr>
          <p:cNvPr id="14" name="Text 2.11">
            <a:extLst>
              <a:ext uri="{FF2B5EF4-FFF2-40B4-BE49-F238E27FC236}">
                <a16:creationId xmlns:a16="http://schemas.microsoft.com/office/drawing/2014/main" id="{2F275304-BCE2-4BFC-8470-A8B5BF1C2700}"/>
              </a:ext>
            </a:extLst>
          </p:cNvPr>
          <p:cNvSpPr>
            <a:spLocks noGrp="1"/>
          </p:cNvSpPr>
          <p:nvPr/>
        </p:nvSpPr>
        <p:spPr>
          <a:xfrm>
            <a:off x="571500" y="3867150"/>
            <a:ext cx="466496" cy="3924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Text 2.12">
            <a:extLst>
              <a:ext uri="{FF2B5EF4-FFF2-40B4-BE49-F238E27FC236}">
                <a16:creationId xmlns:a16="http://schemas.microsoft.com/office/drawing/2014/main" id="{5D6A3F45-0F52-4F8F-9360-B9BB6974B325}"/>
              </a:ext>
            </a:extLst>
          </p:cNvPr>
          <p:cNvSpPr>
            <a:spLocks noGrp="1"/>
          </p:cNvSpPr>
          <p:nvPr/>
        </p:nvSpPr>
        <p:spPr>
          <a:xfrm>
            <a:off x="1381125" y="3867150"/>
            <a:ext cx="2794692" cy="3257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Technical assessment</a:t>
            </a:r>
          </a:p>
        </p:txBody>
      </p:sp>
      <p:sp>
        <p:nvSpPr>
          <p:cNvPr id="16" name="Text 2.13">
            <a:extLst>
              <a:ext uri="{FF2B5EF4-FFF2-40B4-BE49-F238E27FC236}">
                <a16:creationId xmlns:a16="http://schemas.microsoft.com/office/drawing/2014/main" id="{C4FA8618-DB6E-4E31-9A04-4829C3002CFD}"/>
              </a:ext>
            </a:extLst>
          </p:cNvPr>
          <p:cNvSpPr>
            <a:spLocks noGrp="1"/>
          </p:cNvSpPr>
          <p:nvPr/>
        </p:nvSpPr>
        <p:spPr>
          <a:xfrm>
            <a:off x="1381125" y="4191000"/>
            <a:ext cx="4430192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Review methods, evidence and a first experiment.</a:t>
            </a:r>
          </a:p>
        </p:txBody>
      </p:sp>
      <p:sp>
        <p:nvSpPr>
          <p:cNvPr id="17" name="Text 2.14">
            <a:extLst>
              <a:ext uri="{FF2B5EF4-FFF2-40B4-BE49-F238E27FC236}">
                <a16:creationId xmlns:a16="http://schemas.microsoft.com/office/drawing/2014/main" id="{4E33F8BC-0320-4F24-9E5B-B306F90E4DAD}"/>
              </a:ext>
            </a:extLst>
          </p:cNvPr>
          <p:cNvSpPr>
            <a:spLocks noGrp="1"/>
          </p:cNvSpPr>
          <p:nvPr/>
        </p:nvSpPr>
        <p:spPr>
          <a:xfrm>
            <a:off x="571500" y="4762500"/>
            <a:ext cx="466496" cy="39243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8" name="Text 2.15">
            <a:extLst>
              <a:ext uri="{FF2B5EF4-FFF2-40B4-BE49-F238E27FC236}">
                <a16:creationId xmlns:a16="http://schemas.microsoft.com/office/drawing/2014/main" id="{A7BB4077-CE8B-4534-A10A-6C330F0B6E15}"/>
              </a:ext>
            </a:extLst>
          </p:cNvPr>
          <p:cNvSpPr>
            <a:spLocks noGrp="1"/>
          </p:cNvSpPr>
          <p:nvPr/>
        </p:nvSpPr>
        <p:spPr>
          <a:xfrm>
            <a:off x="1381125" y="4762500"/>
            <a:ext cx="2133305" cy="3257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Expert follow-up</a:t>
            </a:r>
          </a:p>
        </p:txBody>
      </p:sp>
      <p:sp>
        <p:nvSpPr>
          <p:cNvPr id="19" name="Text 2.16">
            <a:extLst>
              <a:ext uri="{FF2B5EF4-FFF2-40B4-BE49-F238E27FC236}">
                <a16:creationId xmlns:a16="http://schemas.microsoft.com/office/drawing/2014/main" id="{1EF19DB6-4AF1-4C5C-A488-EAF3E256E819}"/>
              </a:ext>
            </a:extLst>
          </p:cNvPr>
          <p:cNvSpPr>
            <a:spLocks noGrp="1"/>
          </p:cNvSpPr>
          <p:nvPr/>
        </p:nvSpPr>
        <p:spPr>
          <a:xfrm>
            <a:off x="1381125" y="5086350"/>
            <a:ext cx="5387397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Add customer answers and compare the revised assessment.</a:t>
            </a:r>
          </a:p>
        </p:txBody>
      </p:sp>
      <p:sp>
        <p:nvSpPr>
          <p:cNvPr id="20" name="Text 2.17">
            <a:extLst>
              <a:ext uri="{FF2B5EF4-FFF2-40B4-BE49-F238E27FC236}">
                <a16:creationId xmlns:a16="http://schemas.microsoft.com/office/drawing/2014/main" id="{1E554307-9A53-4E6D-ADCE-2F25A90E40F6}"/>
              </a:ext>
            </a:extLst>
          </p:cNvPr>
          <p:cNvSpPr>
            <a:spLocks noGrp="1"/>
          </p:cNvSpPr>
          <p:nvPr/>
        </p:nvSpPr>
        <p:spPr>
          <a:xfrm>
            <a:off x="7620000" y="5572125"/>
            <a:ext cx="2218487" cy="179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AFS multispectral laboratory concept</a:t>
            </a:r>
          </a:p>
        </p:txBody>
      </p:sp>
      <p:sp>
        <p:nvSpPr>
          <p:cNvPr id="21" name="Text 2.18">
            <a:extLst>
              <a:ext uri="{FF2B5EF4-FFF2-40B4-BE49-F238E27FC236}">
                <a16:creationId xmlns:a16="http://schemas.microsoft.com/office/drawing/2014/main" id="{1DC1C922-DA54-4004-898F-788DCC60E24C}"/>
              </a:ext>
            </a:extLst>
          </p:cNvPr>
          <p:cNvSpPr>
            <a:spLocks noGrp="1"/>
          </p:cNvSpPr>
          <p:nvPr/>
        </p:nvSpPr>
        <p:spPr>
          <a:xfrm>
            <a:off x="7620000" y="5723001"/>
            <a:ext cx="1230935" cy="179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9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Source: S02, slide 5</a:t>
            </a:r>
          </a:p>
        </p:txBody>
      </p:sp>
      <p:sp>
        <p:nvSpPr>
          <p:cNvPr id="22" name="Text 2.19">
            <a:extLst>
              <a:ext uri="{FF2B5EF4-FFF2-40B4-BE49-F238E27FC236}">
                <a16:creationId xmlns:a16="http://schemas.microsoft.com/office/drawing/2014/main" id="{AEA221E2-71DD-4919-B32B-238DDE34A190}"/>
              </a:ext>
            </a:extLst>
          </p:cNvPr>
          <p:cNvSpPr>
            <a:spLocks noGrp="1"/>
          </p:cNvSpPr>
          <p:nvPr/>
        </p:nvSpPr>
        <p:spPr>
          <a:xfrm>
            <a:off x="571500" y="6391275"/>
            <a:ext cx="3677298" cy="1590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Sources: challenge brief p.1; S02 slide 20. Workflow: frontend/js/app.js.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D4601AE-CC95-E11F-E415-F9732CC9B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003" y="961064"/>
            <a:ext cx="3779848" cy="4503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19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Slide 3 background or diagram 1">
            <a:extLst>
              <a:ext uri="{FF2B5EF4-FFF2-40B4-BE49-F238E27FC236}">
                <a16:creationId xmlns:a16="http://schemas.microsoft.com/office/drawing/2014/main" id="{E68985A4-9261-41EC-9C6C-58386582713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 3 background or diagram 2">
            <a:extLst>
              <a:ext uri="{FF2B5EF4-FFF2-40B4-BE49-F238E27FC236}">
                <a16:creationId xmlns:a16="http://schemas.microsoft.com/office/drawing/2014/main" id="{9C26B1B3-8BE9-497C-BFDA-BC7557AA7BA1}"/>
              </a:ext>
            </a:extLst>
          </p:cNvPr>
          <p:cNvSpPr>
            <a:spLocks noGrp="1"/>
          </p:cNvSpPr>
          <p:nvPr/>
        </p:nvSpPr>
        <p:spPr>
          <a:xfrm>
            <a:off x="571500" y="2085975"/>
            <a:ext cx="1981200" cy="1352550"/>
          </a:xfrm>
          <a:prstGeom prst="rect">
            <a:avLst/>
          </a:prstGeom>
          <a:solidFill>
            <a:srgbClr val="EAF0EF"/>
          </a:solidFill>
          <a:ln w="9525">
            <a:solidFill>
              <a:srgbClr val="CCD8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Diagram connector 3">
            <a:extLst>
              <a:ext uri="{FF2B5EF4-FFF2-40B4-BE49-F238E27FC236}">
                <a16:creationId xmlns:a16="http://schemas.microsoft.com/office/drawing/2014/main" id="{428AB21B-3EBA-409C-BD3A-90817B1037F6}"/>
              </a:ext>
            </a:extLst>
          </p:cNvPr>
          <p:cNvSpPr>
            <a:spLocks noGrp="1"/>
          </p:cNvSpPr>
          <p:nvPr/>
        </p:nvSpPr>
        <p:spPr>
          <a:xfrm>
            <a:off x="2552700" y="2762250"/>
            <a:ext cx="285750" cy="9525"/>
          </a:xfrm>
          <a:custGeom>
            <a:avLst/>
            <a:gdLst/>
            <a:ahLst/>
            <a:cxnLst/>
            <a:rect l="0" t="0" r="0" b="0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Diagram connector 4">
            <a:extLst>
              <a:ext uri="{FF2B5EF4-FFF2-40B4-BE49-F238E27FC236}">
                <a16:creationId xmlns:a16="http://schemas.microsoft.com/office/drawing/2014/main" id="{A2168A6F-6C03-4F6E-8F67-675210370BFB}"/>
              </a:ext>
            </a:extLst>
          </p:cNvPr>
          <p:cNvSpPr>
            <a:spLocks noGrp="1"/>
          </p:cNvSpPr>
          <p:nvPr/>
        </p:nvSpPr>
        <p:spPr>
          <a:xfrm>
            <a:off x="2757247" y="2762250"/>
            <a:ext cx="81203" cy="49786"/>
          </a:xfrm>
          <a:custGeom>
            <a:avLst/>
            <a:gdLst/>
            <a:ahLst/>
            <a:cxnLst/>
            <a:rect l="0" t="0" r="0" b="0"/>
            <a:pathLst>
              <a:path w="81203" h="49786">
                <a:moveTo>
                  <a:pt x="81203" y="0"/>
                </a:moveTo>
                <a:lnTo>
                  <a:pt x="0" y="49786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Diagram connector 5">
            <a:extLst>
              <a:ext uri="{FF2B5EF4-FFF2-40B4-BE49-F238E27FC236}">
                <a16:creationId xmlns:a16="http://schemas.microsoft.com/office/drawing/2014/main" id="{B5AA59D2-BB57-48AC-9D8C-2632F9E86BE3}"/>
              </a:ext>
            </a:extLst>
          </p:cNvPr>
          <p:cNvSpPr>
            <a:spLocks noGrp="1"/>
          </p:cNvSpPr>
          <p:nvPr/>
        </p:nvSpPr>
        <p:spPr>
          <a:xfrm>
            <a:off x="2757247" y="2712464"/>
            <a:ext cx="81203" cy="49786"/>
          </a:xfrm>
          <a:custGeom>
            <a:avLst/>
            <a:gdLst/>
            <a:ahLst/>
            <a:cxnLst/>
            <a:rect l="0" t="0" r="0" b="0"/>
            <a:pathLst>
              <a:path w="81203" h="49786">
                <a:moveTo>
                  <a:pt x="81203" y="49786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lide 3 background or diagram 6">
            <a:extLst>
              <a:ext uri="{FF2B5EF4-FFF2-40B4-BE49-F238E27FC236}">
                <a16:creationId xmlns:a16="http://schemas.microsoft.com/office/drawing/2014/main" id="{3052FAA6-F752-4443-9FDB-BEDB97319B54}"/>
              </a:ext>
            </a:extLst>
          </p:cNvPr>
          <p:cNvSpPr>
            <a:spLocks noGrp="1"/>
          </p:cNvSpPr>
          <p:nvPr/>
        </p:nvSpPr>
        <p:spPr>
          <a:xfrm>
            <a:off x="2838450" y="2085975"/>
            <a:ext cx="1981200" cy="1352550"/>
          </a:xfrm>
          <a:prstGeom prst="rect">
            <a:avLst/>
          </a:prstGeom>
          <a:solidFill>
            <a:srgbClr val="FFF8F2"/>
          </a:solidFill>
          <a:ln w="19050">
            <a:solidFill>
              <a:srgbClr val="B54B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Diagram connector 7">
            <a:extLst>
              <a:ext uri="{FF2B5EF4-FFF2-40B4-BE49-F238E27FC236}">
                <a16:creationId xmlns:a16="http://schemas.microsoft.com/office/drawing/2014/main" id="{AE9BBDB6-4890-437A-AE55-0F2FDB5C85E9}"/>
              </a:ext>
            </a:extLst>
          </p:cNvPr>
          <p:cNvSpPr>
            <a:spLocks noGrp="1"/>
          </p:cNvSpPr>
          <p:nvPr/>
        </p:nvSpPr>
        <p:spPr>
          <a:xfrm>
            <a:off x="4819650" y="2762250"/>
            <a:ext cx="285750" cy="9525"/>
          </a:xfrm>
          <a:custGeom>
            <a:avLst/>
            <a:gdLst/>
            <a:ahLst/>
            <a:cxnLst/>
            <a:rect l="0" t="0" r="0" b="0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Diagram connector 8">
            <a:extLst>
              <a:ext uri="{FF2B5EF4-FFF2-40B4-BE49-F238E27FC236}">
                <a16:creationId xmlns:a16="http://schemas.microsoft.com/office/drawing/2014/main" id="{D9D09DBB-0EF7-4117-94F6-806AD869D5DE}"/>
              </a:ext>
            </a:extLst>
          </p:cNvPr>
          <p:cNvSpPr>
            <a:spLocks noGrp="1"/>
          </p:cNvSpPr>
          <p:nvPr/>
        </p:nvSpPr>
        <p:spPr>
          <a:xfrm>
            <a:off x="5024197" y="2762250"/>
            <a:ext cx="81203" cy="49786"/>
          </a:xfrm>
          <a:custGeom>
            <a:avLst/>
            <a:gdLst/>
            <a:ahLst/>
            <a:cxnLst/>
            <a:rect l="0" t="0" r="0" b="0"/>
            <a:pathLst>
              <a:path w="81203" h="49786">
                <a:moveTo>
                  <a:pt x="81203" y="0"/>
                </a:moveTo>
                <a:lnTo>
                  <a:pt x="0" y="49786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Diagram connector 9">
            <a:extLst>
              <a:ext uri="{FF2B5EF4-FFF2-40B4-BE49-F238E27FC236}">
                <a16:creationId xmlns:a16="http://schemas.microsoft.com/office/drawing/2014/main" id="{5FADF9FA-5F25-48BE-8C37-A4C91FDC7930}"/>
              </a:ext>
            </a:extLst>
          </p:cNvPr>
          <p:cNvSpPr>
            <a:spLocks noGrp="1"/>
          </p:cNvSpPr>
          <p:nvPr/>
        </p:nvSpPr>
        <p:spPr>
          <a:xfrm>
            <a:off x="5024197" y="2712464"/>
            <a:ext cx="81203" cy="49786"/>
          </a:xfrm>
          <a:custGeom>
            <a:avLst/>
            <a:gdLst/>
            <a:ahLst/>
            <a:cxnLst/>
            <a:rect l="0" t="0" r="0" b="0"/>
            <a:pathLst>
              <a:path w="81203" h="49786">
                <a:moveTo>
                  <a:pt x="81203" y="49786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lide 3 background or diagram 10">
            <a:extLst>
              <a:ext uri="{FF2B5EF4-FFF2-40B4-BE49-F238E27FC236}">
                <a16:creationId xmlns:a16="http://schemas.microsoft.com/office/drawing/2014/main" id="{E7BD5A06-2656-4A4B-BBAD-4841E43482F0}"/>
              </a:ext>
            </a:extLst>
          </p:cNvPr>
          <p:cNvSpPr>
            <a:spLocks noGrp="1"/>
          </p:cNvSpPr>
          <p:nvPr/>
        </p:nvSpPr>
        <p:spPr>
          <a:xfrm>
            <a:off x="5105400" y="2085975"/>
            <a:ext cx="1981200" cy="1352550"/>
          </a:xfrm>
          <a:prstGeom prst="rect">
            <a:avLst/>
          </a:prstGeom>
          <a:solidFill>
            <a:srgbClr val="EAF0EF"/>
          </a:solidFill>
          <a:ln w="19050">
            <a:solidFill>
              <a:srgbClr val="CCD8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Diagram connector 11">
            <a:extLst>
              <a:ext uri="{FF2B5EF4-FFF2-40B4-BE49-F238E27FC236}">
                <a16:creationId xmlns:a16="http://schemas.microsoft.com/office/drawing/2014/main" id="{11C7FD4B-F50B-460F-9896-06430B599884}"/>
              </a:ext>
            </a:extLst>
          </p:cNvPr>
          <p:cNvSpPr>
            <a:spLocks noGrp="1"/>
          </p:cNvSpPr>
          <p:nvPr/>
        </p:nvSpPr>
        <p:spPr>
          <a:xfrm>
            <a:off x="7086600" y="2762250"/>
            <a:ext cx="285750" cy="9525"/>
          </a:xfrm>
          <a:custGeom>
            <a:avLst/>
            <a:gdLst/>
            <a:ahLst/>
            <a:cxnLst/>
            <a:rect l="0" t="0" r="0" b="0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Diagram connector 12">
            <a:extLst>
              <a:ext uri="{FF2B5EF4-FFF2-40B4-BE49-F238E27FC236}">
                <a16:creationId xmlns:a16="http://schemas.microsoft.com/office/drawing/2014/main" id="{F51AD70E-9108-4379-B6F9-7B5D0DA734A5}"/>
              </a:ext>
            </a:extLst>
          </p:cNvPr>
          <p:cNvSpPr>
            <a:spLocks noGrp="1"/>
          </p:cNvSpPr>
          <p:nvPr/>
        </p:nvSpPr>
        <p:spPr>
          <a:xfrm>
            <a:off x="7291147" y="2762250"/>
            <a:ext cx="81203" cy="49786"/>
          </a:xfrm>
          <a:custGeom>
            <a:avLst/>
            <a:gdLst/>
            <a:ahLst/>
            <a:cxnLst/>
            <a:rect l="0" t="0" r="0" b="0"/>
            <a:pathLst>
              <a:path w="81203" h="49786">
                <a:moveTo>
                  <a:pt x="81203" y="0"/>
                </a:moveTo>
                <a:lnTo>
                  <a:pt x="0" y="49786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Diagram connector 13">
            <a:extLst>
              <a:ext uri="{FF2B5EF4-FFF2-40B4-BE49-F238E27FC236}">
                <a16:creationId xmlns:a16="http://schemas.microsoft.com/office/drawing/2014/main" id="{8D9B380B-5D83-4F0A-8CB8-5AF3AEBF77DF}"/>
              </a:ext>
            </a:extLst>
          </p:cNvPr>
          <p:cNvSpPr>
            <a:spLocks noGrp="1"/>
          </p:cNvSpPr>
          <p:nvPr/>
        </p:nvSpPr>
        <p:spPr>
          <a:xfrm>
            <a:off x="7291147" y="2712464"/>
            <a:ext cx="81203" cy="49786"/>
          </a:xfrm>
          <a:custGeom>
            <a:avLst/>
            <a:gdLst/>
            <a:ahLst/>
            <a:cxnLst/>
            <a:rect l="0" t="0" r="0" b="0"/>
            <a:pathLst>
              <a:path w="81203" h="49786">
                <a:moveTo>
                  <a:pt x="81203" y="49786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Slide 3 background or diagram 14">
            <a:extLst>
              <a:ext uri="{FF2B5EF4-FFF2-40B4-BE49-F238E27FC236}">
                <a16:creationId xmlns:a16="http://schemas.microsoft.com/office/drawing/2014/main" id="{6996F2E1-94B8-4145-992C-ED4F62F28D06}"/>
              </a:ext>
            </a:extLst>
          </p:cNvPr>
          <p:cNvSpPr>
            <a:spLocks noGrp="1"/>
          </p:cNvSpPr>
          <p:nvPr/>
        </p:nvSpPr>
        <p:spPr>
          <a:xfrm>
            <a:off x="7372350" y="2085975"/>
            <a:ext cx="1981200" cy="1352550"/>
          </a:xfrm>
          <a:prstGeom prst="rect">
            <a:avLst/>
          </a:prstGeom>
          <a:solidFill>
            <a:srgbClr val="EAF0EF"/>
          </a:solidFill>
          <a:ln w="19050">
            <a:solidFill>
              <a:srgbClr val="CCD8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Diagram connector 15">
            <a:extLst>
              <a:ext uri="{FF2B5EF4-FFF2-40B4-BE49-F238E27FC236}">
                <a16:creationId xmlns:a16="http://schemas.microsoft.com/office/drawing/2014/main" id="{1CBD58E3-D4EE-47D5-8982-B1B9C0959222}"/>
              </a:ext>
            </a:extLst>
          </p:cNvPr>
          <p:cNvSpPr>
            <a:spLocks noGrp="1"/>
          </p:cNvSpPr>
          <p:nvPr/>
        </p:nvSpPr>
        <p:spPr>
          <a:xfrm>
            <a:off x="9353550" y="2762250"/>
            <a:ext cx="285750" cy="9525"/>
          </a:xfrm>
          <a:custGeom>
            <a:avLst/>
            <a:gdLst/>
            <a:ahLst/>
            <a:cxnLst/>
            <a:rect l="0" t="0" r="0" b="0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Diagram connector 16">
            <a:extLst>
              <a:ext uri="{FF2B5EF4-FFF2-40B4-BE49-F238E27FC236}">
                <a16:creationId xmlns:a16="http://schemas.microsoft.com/office/drawing/2014/main" id="{4FE7F96D-ED28-47E0-BE5E-8694F5907A1D}"/>
              </a:ext>
            </a:extLst>
          </p:cNvPr>
          <p:cNvSpPr>
            <a:spLocks noGrp="1"/>
          </p:cNvSpPr>
          <p:nvPr/>
        </p:nvSpPr>
        <p:spPr>
          <a:xfrm>
            <a:off x="9558099" y="2762250"/>
            <a:ext cx="81201" cy="49786"/>
          </a:xfrm>
          <a:custGeom>
            <a:avLst/>
            <a:gdLst/>
            <a:ahLst/>
            <a:cxnLst/>
            <a:rect l="0" t="0" r="0" b="0"/>
            <a:pathLst>
              <a:path w="81201" h="49786">
                <a:moveTo>
                  <a:pt x="81201" y="0"/>
                </a:moveTo>
                <a:lnTo>
                  <a:pt x="0" y="49786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Diagram connector 17">
            <a:extLst>
              <a:ext uri="{FF2B5EF4-FFF2-40B4-BE49-F238E27FC236}">
                <a16:creationId xmlns:a16="http://schemas.microsoft.com/office/drawing/2014/main" id="{6E339BBB-5C80-4662-8BFF-2447F5DE8BAD}"/>
              </a:ext>
            </a:extLst>
          </p:cNvPr>
          <p:cNvSpPr>
            <a:spLocks noGrp="1"/>
          </p:cNvSpPr>
          <p:nvPr/>
        </p:nvSpPr>
        <p:spPr>
          <a:xfrm>
            <a:off x="9558099" y="2712464"/>
            <a:ext cx="81201" cy="49786"/>
          </a:xfrm>
          <a:custGeom>
            <a:avLst/>
            <a:gdLst/>
            <a:ahLst/>
            <a:cxnLst/>
            <a:rect l="0" t="0" r="0" b="0"/>
            <a:pathLst>
              <a:path w="81201" h="49786">
                <a:moveTo>
                  <a:pt x="81201" y="49786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Slide 3 background or diagram 18">
            <a:extLst>
              <a:ext uri="{FF2B5EF4-FFF2-40B4-BE49-F238E27FC236}">
                <a16:creationId xmlns:a16="http://schemas.microsoft.com/office/drawing/2014/main" id="{3056C9E7-751C-4BEE-AFA5-F4FCA4CBEFB9}"/>
              </a:ext>
            </a:extLst>
          </p:cNvPr>
          <p:cNvSpPr>
            <a:spLocks noGrp="1"/>
          </p:cNvSpPr>
          <p:nvPr/>
        </p:nvSpPr>
        <p:spPr>
          <a:xfrm>
            <a:off x="9639300" y="2085975"/>
            <a:ext cx="1981200" cy="1352550"/>
          </a:xfrm>
          <a:prstGeom prst="rect">
            <a:avLst/>
          </a:prstGeom>
          <a:solidFill>
            <a:srgbClr val="FFF8F2"/>
          </a:solidFill>
          <a:ln w="19050">
            <a:solidFill>
              <a:srgbClr val="B54B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lide 3 background or diagram 19">
            <a:extLst>
              <a:ext uri="{FF2B5EF4-FFF2-40B4-BE49-F238E27FC236}">
                <a16:creationId xmlns:a16="http://schemas.microsoft.com/office/drawing/2014/main" id="{E87336D5-102B-4091-B1DE-BFDBB5F4460D}"/>
              </a:ext>
            </a:extLst>
          </p:cNvPr>
          <p:cNvSpPr>
            <a:spLocks noGrp="1"/>
          </p:cNvSpPr>
          <p:nvPr/>
        </p:nvSpPr>
        <p:spPr>
          <a:xfrm>
            <a:off x="571500" y="3943350"/>
            <a:ext cx="1981200" cy="1352550"/>
          </a:xfrm>
          <a:prstGeom prst="rect">
            <a:avLst/>
          </a:prstGeom>
          <a:solidFill>
            <a:srgbClr val="FFF8F2"/>
          </a:solidFill>
          <a:ln w="19050">
            <a:solidFill>
              <a:srgbClr val="B54B2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Diagram connector 20">
            <a:extLst>
              <a:ext uri="{FF2B5EF4-FFF2-40B4-BE49-F238E27FC236}">
                <a16:creationId xmlns:a16="http://schemas.microsoft.com/office/drawing/2014/main" id="{5D725D84-A737-4872-BE69-24E80C0E0CA6}"/>
              </a:ext>
            </a:extLst>
          </p:cNvPr>
          <p:cNvSpPr>
            <a:spLocks noGrp="1"/>
          </p:cNvSpPr>
          <p:nvPr/>
        </p:nvSpPr>
        <p:spPr>
          <a:xfrm>
            <a:off x="2552700" y="4619625"/>
            <a:ext cx="285750" cy="9525"/>
          </a:xfrm>
          <a:custGeom>
            <a:avLst/>
            <a:gdLst/>
            <a:ahLst/>
            <a:cxnLst/>
            <a:rect l="0" t="0" r="0" b="0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Diagram connector 21">
            <a:extLst>
              <a:ext uri="{FF2B5EF4-FFF2-40B4-BE49-F238E27FC236}">
                <a16:creationId xmlns:a16="http://schemas.microsoft.com/office/drawing/2014/main" id="{2B9C14D9-0910-47A8-9F52-858C68642271}"/>
              </a:ext>
            </a:extLst>
          </p:cNvPr>
          <p:cNvSpPr>
            <a:spLocks noGrp="1"/>
          </p:cNvSpPr>
          <p:nvPr/>
        </p:nvSpPr>
        <p:spPr>
          <a:xfrm>
            <a:off x="2757247" y="4619625"/>
            <a:ext cx="81203" cy="49786"/>
          </a:xfrm>
          <a:custGeom>
            <a:avLst/>
            <a:gdLst/>
            <a:ahLst/>
            <a:cxnLst/>
            <a:rect l="0" t="0" r="0" b="0"/>
            <a:pathLst>
              <a:path w="81203" h="49786">
                <a:moveTo>
                  <a:pt x="81203" y="0"/>
                </a:moveTo>
                <a:lnTo>
                  <a:pt x="0" y="49786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2" name="Diagram connector 22">
            <a:extLst>
              <a:ext uri="{FF2B5EF4-FFF2-40B4-BE49-F238E27FC236}">
                <a16:creationId xmlns:a16="http://schemas.microsoft.com/office/drawing/2014/main" id="{BFFFCF30-B09D-403D-833C-DAB74D83E62E}"/>
              </a:ext>
            </a:extLst>
          </p:cNvPr>
          <p:cNvSpPr>
            <a:spLocks noGrp="1"/>
          </p:cNvSpPr>
          <p:nvPr/>
        </p:nvSpPr>
        <p:spPr>
          <a:xfrm>
            <a:off x="2757247" y="4569839"/>
            <a:ext cx="81203" cy="49786"/>
          </a:xfrm>
          <a:custGeom>
            <a:avLst/>
            <a:gdLst/>
            <a:ahLst/>
            <a:cxnLst/>
            <a:rect l="0" t="0" r="0" b="0"/>
            <a:pathLst>
              <a:path w="81203" h="49786">
                <a:moveTo>
                  <a:pt x="81203" y="49786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lide 3 background or diagram 23">
            <a:extLst>
              <a:ext uri="{FF2B5EF4-FFF2-40B4-BE49-F238E27FC236}">
                <a16:creationId xmlns:a16="http://schemas.microsoft.com/office/drawing/2014/main" id="{95398064-CD3C-4182-95A9-23D06628F798}"/>
              </a:ext>
            </a:extLst>
          </p:cNvPr>
          <p:cNvSpPr>
            <a:spLocks noGrp="1"/>
          </p:cNvSpPr>
          <p:nvPr/>
        </p:nvSpPr>
        <p:spPr>
          <a:xfrm>
            <a:off x="2838450" y="3943350"/>
            <a:ext cx="1981200" cy="1352550"/>
          </a:xfrm>
          <a:prstGeom prst="rect">
            <a:avLst/>
          </a:prstGeom>
          <a:solidFill>
            <a:srgbClr val="EAF0EF"/>
          </a:solidFill>
          <a:ln w="19050">
            <a:solidFill>
              <a:srgbClr val="CCD8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Diagram connector 24">
            <a:extLst>
              <a:ext uri="{FF2B5EF4-FFF2-40B4-BE49-F238E27FC236}">
                <a16:creationId xmlns:a16="http://schemas.microsoft.com/office/drawing/2014/main" id="{F6CDEF2F-F06E-4A4B-A06D-CACDD81D12C3}"/>
              </a:ext>
            </a:extLst>
          </p:cNvPr>
          <p:cNvSpPr>
            <a:spLocks noGrp="1"/>
          </p:cNvSpPr>
          <p:nvPr/>
        </p:nvSpPr>
        <p:spPr>
          <a:xfrm>
            <a:off x="4819650" y="4619625"/>
            <a:ext cx="285750" cy="9525"/>
          </a:xfrm>
          <a:custGeom>
            <a:avLst/>
            <a:gdLst/>
            <a:ahLst/>
            <a:cxnLst/>
            <a:rect l="0" t="0" r="0" b="0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Diagram connector 25">
            <a:extLst>
              <a:ext uri="{FF2B5EF4-FFF2-40B4-BE49-F238E27FC236}">
                <a16:creationId xmlns:a16="http://schemas.microsoft.com/office/drawing/2014/main" id="{A8D36817-02D5-4C8B-9957-34E8FAC0A7A4}"/>
              </a:ext>
            </a:extLst>
          </p:cNvPr>
          <p:cNvSpPr>
            <a:spLocks noGrp="1"/>
          </p:cNvSpPr>
          <p:nvPr/>
        </p:nvSpPr>
        <p:spPr>
          <a:xfrm>
            <a:off x="5024197" y="4619625"/>
            <a:ext cx="81203" cy="49786"/>
          </a:xfrm>
          <a:custGeom>
            <a:avLst/>
            <a:gdLst/>
            <a:ahLst/>
            <a:cxnLst/>
            <a:rect l="0" t="0" r="0" b="0"/>
            <a:pathLst>
              <a:path w="81203" h="49786">
                <a:moveTo>
                  <a:pt x="81203" y="0"/>
                </a:moveTo>
                <a:lnTo>
                  <a:pt x="0" y="49786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Diagram connector 26">
            <a:extLst>
              <a:ext uri="{FF2B5EF4-FFF2-40B4-BE49-F238E27FC236}">
                <a16:creationId xmlns:a16="http://schemas.microsoft.com/office/drawing/2014/main" id="{FC238C9D-9D2E-4D4A-9C7A-7B3B700285B1}"/>
              </a:ext>
            </a:extLst>
          </p:cNvPr>
          <p:cNvSpPr>
            <a:spLocks noGrp="1"/>
          </p:cNvSpPr>
          <p:nvPr/>
        </p:nvSpPr>
        <p:spPr>
          <a:xfrm>
            <a:off x="5024197" y="4569839"/>
            <a:ext cx="81203" cy="49786"/>
          </a:xfrm>
          <a:custGeom>
            <a:avLst/>
            <a:gdLst/>
            <a:ahLst/>
            <a:cxnLst/>
            <a:rect l="0" t="0" r="0" b="0"/>
            <a:pathLst>
              <a:path w="81203" h="49786">
                <a:moveTo>
                  <a:pt x="81203" y="49786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Slide 3 background or diagram 27">
            <a:extLst>
              <a:ext uri="{FF2B5EF4-FFF2-40B4-BE49-F238E27FC236}">
                <a16:creationId xmlns:a16="http://schemas.microsoft.com/office/drawing/2014/main" id="{E323B11A-BEC9-41CD-8C97-B6117D63F364}"/>
              </a:ext>
            </a:extLst>
          </p:cNvPr>
          <p:cNvSpPr>
            <a:spLocks noGrp="1"/>
          </p:cNvSpPr>
          <p:nvPr/>
        </p:nvSpPr>
        <p:spPr>
          <a:xfrm>
            <a:off x="5105400" y="3943350"/>
            <a:ext cx="1981200" cy="1352550"/>
          </a:xfrm>
          <a:prstGeom prst="rect">
            <a:avLst/>
          </a:prstGeom>
          <a:solidFill>
            <a:srgbClr val="EAF0EF"/>
          </a:solidFill>
          <a:ln w="19050">
            <a:solidFill>
              <a:srgbClr val="CCD8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Diagram connector 28">
            <a:extLst>
              <a:ext uri="{FF2B5EF4-FFF2-40B4-BE49-F238E27FC236}">
                <a16:creationId xmlns:a16="http://schemas.microsoft.com/office/drawing/2014/main" id="{204C4E4B-D7D7-4661-9923-0A899E22D48C}"/>
              </a:ext>
            </a:extLst>
          </p:cNvPr>
          <p:cNvSpPr>
            <a:spLocks noGrp="1"/>
          </p:cNvSpPr>
          <p:nvPr/>
        </p:nvSpPr>
        <p:spPr>
          <a:xfrm>
            <a:off x="7086600" y="4619625"/>
            <a:ext cx="285750" cy="9525"/>
          </a:xfrm>
          <a:custGeom>
            <a:avLst/>
            <a:gdLst/>
            <a:ahLst/>
            <a:cxnLst/>
            <a:rect l="0" t="0" r="0" b="0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Diagram connector 29">
            <a:extLst>
              <a:ext uri="{FF2B5EF4-FFF2-40B4-BE49-F238E27FC236}">
                <a16:creationId xmlns:a16="http://schemas.microsoft.com/office/drawing/2014/main" id="{B3462B22-FED2-4CB6-AEDE-BFC6932CD27E}"/>
              </a:ext>
            </a:extLst>
          </p:cNvPr>
          <p:cNvSpPr>
            <a:spLocks noGrp="1"/>
          </p:cNvSpPr>
          <p:nvPr/>
        </p:nvSpPr>
        <p:spPr>
          <a:xfrm>
            <a:off x="7291147" y="4619625"/>
            <a:ext cx="81203" cy="49786"/>
          </a:xfrm>
          <a:custGeom>
            <a:avLst/>
            <a:gdLst/>
            <a:ahLst/>
            <a:cxnLst/>
            <a:rect l="0" t="0" r="0" b="0"/>
            <a:pathLst>
              <a:path w="81203" h="49786">
                <a:moveTo>
                  <a:pt x="81203" y="0"/>
                </a:moveTo>
                <a:lnTo>
                  <a:pt x="0" y="49786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Diagram connector 30">
            <a:extLst>
              <a:ext uri="{FF2B5EF4-FFF2-40B4-BE49-F238E27FC236}">
                <a16:creationId xmlns:a16="http://schemas.microsoft.com/office/drawing/2014/main" id="{5481C7D0-1B22-4CD0-A54E-89979AA2075A}"/>
              </a:ext>
            </a:extLst>
          </p:cNvPr>
          <p:cNvSpPr>
            <a:spLocks noGrp="1"/>
          </p:cNvSpPr>
          <p:nvPr/>
        </p:nvSpPr>
        <p:spPr>
          <a:xfrm>
            <a:off x="7291147" y="4569839"/>
            <a:ext cx="81203" cy="49786"/>
          </a:xfrm>
          <a:custGeom>
            <a:avLst/>
            <a:gdLst/>
            <a:ahLst/>
            <a:cxnLst/>
            <a:rect l="0" t="0" r="0" b="0"/>
            <a:pathLst>
              <a:path w="81203" h="49786">
                <a:moveTo>
                  <a:pt x="81203" y="49786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lide 3 background or diagram 31">
            <a:extLst>
              <a:ext uri="{FF2B5EF4-FFF2-40B4-BE49-F238E27FC236}">
                <a16:creationId xmlns:a16="http://schemas.microsoft.com/office/drawing/2014/main" id="{7D14DBF6-F2F5-4028-B530-A939CA25EB0E}"/>
              </a:ext>
            </a:extLst>
          </p:cNvPr>
          <p:cNvSpPr>
            <a:spLocks noGrp="1"/>
          </p:cNvSpPr>
          <p:nvPr/>
        </p:nvSpPr>
        <p:spPr>
          <a:xfrm>
            <a:off x="7372350" y="3943350"/>
            <a:ext cx="1981200" cy="1352550"/>
          </a:xfrm>
          <a:prstGeom prst="rect">
            <a:avLst/>
          </a:prstGeom>
          <a:solidFill>
            <a:srgbClr val="EAF0EF"/>
          </a:solidFill>
          <a:ln w="19050">
            <a:solidFill>
              <a:srgbClr val="CCD8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Diagram connector 32">
            <a:extLst>
              <a:ext uri="{FF2B5EF4-FFF2-40B4-BE49-F238E27FC236}">
                <a16:creationId xmlns:a16="http://schemas.microsoft.com/office/drawing/2014/main" id="{6DAB8A81-3826-488E-BF66-25F68EB13693}"/>
              </a:ext>
            </a:extLst>
          </p:cNvPr>
          <p:cNvSpPr>
            <a:spLocks noGrp="1"/>
          </p:cNvSpPr>
          <p:nvPr/>
        </p:nvSpPr>
        <p:spPr>
          <a:xfrm>
            <a:off x="9353550" y="4619625"/>
            <a:ext cx="285750" cy="9525"/>
          </a:xfrm>
          <a:custGeom>
            <a:avLst/>
            <a:gdLst/>
            <a:ahLst/>
            <a:cxnLst/>
            <a:rect l="0" t="0" r="0" b="0"/>
            <a:pathLst>
              <a:path w="285750" h="9525">
                <a:moveTo>
                  <a:pt x="0" y="0"/>
                </a:moveTo>
                <a:lnTo>
                  <a:pt x="285750" y="0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3" name="Diagram connector 33">
            <a:extLst>
              <a:ext uri="{FF2B5EF4-FFF2-40B4-BE49-F238E27FC236}">
                <a16:creationId xmlns:a16="http://schemas.microsoft.com/office/drawing/2014/main" id="{35B434B0-C1C5-4E0B-B1BD-11FB66C7FFB8}"/>
              </a:ext>
            </a:extLst>
          </p:cNvPr>
          <p:cNvSpPr>
            <a:spLocks noGrp="1"/>
          </p:cNvSpPr>
          <p:nvPr/>
        </p:nvSpPr>
        <p:spPr>
          <a:xfrm>
            <a:off x="9558099" y="4619625"/>
            <a:ext cx="81201" cy="49786"/>
          </a:xfrm>
          <a:custGeom>
            <a:avLst/>
            <a:gdLst/>
            <a:ahLst/>
            <a:cxnLst/>
            <a:rect l="0" t="0" r="0" b="0"/>
            <a:pathLst>
              <a:path w="81201" h="49786">
                <a:moveTo>
                  <a:pt x="81201" y="0"/>
                </a:moveTo>
                <a:lnTo>
                  <a:pt x="0" y="49786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Diagram connector 34">
            <a:extLst>
              <a:ext uri="{FF2B5EF4-FFF2-40B4-BE49-F238E27FC236}">
                <a16:creationId xmlns:a16="http://schemas.microsoft.com/office/drawing/2014/main" id="{B7E8BD25-53B5-4C3E-9828-6283BF658A7C}"/>
              </a:ext>
            </a:extLst>
          </p:cNvPr>
          <p:cNvSpPr>
            <a:spLocks noGrp="1"/>
          </p:cNvSpPr>
          <p:nvPr/>
        </p:nvSpPr>
        <p:spPr>
          <a:xfrm>
            <a:off x="9558099" y="4569839"/>
            <a:ext cx="81201" cy="49786"/>
          </a:xfrm>
          <a:custGeom>
            <a:avLst/>
            <a:gdLst/>
            <a:ahLst/>
            <a:cxnLst/>
            <a:rect l="0" t="0" r="0" b="0"/>
            <a:pathLst>
              <a:path w="81201" h="49786">
                <a:moveTo>
                  <a:pt x="81201" y="49786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5" name="Slide 3 background or diagram 35">
            <a:extLst>
              <a:ext uri="{FF2B5EF4-FFF2-40B4-BE49-F238E27FC236}">
                <a16:creationId xmlns:a16="http://schemas.microsoft.com/office/drawing/2014/main" id="{8C5EA968-B432-4A28-883D-292CF47ACA09}"/>
              </a:ext>
            </a:extLst>
          </p:cNvPr>
          <p:cNvSpPr>
            <a:spLocks noGrp="1"/>
          </p:cNvSpPr>
          <p:nvPr/>
        </p:nvSpPr>
        <p:spPr>
          <a:xfrm>
            <a:off x="9639300" y="3943350"/>
            <a:ext cx="1981200" cy="1352550"/>
          </a:xfrm>
          <a:prstGeom prst="rect">
            <a:avLst/>
          </a:prstGeom>
          <a:solidFill>
            <a:srgbClr val="102D37"/>
          </a:solidFill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Diagram connector 36">
            <a:extLst>
              <a:ext uri="{FF2B5EF4-FFF2-40B4-BE49-F238E27FC236}">
                <a16:creationId xmlns:a16="http://schemas.microsoft.com/office/drawing/2014/main" id="{88ADA667-148C-49CA-9555-534CDA740F44}"/>
              </a:ext>
            </a:extLst>
          </p:cNvPr>
          <p:cNvSpPr>
            <a:spLocks noGrp="1"/>
          </p:cNvSpPr>
          <p:nvPr/>
        </p:nvSpPr>
        <p:spPr>
          <a:xfrm>
            <a:off x="10629900" y="3438525"/>
            <a:ext cx="9525" cy="238125"/>
          </a:xfrm>
          <a:custGeom>
            <a:avLst/>
            <a:gdLst/>
            <a:ahLst/>
            <a:cxnLst/>
            <a:rect l="0" t="0" r="0" b="0"/>
            <a:pathLst>
              <a:path w="9525" h="238125">
                <a:moveTo>
                  <a:pt x="0" y="0"/>
                </a:moveTo>
                <a:lnTo>
                  <a:pt x="0" y="238125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7" name="Diagram connector 37">
            <a:extLst>
              <a:ext uri="{FF2B5EF4-FFF2-40B4-BE49-F238E27FC236}">
                <a16:creationId xmlns:a16="http://schemas.microsoft.com/office/drawing/2014/main" id="{F3CFBCDD-0A3B-496E-863D-3B104C9BF96F}"/>
              </a:ext>
            </a:extLst>
          </p:cNvPr>
          <p:cNvSpPr>
            <a:spLocks noGrp="1"/>
          </p:cNvSpPr>
          <p:nvPr/>
        </p:nvSpPr>
        <p:spPr>
          <a:xfrm>
            <a:off x="1562100" y="3676650"/>
            <a:ext cx="9067800" cy="9525"/>
          </a:xfrm>
          <a:custGeom>
            <a:avLst/>
            <a:gdLst/>
            <a:ahLst/>
            <a:cxnLst/>
            <a:rect l="0" t="0" r="0" b="0"/>
            <a:pathLst>
              <a:path w="9067800" h="9525">
                <a:moveTo>
                  <a:pt x="90678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Diagram connector 38">
            <a:extLst>
              <a:ext uri="{FF2B5EF4-FFF2-40B4-BE49-F238E27FC236}">
                <a16:creationId xmlns:a16="http://schemas.microsoft.com/office/drawing/2014/main" id="{64E7ECE2-03FF-4F38-AB95-1F783B409135}"/>
              </a:ext>
            </a:extLst>
          </p:cNvPr>
          <p:cNvSpPr>
            <a:spLocks noGrp="1"/>
          </p:cNvSpPr>
          <p:nvPr/>
        </p:nvSpPr>
        <p:spPr>
          <a:xfrm>
            <a:off x="1562100" y="3676650"/>
            <a:ext cx="9525" cy="266700"/>
          </a:xfrm>
          <a:custGeom>
            <a:avLst/>
            <a:gdLst/>
            <a:ahLst/>
            <a:cxnLst/>
            <a:rect l="0" t="0" r="0" b="0"/>
            <a:pathLst>
              <a:path w="9525"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9" name="Diagram connector 39">
            <a:extLst>
              <a:ext uri="{FF2B5EF4-FFF2-40B4-BE49-F238E27FC236}">
                <a16:creationId xmlns:a16="http://schemas.microsoft.com/office/drawing/2014/main" id="{F8094C6C-D487-4613-8497-AF272C13BCA5}"/>
              </a:ext>
            </a:extLst>
          </p:cNvPr>
          <p:cNvSpPr>
            <a:spLocks noGrp="1"/>
          </p:cNvSpPr>
          <p:nvPr/>
        </p:nvSpPr>
        <p:spPr>
          <a:xfrm>
            <a:off x="1512314" y="3862147"/>
            <a:ext cx="49786" cy="81203"/>
          </a:xfrm>
          <a:custGeom>
            <a:avLst/>
            <a:gdLst/>
            <a:ahLst/>
            <a:cxnLst/>
            <a:rect l="0" t="0" r="0" b="0"/>
            <a:pathLst>
              <a:path w="49786" h="81203">
                <a:moveTo>
                  <a:pt x="49786" y="81203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Diagram connector 40">
            <a:extLst>
              <a:ext uri="{FF2B5EF4-FFF2-40B4-BE49-F238E27FC236}">
                <a16:creationId xmlns:a16="http://schemas.microsoft.com/office/drawing/2014/main" id="{2562E45E-F86C-4183-A49F-958E4FB23923}"/>
              </a:ext>
            </a:extLst>
          </p:cNvPr>
          <p:cNvSpPr>
            <a:spLocks noGrp="1"/>
          </p:cNvSpPr>
          <p:nvPr/>
        </p:nvSpPr>
        <p:spPr>
          <a:xfrm>
            <a:off x="1562100" y="3862147"/>
            <a:ext cx="49786" cy="81203"/>
          </a:xfrm>
          <a:custGeom>
            <a:avLst/>
            <a:gdLst/>
            <a:ahLst/>
            <a:cxnLst/>
            <a:rect l="0" t="0" r="0" b="0"/>
            <a:pathLst>
              <a:path w="49786" h="81203">
                <a:moveTo>
                  <a:pt x="0" y="81203"/>
                </a:moveTo>
                <a:lnTo>
                  <a:pt x="49786" y="0"/>
                </a:lnTo>
              </a:path>
            </a:pathLst>
          </a:custGeom>
          <a:noFill/>
          <a:ln w="19050">
            <a:solidFill>
              <a:srgbClr val="007D7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1" name="Diagram connector 41">
            <a:extLst>
              <a:ext uri="{FF2B5EF4-FFF2-40B4-BE49-F238E27FC236}">
                <a16:creationId xmlns:a16="http://schemas.microsoft.com/office/drawing/2014/main" id="{36728496-48BE-4E40-AAAF-BD8B52660DBB}"/>
              </a:ext>
            </a:extLst>
          </p:cNvPr>
          <p:cNvSpPr>
            <a:spLocks noGrp="1"/>
          </p:cNvSpPr>
          <p:nvPr/>
        </p:nvSpPr>
        <p:spPr>
          <a:xfrm>
            <a:off x="552450" y="6267450"/>
            <a:ext cx="11087100" cy="9525"/>
          </a:xfrm>
          <a:custGeom>
            <a:avLst/>
            <a:gdLst/>
            <a:ahLst/>
            <a:cxnLst/>
            <a:rect l="0" t="0" r="0" b="0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9525">
            <a:solidFill>
              <a:srgbClr val="CCD8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2" name="Text 3.1">
            <a:extLst>
              <a:ext uri="{FF2B5EF4-FFF2-40B4-BE49-F238E27FC236}">
                <a16:creationId xmlns:a16="http://schemas.microsoft.com/office/drawing/2014/main" id="{6E4CB1E3-E71A-4896-97AA-65FEBAD578FB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086574" cy="179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AFS FIBERWISE</a:t>
            </a:r>
          </a:p>
        </p:txBody>
      </p:sp>
      <p:sp>
        <p:nvSpPr>
          <p:cNvPr id="43" name="Text 3.2">
            <a:extLst>
              <a:ext uri="{FF2B5EF4-FFF2-40B4-BE49-F238E27FC236}">
                <a16:creationId xmlns:a16="http://schemas.microsoft.com/office/drawing/2014/main" id="{CC7F0B6C-32C6-49A3-BD7A-198E90F17F6A}"/>
              </a:ext>
            </a:extLst>
          </p:cNvPr>
          <p:cNvSpPr>
            <a:spLocks noGrp="1"/>
          </p:cNvSpPr>
          <p:nvPr/>
        </p:nvSpPr>
        <p:spPr>
          <a:xfrm>
            <a:off x="8191500" y="285750"/>
            <a:ext cx="141300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JURY PRESENTATION / 03</a:t>
            </a:r>
          </a:p>
        </p:txBody>
      </p:sp>
      <p:sp>
        <p:nvSpPr>
          <p:cNvPr id="44" name="Text 3.3">
            <a:extLst>
              <a:ext uri="{FF2B5EF4-FFF2-40B4-BE49-F238E27FC236}">
                <a16:creationId xmlns:a16="http://schemas.microsoft.com/office/drawing/2014/main" id="{D78645BA-5FA7-4C54-9D1B-25E468540F63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4017683" cy="4991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System architecture</a:t>
            </a:r>
          </a:p>
        </p:txBody>
      </p:sp>
      <p:sp>
        <p:nvSpPr>
          <p:cNvPr id="45" name="Text 3.4">
            <a:extLst>
              <a:ext uri="{FF2B5EF4-FFF2-40B4-BE49-F238E27FC236}">
                <a16:creationId xmlns:a16="http://schemas.microsoft.com/office/drawing/2014/main" id="{FB0A39C7-3D79-47E4-94BE-B69BF5955F01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728672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Rules handle the physics. Models handle language. Code checks the drafted report.</a:t>
            </a:r>
          </a:p>
        </p:txBody>
      </p:sp>
      <p:sp>
        <p:nvSpPr>
          <p:cNvPr id="46" name="Text 3.5">
            <a:extLst>
              <a:ext uri="{FF2B5EF4-FFF2-40B4-BE49-F238E27FC236}">
                <a16:creationId xmlns:a16="http://schemas.microsoft.com/office/drawing/2014/main" id="{8CD109B2-8BF1-4F7A-91D2-72BA1F1CFEE5}"/>
              </a:ext>
            </a:extLst>
          </p:cNvPr>
          <p:cNvSpPr>
            <a:spLocks noGrp="1"/>
          </p:cNvSpPr>
          <p:nvPr/>
        </p:nvSpPr>
        <p:spPr>
          <a:xfrm>
            <a:off x="714375" y="2209800"/>
            <a:ext cx="603828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0 / CODE</a:t>
            </a:r>
          </a:p>
        </p:txBody>
      </p:sp>
      <p:sp>
        <p:nvSpPr>
          <p:cNvPr id="47" name="Text 3.6">
            <a:extLst>
              <a:ext uri="{FF2B5EF4-FFF2-40B4-BE49-F238E27FC236}">
                <a16:creationId xmlns:a16="http://schemas.microsoft.com/office/drawing/2014/main" id="{5006A684-4BD7-4BD8-9D7D-8F7E4CFF9D75}"/>
              </a:ext>
            </a:extLst>
          </p:cNvPr>
          <p:cNvSpPr>
            <a:spLocks noGrp="1"/>
          </p:cNvSpPr>
          <p:nvPr/>
        </p:nvSpPr>
        <p:spPr>
          <a:xfrm>
            <a:off x="714375" y="2457450"/>
            <a:ext cx="115443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Pre-check</a:t>
            </a:r>
          </a:p>
        </p:txBody>
      </p:sp>
      <p:sp>
        <p:nvSpPr>
          <p:cNvPr id="48" name="Text 3.7">
            <a:extLst>
              <a:ext uri="{FF2B5EF4-FFF2-40B4-BE49-F238E27FC236}">
                <a16:creationId xmlns:a16="http://schemas.microsoft.com/office/drawing/2014/main" id="{5AC0B81D-EFED-46DB-8AFE-85B93D94C257}"/>
              </a:ext>
            </a:extLst>
          </p:cNvPr>
          <p:cNvSpPr>
            <a:spLocks noGrp="1"/>
          </p:cNvSpPr>
          <p:nvPr/>
        </p:nvSpPr>
        <p:spPr>
          <a:xfrm>
            <a:off x="714375" y="2819400"/>
            <a:ext cx="1353464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EN / DE glossary</a:t>
            </a:r>
          </a:p>
        </p:txBody>
      </p:sp>
      <p:sp>
        <p:nvSpPr>
          <p:cNvPr id="49" name="Text 3.8">
            <a:extLst>
              <a:ext uri="{FF2B5EF4-FFF2-40B4-BE49-F238E27FC236}">
                <a16:creationId xmlns:a16="http://schemas.microsoft.com/office/drawing/2014/main" id="{7B745C7B-B812-411A-99B0-C36E47B16923}"/>
              </a:ext>
            </a:extLst>
          </p:cNvPr>
          <p:cNvSpPr>
            <a:spLocks noGrp="1"/>
          </p:cNvSpPr>
          <p:nvPr/>
        </p:nvSpPr>
        <p:spPr>
          <a:xfrm>
            <a:off x="714375" y="3020568"/>
            <a:ext cx="1221181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Early warnings</a:t>
            </a:r>
          </a:p>
        </p:txBody>
      </p:sp>
      <p:sp>
        <p:nvSpPr>
          <p:cNvPr id="50" name="Text 3.9">
            <a:extLst>
              <a:ext uri="{FF2B5EF4-FFF2-40B4-BE49-F238E27FC236}">
                <a16:creationId xmlns:a16="http://schemas.microsoft.com/office/drawing/2014/main" id="{347271E5-308F-4594-B8BE-B2C867534C53}"/>
              </a:ext>
            </a:extLst>
          </p:cNvPr>
          <p:cNvSpPr>
            <a:spLocks noGrp="1"/>
          </p:cNvSpPr>
          <p:nvPr/>
        </p:nvSpPr>
        <p:spPr>
          <a:xfrm>
            <a:off x="2981325" y="2209800"/>
            <a:ext cx="517074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rPr>
              <a:t>1 / LLM</a:t>
            </a:r>
          </a:p>
        </p:txBody>
      </p:sp>
      <p:sp>
        <p:nvSpPr>
          <p:cNvPr id="51" name="Text 3.10">
            <a:extLst>
              <a:ext uri="{FF2B5EF4-FFF2-40B4-BE49-F238E27FC236}">
                <a16:creationId xmlns:a16="http://schemas.microsoft.com/office/drawing/2014/main" id="{CC880E56-BE59-4D21-8BEA-B2271D4AC7DC}"/>
              </a:ext>
            </a:extLst>
          </p:cNvPr>
          <p:cNvSpPr>
            <a:spLocks noGrp="1"/>
          </p:cNvSpPr>
          <p:nvPr/>
        </p:nvSpPr>
        <p:spPr>
          <a:xfrm>
            <a:off x="2981325" y="2457450"/>
            <a:ext cx="865822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Extract</a:t>
            </a:r>
          </a:p>
        </p:txBody>
      </p:sp>
      <p:sp>
        <p:nvSpPr>
          <p:cNvPr id="52" name="Text 3.11">
            <a:extLst>
              <a:ext uri="{FF2B5EF4-FFF2-40B4-BE49-F238E27FC236}">
                <a16:creationId xmlns:a16="http://schemas.microsoft.com/office/drawing/2014/main" id="{459759CF-929B-4BCD-B345-79D219ABD679}"/>
              </a:ext>
            </a:extLst>
          </p:cNvPr>
          <p:cNvSpPr>
            <a:spLocks noGrp="1"/>
          </p:cNvSpPr>
          <p:nvPr/>
        </p:nvSpPr>
        <p:spPr>
          <a:xfrm>
            <a:off x="2981325" y="2819400"/>
            <a:ext cx="1368247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Facts, unknowns</a:t>
            </a:r>
          </a:p>
        </p:txBody>
      </p:sp>
      <p:sp>
        <p:nvSpPr>
          <p:cNvPr id="53" name="Text 3.12">
            <a:extLst>
              <a:ext uri="{FF2B5EF4-FFF2-40B4-BE49-F238E27FC236}">
                <a16:creationId xmlns:a16="http://schemas.microsoft.com/office/drawing/2014/main" id="{14A98F67-050D-42A0-8F48-1D43BC60E851}"/>
              </a:ext>
            </a:extLst>
          </p:cNvPr>
          <p:cNvSpPr>
            <a:spLocks noGrp="1"/>
          </p:cNvSpPr>
          <p:nvPr/>
        </p:nvSpPr>
        <p:spPr>
          <a:xfrm>
            <a:off x="2981325" y="3020568"/>
            <a:ext cx="1281379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Client premises</a:t>
            </a:r>
          </a:p>
        </p:txBody>
      </p:sp>
      <p:sp>
        <p:nvSpPr>
          <p:cNvPr id="54" name="Text 3.13">
            <a:extLst>
              <a:ext uri="{FF2B5EF4-FFF2-40B4-BE49-F238E27FC236}">
                <a16:creationId xmlns:a16="http://schemas.microsoft.com/office/drawing/2014/main" id="{1463710D-8C7E-4B90-8A9E-3007E8E88A63}"/>
              </a:ext>
            </a:extLst>
          </p:cNvPr>
          <p:cNvSpPr>
            <a:spLocks noGrp="1"/>
          </p:cNvSpPr>
          <p:nvPr/>
        </p:nvSpPr>
        <p:spPr>
          <a:xfrm>
            <a:off x="5248275" y="2209800"/>
            <a:ext cx="603828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2 / CODE</a:t>
            </a:r>
          </a:p>
        </p:txBody>
      </p:sp>
      <p:sp>
        <p:nvSpPr>
          <p:cNvPr id="55" name="Text 3.14">
            <a:extLst>
              <a:ext uri="{FF2B5EF4-FFF2-40B4-BE49-F238E27FC236}">
                <a16:creationId xmlns:a16="http://schemas.microsoft.com/office/drawing/2014/main" id="{DED047B8-9170-4FEC-98E2-892BA640A983}"/>
              </a:ext>
            </a:extLst>
          </p:cNvPr>
          <p:cNvSpPr>
            <a:spLocks noGrp="1"/>
          </p:cNvSpPr>
          <p:nvPr/>
        </p:nvSpPr>
        <p:spPr>
          <a:xfrm>
            <a:off x="5248275" y="2457450"/>
            <a:ext cx="148304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Rules engine</a:t>
            </a:r>
          </a:p>
        </p:txBody>
      </p:sp>
      <p:sp>
        <p:nvSpPr>
          <p:cNvPr id="56" name="Text 3.15">
            <a:extLst>
              <a:ext uri="{FF2B5EF4-FFF2-40B4-BE49-F238E27FC236}">
                <a16:creationId xmlns:a16="http://schemas.microsoft.com/office/drawing/2014/main" id="{0D037978-6DFE-4F08-A5C9-AB0B1DF341EE}"/>
              </a:ext>
            </a:extLst>
          </p:cNvPr>
          <p:cNvSpPr>
            <a:spLocks noGrp="1"/>
          </p:cNvSpPr>
          <p:nvPr/>
        </p:nvSpPr>
        <p:spPr>
          <a:xfrm>
            <a:off x="5248275" y="2819400"/>
            <a:ext cx="1367028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35 sourced rules</a:t>
            </a:r>
          </a:p>
        </p:txBody>
      </p:sp>
      <p:sp>
        <p:nvSpPr>
          <p:cNvPr id="57" name="Text 3.16">
            <a:extLst>
              <a:ext uri="{FF2B5EF4-FFF2-40B4-BE49-F238E27FC236}">
                <a16:creationId xmlns:a16="http://schemas.microsoft.com/office/drawing/2014/main" id="{543571B8-0011-4C6E-85FC-67C2D2302903}"/>
              </a:ext>
            </a:extLst>
          </p:cNvPr>
          <p:cNvSpPr>
            <a:spLocks noGrp="1"/>
          </p:cNvSpPr>
          <p:nvPr/>
        </p:nvSpPr>
        <p:spPr>
          <a:xfrm>
            <a:off x="5248275" y="3020568"/>
            <a:ext cx="1559204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Fiber range, scores</a:t>
            </a:r>
          </a:p>
        </p:txBody>
      </p:sp>
      <p:sp>
        <p:nvSpPr>
          <p:cNvPr id="58" name="Text 3.17">
            <a:extLst>
              <a:ext uri="{FF2B5EF4-FFF2-40B4-BE49-F238E27FC236}">
                <a16:creationId xmlns:a16="http://schemas.microsoft.com/office/drawing/2014/main" id="{F6449133-86F1-401F-8515-98B4464257A5}"/>
              </a:ext>
            </a:extLst>
          </p:cNvPr>
          <p:cNvSpPr>
            <a:spLocks noGrp="1"/>
          </p:cNvSpPr>
          <p:nvPr/>
        </p:nvSpPr>
        <p:spPr>
          <a:xfrm>
            <a:off x="7515225" y="2209800"/>
            <a:ext cx="603828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3 / CODE</a:t>
            </a:r>
          </a:p>
        </p:txBody>
      </p:sp>
      <p:sp>
        <p:nvSpPr>
          <p:cNvPr id="59" name="Text 3.18">
            <a:extLst>
              <a:ext uri="{FF2B5EF4-FFF2-40B4-BE49-F238E27FC236}">
                <a16:creationId xmlns:a16="http://schemas.microsoft.com/office/drawing/2014/main" id="{15200D80-57D7-4C7C-8A6C-DA82BDF8DEBC}"/>
              </a:ext>
            </a:extLst>
          </p:cNvPr>
          <p:cNvSpPr>
            <a:spLocks noGrp="1"/>
          </p:cNvSpPr>
          <p:nvPr/>
        </p:nvSpPr>
        <p:spPr>
          <a:xfrm>
            <a:off x="7515225" y="2457450"/>
            <a:ext cx="106870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Retrieval</a:t>
            </a:r>
          </a:p>
        </p:txBody>
      </p:sp>
      <p:sp>
        <p:nvSpPr>
          <p:cNvPr id="60" name="Text 3.19">
            <a:extLst>
              <a:ext uri="{FF2B5EF4-FFF2-40B4-BE49-F238E27FC236}">
                <a16:creationId xmlns:a16="http://schemas.microsoft.com/office/drawing/2014/main" id="{2404CF55-F991-4D02-9D49-898A4585E77D}"/>
              </a:ext>
            </a:extLst>
          </p:cNvPr>
          <p:cNvSpPr>
            <a:spLocks noGrp="1"/>
          </p:cNvSpPr>
          <p:nvPr/>
        </p:nvSpPr>
        <p:spPr>
          <a:xfrm>
            <a:off x="7515225" y="2819400"/>
            <a:ext cx="1691183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BM25 + embeddings</a:t>
            </a:r>
          </a:p>
        </p:txBody>
      </p:sp>
      <p:sp>
        <p:nvSpPr>
          <p:cNvPr id="61" name="Text 3.20">
            <a:extLst>
              <a:ext uri="{FF2B5EF4-FFF2-40B4-BE49-F238E27FC236}">
                <a16:creationId xmlns:a16="http://schemas.microsoft.com/office/drawing/2014/main" id="{D78B692F-B39C-436C-8190-7C2FE16EDC2C}"/>
              </a:ext>
            </a:extLst>
          </p:cNvPr>
          <p:cNvSpPr>
            <a:spLocks noGrp="1"/>
          </p:cNvSpPr>
          <p:nvPr/>
        </p:nvSpPr>
        <p:spPr>
          <a:xfrm>
            <a:off x="7515225" y="3020568"/>
            <a:ext cx="860603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RRF, MMR</a:t>
            </a:r>
          </a:p>
        </p:txBody>
      </p:sp>
      <p:sp>
        <p:nvSpPr>
          <p:cNvPr id="62" name="Text 3.21">
            <a:extLst>
              <a:ext uri="{FF2B5EF4-FFF2-40B4-BE49-F238E27FC236}">
                <a16:creationId xmlns:a16="http://schemas.microsoft.com/office/drawing/2014/main" id="{81330DFC-49F3-4099-84CA-32AD1E28BFBD}"/>
              </a:ext>
            </a:extLst>
          </p:cNvPr>
          <p:cNvSpPr>
            <a:spLocks noGrp="1"/>
          </p:cNvSpPr>
          <p:nvPr/>
        </p:nvSpPr>
        <p:spPr>
          <a:xfrm>
            <a:off x="9782175" y="2209800"/>
            <a:ext cx="517074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rPr>
              <a:t>4 / LLM</a:t>
            </a:r>
          </a:p>
        </p:txBody>
      </p:sp>
      <p:sp>
        <p:nvSpPr>
          <p:cNvPr id="63" name="Text 3.22">
            <a:extLst>
              <a:ext uri="{FF2B5EF4-FFF2-40B4-BE49-F238E27FC236}">
                <a16:creationId xmlns:a16="http://schemas.microsoft.com/office/drawing/2014/main" id="{91596BBA-B020-430A-8D9B-13BCED376897}"/>
              </a:ext>
            </a:extLst>
          </p:cNvPr>
          <p:cNvSpPr>
            <a:spLocks noGrp="1"/>
          </p:cNvSpPr>
          <p:nvPr/>
        </p:nvSpPr>
        <p:spPr>
          <a:xfrm>
            <a:off x="9782175" y="2457450"/>
            <a:ext cx="164801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Premise check</a:t>
            </a:r>
          </a:p>
        </p:txBody>
      </p:sp>
      <p:sp>
        <p:nvSpPr>
          <p:cNvPr id="64" name="Text 3.23">
            <a:extLst>
              <a:ext uri="{FF2B5EF4-FFF2-40B4-BE49-F238E27FC236}">
                <a16:creationId xmlns:a16="http://schemas.microsoft.com/office/drawing/2014/main" id="{3949C1B3-DA9E-49D4-934F-4162811795C7}"/>
              </a:ext>
            </a:extLst>
          </p:cNvPr>
          <p:cNvSpPr>
            <a:spLocks noGrp="1"/>
          </p:cNvSpPr>
          <p:nvPr/>
        </p:nvSpPr>
        <p:spPr>
          <a:xfrm>
            <a:off x="9782175" y="2819400"/>
            <a:ext cx="1409548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Checks customer</a:t>
            </a:r>
          </a:p>
        </p:txBody>
      </p:sp>
      <p:sp>
        <p:nvSpPr>
          <p:cNvPr id="65" name="Text 3.24">
            <a:extLst>
              <a:ext uri="{FF2B5EF4-FFF2-40B4-BE49-F238E27FC236}">
                <a16:creationId xmlns:a16="http://schemas.microsoft.com/office/drawing/2014/main" id="{628DD829-4C0B-4A9C-BA26-83CD0B1D79FB}"/>
              </a:ext>
            </a:extLst>
          </p:cNvPr>
          <p:cNvSpPr>
            <a:spLocks noGrp="1"/>
          </p:cNvSpPr>
          <p:nvPr/>
        </p:nvSpPr>
        <p:spPr>
          <a:xfrm>
            <a:off x="9782175" y="3020568"/>
            <a:ext cx="1060705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assumptions</a:t>
            </a:r>
          </a:p>
        </p:txBody>
      </p:sp>
      <p:sp>
        <p:nvSpPr>
          <p:cNvPr id="66" name="Text 3.25">
            <a:extLst>
              <a:ext uri="{FF2B5EF4-FFF2-40B4-BE49-F238E27FC236}">
                <a16:creationId xmlns:a16="http://schemas.microsoft.com/office/drawing/2014/main" id="{6E5EF21C-DF1A-402D-8F52-D634C84803C4}"/>
              </a:ext>
            </a:extLst>
          </p:cNvPr>
          <p:cNvSpPr>
            <a:spLocks noGrp="1"/>
          </p:cNvSpPr>
          <p:nvPr/>
        </p:nvSpPr>
        <p:spPr>
          <a:xfrm>
            <a:off x="714375" y="4067175"/>
            <a:ext cx="517074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B54B25"/>
                </a:solidFill>
                <a:latin typeface="DejaVu Sans"/>
                <a:ea typeface="DejaVu Sans"/>
                <a:cs typeface="DejaVu Sans"/>
              </a:rPr>
              <a:t>5 / LLM</a:t>
            </a:r>
          </a:p>
        </p:txBody>
      </p:sp>
      <p:sp>
        <p:nvSpPr>
          <p:cNvPr id="67" name="Text 3.26">
            <a:extLst>
              <a:ext uri="{FF2B5EF4-FFF2-40B4-BE49-F238E27FC236}">
                <a16:creationId xmlns:a16="http://schemas.microsoft.com/office/drawing/2014/main" id="{6CFB480B-34AD-4D78-A4BB-1BAC4AC475DB}"/>
              </a:ext>
            </a:extLst>
          </p:cNvPr>
          <p:cNvSpPr>
            <a:spLocks noGrp="1"/>
          </p:cNvSpPr>
          <p:nvPr/>
        </p:nvSpPr>
        <p:spPr>
          <a:xfrm>
            <a:off x="714375" y="4314825"/>
            <a:ext cx="823341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Report</a:t>
            </a:r>
          </a:p>
        </p:txBody>
      </p:sp>
      <p:sp>
        <p:nvSpPr>
          <p:cNvPr id="68" name="Text 3.27">
            <a:extLst>
              <a:ext uri="{FF2B5EF4-FFF2-40B4-BE49-F238E27FC236}">
                <a16:creationId xmlns:a16="http://schemas.microsoft.com/office/drawing/2014/main" id="{7ECDFF3C-065F-442A-83DD-27E154E9C476}"/>
              </a:ext>
            </a:extLst>
          </p:cNvPr>
          <p:cNvSpPr>
            <a:spLocks noGrp="1"/>
          </p:cNvSpPr>
          <p:nvPr/>
        </p:nvSpPr>
        <p:spPr>
          <a:xfrm>
            <a:off x="714375" y="4676775"/>
            <a:ext cx="1170280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11 sections or</a:t>
            </a:r>
          </a:p>
        </p:txBody>
      </p:sp>
      <p:sp>
        <p:nvSpPr>
          <p:cNvPr id="69" name="Text 3.28">
            <a:extLst>
              <a:ext uri="{FF2B5EF4-FFF2-40B4-BE49-F238E27FC236}">
                <a16:creationId xmlns:a16="http://schemas.microsoft.com/office/drawing/2014/main" id="{C0CABEC3-3D65-435B-9F69-7277C50B122E}"/>
              </a:ext>
            </a:extLst>
          </p:cNvPr>
          <p:cNvSpPr>
            <a:spLocks noGrp="1"/>
          </p:cNvSpPr>
          <p:nvPr/>
        </p:nvSpPr>
        <p:spPr>
          <a:xfrm>
            <a:off x="714375" y="4877943"/>
            <a:ext cx="1150772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Council drafts</a:t>
            </a:r>
          </a:p>
        </p:txBody>
      </p:sp>
      <p:sp>
        <p:nvSpPr>
          <p:cNvPr id="70" name="Text 3.29">
            <a:extLst>
              <a:ext uri="{FF2B5EF4-FFF2-40B4-BE49-F238E27FC236}">
                <a16:creationId xmlns:a16="http://schemas.microsoft.com/office/drawing/2014/main" id="{F3DBB58E-8EE0-4D31-A004-C646A79E9E1C}"/>
              </a:ext>
            </a:extLst>
          </p:cNvPr>
          <p:cNvSpPr>
            <a:spLocks noGrp="1"/>
          </p:cNvSpPr>
          <p:nvPr/>
        </p:nvSpPr>
        <p:spPr>
          <a:xfrm>
            <a:off x="2981325" y="4067175"/>
            <a:ext cx="603828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6 / CODE</a:t>
            </a:r>
          </a:p>
        </p:txBody>
      </p:sp>
      <p:sp>
        <p:nvSpPr>
          <p:cNvPr id="71" name="Text 3.30">
            <a:extLst>
              <a:ext uri="{FF2B5EF4-FFF2-40B4-BE49-F238E27FC236}">
                <a16:creationId xmlns:a16="http://schemas.microsoft.com/office/drawing/2014/main" id="{257045B2-0EF3-4D5E-8758-C99051EECC5D}"/>
              </a:ext>
            </a:extLst>
          </p:cNvPr>
          <p:cNvSpPr>
            <a:spLocks noGrp="1"/>
          </p:cNvSpPr>
          <p:nvPr/>
        </p:nvSpPr>
        <p:spPr>
          <a:xfrm>
            <a:off x="2981325" y="4314825"/>
            <a:ext cx="90239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Verifier</a:t>
            </a:r>
          </a:p>
        </p:txBody>
      </p:sp>
      <p:sp>
        <p:nvSpPr>
          <p:cNvPr id="72" name="Text 3.31">
            <a:extLst>
              <a:ext uri="{FF2B5EF4-FFF2-40B4-BE49-F238E27FC236}">
                <a16:creationId xmlns:a16="http://schemas.microsoft.com/office/drawing/2014/main" id="{50C121CB-4721-411C-893A-36735CB88AE5}"/>
              </a:ext>
            </a:extLst>
          </p:cNvPr>
          <p:cNvSpPr>
            <a:spLocks noGrp="1"/>
          </p:cNvSpPr>
          <p:nvPr/>
        </p:nvSpPr>
        <p:spPr>
          <a:xfrm>
            <a:off x="2981325" y="4676775"/>
            <a:ext cx="1409090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Quotes, numbers</a:t>
            </a:r>
          </a:p>
        </p:txBody>
      </p:sp>
      <p:sp>
        <p:nvSpPr>
          <p:cNvPr id="73" name="Text 3.32">
            <a:extLst>
              <a:ext uri="{FF2B5EF4-FFF2-40B4-BE49-F238E27FC236}">
                <a16:creationId xmlns:a16="http://schemas.microsoft.com/office/drawing/2014/main" id="{EA90D13C-CE78-4DB4-80D6-F412CDF8EBFF}"/>
              </a:ext>
            </a:extLst>
          </p:cNvPr>
          <p:cNvSpPr>
            <a:spLocks noGrp="1"/>
          </p:cNvSpPr>
          <p:nvPr/>
        </p:nvSpPr>
        <p:spPr>
          <a:xfrm>
            <a:off x="2981325" y="4877943"/>
            <a:ext cx="1284275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Evidence scope</a:t>
            </a:r>
          </a:p>
        </p:txBody>
      </p:sp>
      <p:sp>
        <p:nvSpPr>
          <p:cNvPr id="74" name="Text 3.33">
            <a:extLst>
              <a:ext uri="{FF2B5EF4-FFF2-40B4-BE49-F238E27FC236}">
                <a16:creationId xmlns:a16="http://schemas.microsoft.com/office/drawing/2014/main" id="{11E5C3CE-7777-493E-857C-A16D7853FEF2}"/>
              </a:ext>
            </a:extLst>
          </p:cNvPr>
          <p:cNvSpPr>
            <a:spLocks noGrp="1"/>
          </p:cNvSpPr>
          <p:nvPr/>
        </p:nvSpPr>
        <p:spPr>
          <a:xfrm>
            <a:off x="5248275" y="4067175"/>
            <a:ext cx="603828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7 / CODE</a:t>
            </a:r>
          </a:p>
        </p:txBody>
      </p:sp>
      <p:sp>
        <p:nvSpPr>
          <p:cNvPr id="75" name="Text 3.34">
            <a:extLst>
              <a:ext uri="{FF2B5EF4-FFF2-40B4-BE49-F238E27FC236}">
                <a16:creationId xmlns:a16="http://schemas.microsoft.com/office/drawing/2014/main" id="{DD4550B3-EA23-4E1E-9065-CE615A8A6492}"/>
              </a:ext>
            </a:extLst>
          </p:cNvPr>
          <p:cNvSpPr>
            <a:spLocks noGrp="1"/>
          </p:cNvSpPr>
          <p:nvPr/>
        </p:nvSpPr>
        <p:spPr>
          <a:xfrm>
            <a:off x="5248275" y="4314825"/>
            <a:ext cx="141884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Quality gate</a:t>
            </a:r>
          </a:p>
        </p:txBody>
      </p:sp>
      <p:sp>
        <p:nvSpPr>
          <p:cNvPr id="76" name="Text 3.35">
            <a:extLst>
              <a:ext uri="{FF2B5EF4-FFF2-40B4-BE49-F238E27FC236}">
                <a16:creationId xmlns:a16="http://schemas.microsoft.com/office/drawing/2014/main" id="{F277778E-79D0-4B9B-9F68-FCD8F556308D}"/>
              </a:ext>
            </a:extLst>
          </p:cNvPr>
          <p:cNvSpPr>
            <a:spLocks noGrp="1"/>
          </p:cNvSpPr>
          <p:nvPr/>
        </p:nvSpPr>
        <p:spPr>
          <a:xfrm>
            <a:off x="5248275" y="4676775"/>
            <a:ext cx="1279246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16 code checks</a:t>
            </a:r>
          </a:p>
        </p:txBody>
      </p:sp>
      <p:sp>
        <p:nvSpPr>
          <p:cNvPr id="77" name="Text 3.36">
            <a:extLst>
              <a:ext uri="{FF2B5EF4-FFF2-40B4-BE49-F238E27FC236}">
                <a16:creationId xmlns:a16="http://schemas.microsoft.com/office/drawing/2014/main" id="{926ECD42-B04C-4649-8411-E75454DB0527}"/>
              </a:ext>
            </a:extLst>
          </p:cNvPr>
          <p:cNvSpPr>
            <a:spLocks noGrp="1"/>
          </p:cNvSpPr>
          <p:nvPr/>
        </p:nvSpPr>
        <p:spPr>
          <a:xfrm>
            <a:off x="5248275" y="4877943"/>
            <a:ext cx="1589532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Optional LLM repair</a:t>
            </a:r>
          </a:p>
        </p:txBody>
      </p:sp>
      <p:sp>
        <p:nvSpPr>
          <p:cNvPr id="78" name="Text 3.37">
            <a:extLst>
              <a:ext uri="{FF2B5EF4-FFF2-40B4-BE49-F238E27FC236}">
                <a16:creationId xmlns:a16="http://schemas.microsoft.com/office/drawing/2014/main" id="{BE21BE79-80BA-4348-B75B-5DE67B722418}"/>
              </a:ext>
            </a:extLst>
          </p:cNvPr>
          <p:cNvSpPr>
            <a:spLocks noGrp="1"/>
          </p:cNvSpPr>
          <p:nvPr/>
        </p:nvSpPr>
        <p:spPr>
          <a:xfrm>
            <a:off x="7515225" y="4067175"/>
            <a:ext cx="603828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8 / CODE</a:t>
            </a:r>
          </a:p>
        </p:txBody>
      </p:sp>
      <p:sp>
        <p:nvSpPr>
          <p:cNvPr id="79" name="Text 3.38">
            <a:extLst>
              <a:ext uri="{FF2B5EF4-FFF2-40B4-BE49-F238E27FC236}">
                <a16:creationId xmlns:a16="http://schemas.microsoft.com/office/drawing/2014/main" id="{1F65F6F5-B299-42DE-A8F5-5A34D6E74519}"/>
              </a:ext>
            </a:extLst>
          </p:cNvPr>
          <p:cNvSpPr>
            <a:spLocks noGrp="1"/>
          </p:cNvSpPr>
          <p:nvPr/>
        </p:nvSpPr>
        <p:spPr>
          <a:xfrm>
            <a:off x="7515225" y="4314825"/>
            <a:ext cx="129311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Confidence</a:t>
            </a:r>
          </a:p>
        </p:txBody>
      </p:sp>
      <p:sp>
        <p:nvSpPr>
          <p:cNvPr id="80" name="Text 3.39">
            <a:extLst>
              <a:ext uri="{FF2B5EF4-FFF2-40B4-BE49-F238E27FC236}">
                <a16:creationId xmlns:a16="http://schemas.microsoft.com/office/drawing/2014/main" id="{16AE6AEC-ECCA-4ADF-AAE0-2DBCCAE6CC29}"/>
              </a:ext>
            </a:extLst>
          </p:cNvPr>
          <p:cNvSpPr>
            <a:spLocks noGrp="1"/>
          </p:cNvSpPr>
          <p:nvPr/>
        </p:nvSpPr>
        <p:spPr>
          <a:xfrm>
            <a:off x="7515225" y="4676775"/>
            <a:ext cx="1465783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Computed signals</a:t>
            </a:r>
          </a:p>
        </p:txBody>
      </p:sp>
      <p:sp>
        <p:nvSpPr>
          <p:cNvPr id="81" name="Text 3.40">
            <a:extLst>
              <a:ext uri="{FF2B5EF4-FFF2-40B4-BE49-F238E27FC236}">
                <a16:creationId xmlns:a16="http://schemas.microsoft.com/office/drawing/2014/main" id="{C725C452-F8B5-4C6D-91E2-1D2C5E5C1599}"/>
              </a:ext>
            </a:extLst>
          </p:cNvPr>
          <p:cNvSpPr>
            <a:spLocks noGrp="1"/>
          </p:cNvSpPr>
          <p:nvPr/>
        </p:nvSpPr>
        <p:spPr>
          <a:xfrm>
            <a:off x="7515225" y="4877943"/>
            <a:ext cx="1477975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Coach and what-if</a:t>
            </a:r>
          </a:p>
        </p:txBody>
      </p:sp>
      <p:sp>
        <p:nvSpPr>
          <p:cNvPr id="82" name="Text 3.41">
            <a:extLst>
              <a:ext uri="{FF2B5EF4-FFF2-40B4-BE49-F238E27FC236}">
                <a16:creationId xmlns:a16="http://schemas.microsoft.com/office/drawing/2014/main" id="{F60079BA-33A4-455F-BB26-5E4EA1225B2B}"/>
              </a:ext>
            </a:extLst>
          </p:cNvPr>
          <p:cNvSpPr>
            <a:spLocks noGrp="1"/>
          </p:cNvSpPr>
          <p:nvPr/>
        </p:nvSpPr>
        <p:spPr>
          <a:xfrm>
            <a:off x="9782175" y="4067175"/>
            <a:ext cx="574177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825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25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25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25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25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25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25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25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25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25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825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pPr>
            <a:r>
              <a:rPr sz="825" b="1">
                <a:solidFill>
                  <a:srgbClr val="87CCC6"/>
                </a:solidFill>
                <a:latin typeface="DejaVu Sans"/>
                <a:ea typeface="DejaVu Sans"/>
                <a:cs typeface="DejaVu Sans"/>
              </a:rPr>
              <a:t>OUTPUT</a:t>
            </a:r>
          </a:p>
        </p:txBody>
      </p:sp>
      <p:sp>
        <p:nvSpPr>
          <p:cNvPr id="83" name="Text 3.42">
            <a:extLst>
              <a:ext uri="{FF2B5EF4-FFF2-40B4-BE49-F238E27FC236}">
                <a16:creationId xmlns:a16="http://schemas.microsoft.com/office/drawing/2014/main" id="{BC64CAED-AEE8-432E-A94A-AD92EB4452A2}"/>
              </a:ext>
            </a:extLst>
          </p:cNvPr>
          <p:cNvSpPr>
            <a:spLocks noGrp="1"/>
          </p:cNvSpPr>
          <p:nvPr/>
        </p:nvSpPr>
        <p:spPr>
          <a:xfrm>
            <a:off x="9782175" y="4314825"/>
            <a:ext cx="1379602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Assessment</a:t>
            </a:r>
          </a:p>
        </p:txBody>
      </p:sp>
      <p:sp>
        <p:nvSpPr>
          <p:cNvPr id="84" name="Text 3.43">
            <a:extLst>
              <a:ext uri="{FF2B5EF4-FFF2-40B4-BE49-F238E27FC236}">
                <a16:creationId xmlns:a16="http://schemas.microsoft.com/office/drawing/2014/main" id="{26C1ED53-68E9-4B2B-A9B6-7C878083C594}"/>
              </a:ext>
            </a:extLst>
          </p:cNvPr>
          <p:cNvSpPr>
            <a:spLocks noGrp="1"/>
          </p:cNvSpPr>
          <p:nvPr/>
        </p:nvSpPr>
        <p:spPr>
          <a:xfrm>
            <a:off x="9782175" y="4676775"/>
            <a:ext cx="1103834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rPr>
              <a:t>Citations and</a:t>
            </a:r>
          </a:p>
        </p:txBody>
      </p:sp>
      <p:sp>
        <p:nvSpPr>
          <p:cNvPr id="85" name="Text 3.44">
            <a:extLst>
              <a:ext uri="{FF2B5EF4-FFF2-40B4-BE49-F238E27FC236}">
                <a16:creationId xmlns:a16="http://schemas.microsoft.com/office/drawing/2014/main" id="{D4A6E597-3D74-4098-9E38-911349FE2D91}"/>
              </a:ext>
            </a:extLst>
          </p:cNvPr>
          <p:cNvSpPr>
            <a:spLocks noGrp="1"/>
          </p:cNvSpPr>
          <p:nvPr/>
        </p:nvSpPr>
        <p:spPr>
          <a:xfrm>
            <a:off x="9782175" y="4877943"/>
            <a:ext cx="1581913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D9E8E5"/>
                </a:solidFill>
                <a:latin typeface="DejaVu Sans"/>
                <a:ea typeface="DejaVu Sans"/>
                <a:cs typeface="DejaVu Sans"/>
              </a:rPr>
              <a:t>reviewable findings</a:t>
            </a:r>
          </a:p>
        </p:txBody>
      </p:sp>
      <p:sp>
        <p:nvSpPr>
          <p:cNvPr id="86" name="Text 3.45">
            <a:extLst>
              <a:ext uri="{FF2B5EF4-FFF2-40B4-BE49-F238E27FC236}">
                <a16:creationId xmlns:a16="http://schemas.microsoft.com/office/drawing/2014/main" id="{220B9054-D69B-4A37-8720-70EA94B5B85A}"/>
              </a:ext>
            </a:extLst>
          </p:cNvPr>
          <p:cNvSpPr>
            <a:spLocks noGrp="1"/>
          </p:cNvSpPr>
          <p:nvPr/>
        </p:nvSpPr>
        <p:spPr>
          <a:xfrm>
            <a:off x="571500" y="5543550"/>
            <a:ext cx="10160178" cy="2724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425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425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Knowledge base: 95 verbatim evidence cards, 35 sourced rules, method profiles, fibers and bands</a:t>
            </a:r>
          </a:p>
        </p:txBody>
      </p:sp>
      <p:sp>
        <p:nvSpPr>
          <p:cNvPr id="87" name="Text 3.46">
            <a:extLst>
              <a:ext uri="{FF2B5EF4-FFF2-40B4-BE49-F238E27FC236}">
                <a16:creationId xmlns:a16="http://schemas.microsoft.com/office/drawing/2014/main" id="{74357D66-6AF5-4F7B-8857-585AB70F7AE5}"/>
              </a:ext>
            </a:extLst>
          </p:cNvPr>
          <p:cNvSpPr>
            <a:spLocks noGrp="1"/>
          </p:cNvSpPr>
          <p:nvPr/>
        </p:nvSpPr>
        <p:spPr>
          <a:xfrm>
            <a:off x="571500" y="5886450"/>
            <a:ext cx="7489241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Orange border: model stage. Code runs the checks. Optional repair and Coach also use a model.</a:t>
            </a:r>
          </a:p>
        </p:txBody>
      </p:sp>
      <p:sp>
        <p:nvSpPr>
          <p:cNvPr id="88" name="Text 3.47">
            <a:extLst>
              <a:ext uri="{FF2B5EF4-FFF2-40B4-BE49-F238E27FC236}">
                <a16:creationId xmlns:a16="http://schemas.microsoft.com/office/drawing/2014/main" id="{1CB917D8-15BF-4613-9996-85A699756C79}"/>
              </a:ext>
            </a:extLst>
          </p:cNvPr>
          <p:cNvSpPr>
            <a:spLocks noGrp="1"/>
          </p:cNvSpPr>
          <p:nvPr/>
        </p:nvSpPr>
        <p:spPr>
          <a:xfrm>
            <a:off x="571500" y="6391275"/>
            <a:ext cx="6063096" cy="1590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Adapted from AFS Fiberwise - Video Intro, slide 2. Implementation: engine/pipeline.py, precheck.py and confidence.py.</a:t>
            </a:r>
          </a:p>
        </p:txBody>
      </p:sp>
    </p:spTree>
    <p:extLst>
      <p:ext uri="{BB962C8B-B14F-4D97-AF65-F5344CB8AC3E}">
        <p14:creationId xmlns:p14="http://schemas.microsoft.com/office/powerpoint/2010/main" val="1848849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4 background or diagram 1">
            <a:extLst>
              <a:ext uri="{FF2B5EF4-FFF2-40B4-BE49-F238E27FC236}">
                <a16:creationId xmlns:a16="http://schemas.microsoft.com/office/drawing/2014/main" id="{3F25AE6A-00F5-4228-AC46-AC007711976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Diagram connector 2">
            <a:extLst>
              <a:ext uri="{FF2B5EF4-FFF2-40B4-BE49-F238E27FC236}">
                <a16:creationId xmlns:a16="http://schemas.microsoft.com/office/drawing/2014/main" id="{D9E70379-A9CB-4100-886A-CB85058970DA}"/>
              </a:ext>
            </a:extLst>
          </p:cNvPr>
          <p:cNvSpPr>
            <a:spLocks noGrp="1"/>
          </p:cNvSpPr>
          <p:nvPr/>
        </p:nvSpPr>
        <p:spPr>
          <a:xfrm>
            <a:off x="571500" y="3209925"/>
            <a:ext cx="11049000" cy="9525"/>
          </a:xfrm>
          <a:custGeom>
            <a:avLst/>
            <a:gdLst/>
            <a:ahLst/>
            <a:cxnLst/>
            <a:rect l="0" t="0" r="0" b="0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CD8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Diagram connector 3">
            <a:extLst>
              <a:ext uri="{FF2B5EF4-FFF2-40B4-BE49-F238E27FC236}">
                <a16:creationId xmlns:a16="http://schemas.microsoft.com/office/drawing/2014/main" id="{8B621015-6789-42C3-B216-AF44C4618042}"/>
              </a:ext>
            </a:extLst>
          </p:cNvPr>
          <p:cNvSpPr>
            <a:spLocks noGrp="1"/>
          </p:cNvSpPr>
          <p:nvPr/>
        </p:nvSpPr>
        <p:spPr>
          <a:xfrm>
            <a:off x="552450" y="6267450"/>
            <a:ext cx="11087100" cy="9525"/>
          </a:xfrm>
          <a:custGeom>
            <a:avLst/>
            <a:gdLst/>
            <a:ahLst/>
            <a:cxnLst/>
            <a:rect l="0" t="0" r="0" b="0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9525">
            <a:solidFill>
              <a:srgbClr val="CCD8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4.1">
            <a:extLst>
              <a:ext uri="{FF2B5EF4-FFF2-40B4-BE49-F238E27FC236}">
                <a16:creationId xmlns:a16="http://schemas.microsoft.com/office/drawing/2014/main" id="{139AA58B-363B-48A6-AA9B-85143917BF1D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086574" cy="179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AFS FIBERWISE</a:t>
            </a:r>
          </a:p>
        </p:txBody>
      </p:sp>
      <p:sp>
        <p:nvSpPr>
          <p:cNvPr id="5" name="Text 4.2">
            <a:extLst>
              <a:ext uri="{FF2B5EF4-FFF2-40B4-BE49-F238E27FC236}">
                <a16:creationId xmlns:a16="http://schemas.microsoft.com/office/drawing/2014/main" id="{5B68852B-E598-4753-B861-6BF2D1FB604D}"/>
              </a:ext>
            </a:extLst>
          </p:cNvPr>
          <p:cNvSpPr>
            <a:spLocks noGrp="1"/>
          </p:cNvSpPr>
          <p:nvPr/>
        </p:nvSpPr>
        <p:spPr>
          <a:xfrm>
            <a:off x="8191500" y="285750"/>
            <a:ext cx="141300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JURY PRESENTATION / 04</a:t>
            </a:r>
          </a:p>
        </p:txBody>
      </p:sp>
      <p:sp>
        <p:nvSpPr>
          <p:cNvPr id="6" name="Text 4.3">
            <a:extLst>
              <a:ext uri="{FF2B5EF4-FFF2-40B4-BE49-F238E27FC236}">
                <a16:creationId xmlns:a16="http://schemas.microsoft.com/office/drawing/2014/main" id="{42280679-CC65-4D67-A100-2168B00751F2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8620432" cy="4991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AFS materials become inspectable evidence</a:t>
            </a:r>
          </a:p>
        </p:txBody>
      </p:sp>
      <p:sp>
        <p:nvSpPr>
          <p:cNvPr id="7" name="Text 4.4">
            <a:extLst>
              <a:ext uri="{FF2B5EF4-FFF2-40B4-BE49-F238E27FC236}">
                <a16:creationId xmlns:a16="http://schemas.microsoft.com/office/drawing/2014/main" id="{416748C5-7A9D-445C-A612-1EB0F6DE98D9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6089484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Page references and evidence scope stay attached to the knowledge.</a:t>
            </a:r>
          </a:p>
        </p:txBody>
      </p:sp>
      <p:sp>
        <p:nvSpPr>
          <p:cNvPr id="8" name="Text 4.5">
            <a:extLst>
              <a:ext uri="{FF2B5EF4-FFF2-40B4-BE49-F238E27FC236}">
                <a16:creationId xmlns:a16="http://schemas.microsoft.com/office/drawing/2014/main" id="{1F047DEE-BF0C-4511-A42E-ACC9996FFDC4}"/>
              </a:ext>
            </a:extLst>
          </p:cNvPr>
          <p:cNvSpPr>
            <a:spLocks noGrp="1"/>
          </p:cNvSpPr>
          <p:nvPr/>
        </p:nvSpPr>
        <p:spPr>
          <a:xfrm>
            <a:off x="571500" y="2019300"/>
            <a:ext cx="837743" cy="7658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95</a:t>
            </a:r>
          </a:p>
        </p:txBody>
      </p:sp>
      <p:sp>
        <p:nvSpPr>
          <p:cNvPr id="9" name="Text 4.6">
            <a:extLst>
              <a:ext uri="{FF2B5EF4-FFF2-40B4-BE49-F238E27FC236}">
                <a16:creationId xmlns:a16="http://schemas.microsoft.com/office/drawing/2014/main" id="{3CEB8FE1-472D-4C60-A956-D939417FB2DF}"/>
              </a:ext>
            </a:extLst>
          </p:cNvPr>
          <p:cNvSpPr>
            <a:spLocks noGrp="1"/>
          </p:cNvSpPr>
          <p:nvPr/>
        </p:nvSpPr>
        <p:spPr>
          <a:xfrm>
            <a:off x="571500" y="2686050"/>
            <a:ext cx="2221706" cy="2724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curated evidence cards</a:t>
            </a:r>
          </a:p>
        </p:txBody>
      </p:sp>
      <p:sp>
        <p:nvSpPr>
          <p:cNvPr id="10" name="Text 4.7">
            <a:extLst>
              <a:ext uri="{FF2B5EF4-FFF2-40B4-BE49-F238E27FC236}">
                <a16:creationId xmlns:a16="http://schemas.microsoft.com/office/drawing/2014/main" id="{F9636B98-A36F-449C-B0AB-C749D8F825B5}"/>
              </a:ext>
            </a:extLst>
          </p:cNvPr>
          <p:cNvSpPr>
            <a:spLocks noGrp="1"/>
          </p:cNvSpPr>
          <p:nvPr/>
        </p:nvSpPr>
        <p:spPr>
          <a:xfrm>
            <a:off x="4286250" y="2019300"/>
            <a:ext cx="837743" cy="7658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35</a:t>
            </a:r>
          </a:p>
        </p:txBody>
      </p:sp>
      <p:sp>
        <p:nvSpPr>
          <p:cNvPr id="11" name="Text 4.8">
            <a:extLst>
              <a:ext uri="{FF2B5EF4-FFF2-40B4-BE49-F238E27FC236}">
                <a16:creationId xmlns:a16="http://schemas.microsoft.com/office/drawing/2014/main" id="{E30A1196-1185-4609-98AF-60725DDC8E8C}"/>
              </a:ext>
            </a:extLst>
          </p:cNvPr>
          <p:cNvSpPr>
            <a:spLocks noGrp="1"/>
          </p:cNvSpPr>
          <p:nvPr/>
        </p:nvSpPr>
        <p:spPr>
          <a:xfrm>
            <a:off x="4286250" y="2686050"/>
            <a:ext cx="2063172" cy="2724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general sourced rules</a:t>
            </a:r>
          </a:p>
        </p:txBody>
      </p:sp>
      <p:sp>
        <p:nvSpPr>
          <p:cNvPr id="12" name="Text 4.9">
            <a:extLst>
              <a:ext uri="{FF2B5EF4-FFF2-40B4-BE49-F238E27FC236}">
                <a16:creationId xmlns:a16="http://schemas.microsoft.com/office/drawing/2014/main" id="{ECAEB5E1-94B4-4CFE-9C34-7165E36804B9}"/>
              </a:ext>
            </a:extLst>
          </p:cNvPr>
          <p:cNvSpPr>
            <a:spLocks noGrp="1"/>
          </p:cNvSpPr>
          <p:nvPr/>
        </p:nvSpPr>
        <p:spPr>
          <a:xfrm>
            <a:off x="8001000" y="2019300"/>
            <a:ext cx="837743" cy="7658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42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16</a:t>
            </a:r>
          </a:p>
        </p:txBody>
      </p:sp>
      <p:sp>
        <p:nvSpPr>
          <p:cNvPr id="13" name="Text 4.10">
            <a:extLst>
              <a:ext uri="{FF2B5EF4-FFF2-40B4-BE49-F238E27FC236}">
                <a16:creationId xmlns:a16="http://schemas.microsoft.com/office/drawing/2014/main" id="{ACB99732-C159-47F1-8A5A-A415EB822D5A}"/>
              </a:ext>
            </a:extLst>
          </p:cNvPr>
          <p:cNvSpPr>
            <a:spLocks noGrp="1"/>
          </p:cNvSpPr>
          <p:nvPr/>
        </p:nvSpPr>
        <p:spPr>
          <a:xfrm>
            <a:off x="8001000" y="2686050"/>
            <a:ext cx="1396279" cy="2724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quality checks</a:t>
            </a:r>
          </a:p>
        </p:txBody>
      </p:sp>
      <p:sp>
        <p:nvSpPr>
          <p:cNvPr id="14" name="Text 4.11">
            <a:extLst>
              <a:ext uri="{FF2B5EF4-FFF2-40B4-BE49-F238E27FC236}">
                <a16:creationId xmlns:a16="http://schemas.microsoft.com/office/drawing/2014/main" id="{C1CA7ADE-4827-4AD1-A206-F01FAA97CBEA}"/>
              </a:ext>
            </a:extLst>
          </p:cNvPr>
          <p:cNvSpPr>
            <a:spLocks noGrp="1"/>
          </p:cNvSpPr>
          <p:nvPr/>
        </p:nvSpPr>
        <p:spPr>
          <a:xfrm>
            <a:off x="571500" y="3486150"/>
            <a:ext cx="2653094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S01 + comparison table</a:t>
            </a:r>
          </a:p>
        </p:txBody>
      </p:sp>
      <p:sp>
        <p:nvSpPr>
          <p:cNvPr id="15" name="Text 4.12">
            <a:extLst>
              <a:ext uri="{FF2B5EF4-FFF2-40B4-BE49-F238E27FC236}">
                <a16:creationId xmlns:a16="http://schemas.microsoft.com/office/drawing/2014/main" id="{3734AAEA-5A3A-474E-91D8-F9644B977EFA}"/>
              </a:ext>
            </a:extLst>
          </p:cNvPr>
          <p:cNvSpPr>
            <a:spLocks noGrp="1"/>
          </p:cNvSpPr>
          <p:nvPr/>
        </p:nvSpPr>
        <p:spPr>
          <a:xfrm>
            <a:off x="3762375" y="3486150"/>
            <a:ext cx="5962783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Methods, interfaces, calibration and application examples.</a:t>
            </a:r>
          </a:p>
        </p:txBody>
      </p:sp>
      <p:sp>
        <p:nvSpPr>
          <p:cNvPr id="16" name="Text 4.13">
            <a:extLst>
              <a:ext uri="{FF2B5EF4-FFF2-40B4-BE49-F238E27FC236}">
                <a16:creationId xmlns:a16="http://schemas.microsoft.com/office/drawing/2014/main" id="{038A6CB8-0DF5-4E21-9866-8E63DC29CDAD}"/>
              </a:ext>
            </a:extLst>
          </p:cNvPr>
          <p:cNvSpPr>
            <a:spLocks noGrp="1"/>
          </p:cNvSpPr>
          <p:nvPr/>
        </p:nvSpPr>
        <p:spPr>
          <a:xfrm>
            <a:off x="571500" y="4105275"/>
            <a:ext cx="2922842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S02 process-control slides</a:t>
            </a:r>
          </a:p>
        </p:txBody>
      </p:sp>
      <p:sp>
        <p:nvSpPr>
          <p:cNvPr id="17" name="Text 4.14">
            <a:extLst>
              <a:ext uri="{FF2B5EF4-FFF2-40B4-BE49-F238E27FC236}">
                <a16:creationId xmlns:a16="http://schemas.microsoft.com/office/drawing/2014/main" id="{B961B826-32DD-4004-AC27-A3DAD4C34077}"/>
              </a:ext>
            </a:extLst>
          </p:cNvPr>
          <p:cNvSpPr>
            <a:spLocks noGrp="1"/>
          </p:cNvSpPr>
          <p:nvPr/>
        </p:nvSpPr>
        <p:spPr>
          <a:xfrm>
            <a:off x="3762375" y="4105275"/>
            <a:ext cx="7384361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Fiber transmission, analyte bands, sensor concepts and A/B/C pathways.</a:t>
            </a:r>
          </a:p>
        </p:txBody>
      </p:sp>
      <p:sp>
        <p:nvSpPr>
          <p:cNvPr id="18" name="Text 4.15">
            <a:extLst>
              <a:ext uri="{FF2B5EF4-FFF2-40B4-BE49-F238E27FC236}">
                <a16:creationId xmlns:a16="http://schemas.microsoft.com/office/drawing/2014/main" id="{50834131-BFEA-4EFC-B5FA-398BA7A80166}"/>
              </a:ext>
            </a:extLst>
          </p:cNvPr>
          <p:cNvSpPr>
            <a:spLocks noGrp="1"/>
          </p:cNvSpPr>
          <p:nvPr/>
        </p:nvSpPr>
        <p:spPr>
          <a:xfrm>
            <a:off x="571500" y="4724400"/>
            <a:ext cx="2999232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S03 + S04 research papers</a:t>
            </a:r>
          </a:p>
        </p:txBody>
      </p:sp>
      <p:sp>
        <p:nvSpPr>
          <p:cNvPr id="19" name="Text 4.16">
            <a:extLst>
              <a:ext uri="{FF2B5EF4-FFF2-40B4-BE49-F238E27FC236}">
                <a16:creationId xmlns:a16="http://schemas.microsoft.com/office/drawing/2014/main" id="{85CDBC81-8580-4485-9AED-F486B1BBD230}"/>
              </a:ext>
            </a:extLst>
          </p:cNvPr>
          <p:cNvSpPr>
            <a:spLocks noGrp="1"/>
          </p:cNvSpPr>
          <p:nvPr/>
        </p:nvSpPr>
        <p:spPr>
          <a:xfrm>
            <a:off x="3762375" y="4724400"/>
            <a:ext cx="6154007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Laboratory evidence with explicit limits on readiness claims.</a:t>
            </a:r>
          </a:p>
        </p:txBody>
      </p:sp>
      <p:sp>
        <p:nvSpPr>
          <p:cNvPr id="20" name="Text 4.17">
            <a:extLst>
              <a:ext uri="{FF2B5EF4-FFF2-40B4-BE49-F238E27FC236}">
                <a16:creationId xmlns:a16="http://schemas.microsoft.com/office/drawing/2014/main" id="{5DF474B4-E049-4446-B837-389376062CA3}"/>
              </a:ext>
            </a:extLst>
          </p:cNvPr>
          <p:cNvSpPr>
            <a:spLocks noGrp="1"/>
          </p:cNvSpPr>
          <p:nvPr/>
        </p:nvSpPr>
        <p:spPr>
          <a:xfrm>
            <a:off x="571500" y="5343525"/>
            <a:ext cx="220065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S05 + S06 business</a:t>
            </a:r>
          </a:p>
        </p:txBody>
      </p:sp>
      <p:sp>
        <p:nvSpPr>
          <p:cNvPr id="21" name="Text 4.18">
            <a:extLst>
              <a:ext uri="{FF2B5EF4-FFF2-40B4-BE49-F238E27FC236}">
                <a16:creationId xmlns:a16="http://schemas.microsoft.com/office/drawing/2014/main" id="{83FE540E-534C-45B6-97D5-6488D87FC8D0}"/>
              </a:ext>
            </a:extLst>
          </p:cNvPr>
          <p:cNvSpPr>
            <a:spLocks noGrp="1"/>
          </p:cNvSpPr>
          <p:nvPr/>
        </p:nvSpPr>
        <p:spPr>
          <a:xfrm>
            <a:off x="571500" y="5594985"/>
            <a:ext cx="90887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context</a:t>
            </a:r>
          </a:p>
        </p:txBody>
      </p:sp>
      <p:sp>
        <p:nvSpPr>
          <p:cNvPr id="22" name="Text 4.19">
            <a:extLst>
              <a:ext uri="{FF2B5EF4-FFF2-40B4-BE49-F238E27FC236}">
                <a16:creationId xmlns:a16="http://schemas.microsoft.com/office/drawing/2014/main" id="{4B252AA8-6F0B-4DDE-AF6B-6F20C7F2C14A}"/>
              </a:ext>
            </a:extLst>
          </p:cNvPr>
          <p:cNvSpPr>
            <a:spLocks noGrp="1"/>
          </p:cNvSpPr>
          <p:nvPr/>
        </p:nvSpPr>
        <p:spPr>
          <a:xfrm>
            <a:off x="3762375" y="5343525"/>
            <a:ext cx="3956132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Company and laboratory context only.</a:t>
            </a:r>
          </a:p>
        </p:txBody>
      </p:sp>
      <p:sp>
        <p:nvSpPr>
          <p:cNvPr id="23" name="Text 4.20">
            <a:extLst>
              <a:ext uri="{FF2B5EF4-FFF2-40B4-BE49-F238E27FC236}">
                <a16:creationId xmlns:a16="http://schemas.microsoft.com/office/drawing/2014/main" id="{00536014-F89C-4EB7-A76E-45E355DFCE74}"/>
              </a:ext>
            </a:extLst>
          </p:cNvPr>
          <p:cNvSpPr>
            <a:spLocks noGrp="1"/>
          </p:cNvSpPr>
          <p:nvPr/>
        </p:nvSpPr>
        <p:spPr>
          <a:xfrm>
            <a:off x="571500" y="5981700"/>
            <a:ext cx="5886145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S02 uses a labelled slide transcription. Ingest checks evidence-card quotes.</a:t>
            </a:r>
          </a:p>
        </p:txBody>
      </p:sp>
      <p:sp>
        <p:nvSpPr>
          <p:cNvPr id="24" name="Text 4.21">
            <a:extLst>
              <a:ext uri="{FF2B5EF4-FFF2-40B4-BE49-F238E27FC236}">
                <a16:creationId xmlns:a16="http://schemas.microsoft.com/office/drawing/2014/main" id="{1C4A5D12-8E94-4616-8E25-F93601856A02}"/>
              </a:ext>
            </a:extLst>
          </p:cNvPr>
          <p:cNvSpPr>
            <a:spLocks noGrp="1"/>
          </p:cNvSpPr>
          <p:nvPr/>
        </p:nvSpPr>
        <p:spPr>
          <a:xfrm>
            <a:off x="571500" y="6391275"/>
            <a:ext cx="3051820" cy="1590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Sources: data/kb/claims.jsonl, rules.yaml and sources.json.</a:t>
            </a:r>
          </a:p>
        </p:txBody>
      </p:sp>
    </p:spTree>
    <p:extLst>
      <p:ext uri="{BB962C8B-B14F-4D97-AF65-F5344CB8AC3E}">
        <p14:creationId xmlns:p14="http://schemas.microsoft.com/office/powerpoint/2010/main" val="12337910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lide 5 background or diagram 1">
            <a:extLst>
              <a:ext uri="{FF2B5EF4-FFF2-40B4-BE49-F238E27FC236}">
                <a16:creationId xmlns:a16="http://schemas.microsoft.com/office/drawing/2014/main" id="{DEFDBBC2-8385-446D-8F0E-6E765671EF4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 5 background or diagram 2">
            <a:extLst>
              <a:ext uri="{FF2B5EF4-FFF2-40B4-BE49-F238E27FC236}">
                <a16:creationId xmlns:a16="http://schemas.microsoft.com/office/drawing/2014/main" id="{3B69F218-8538-494B-A067-A45A8002D975}"/>
              </a:ext>
            </a:extLst>
          </p:cNvPr>
          <p:cNvSpPr>
            <a:spLocks noGrp="1"/>
          </p:cNvSpPr>
          <p:nvPr/>
        </p:nvSpPr>
        <p:spPr>
          <a:xfrm>
            <a:off x="571500" y="5514975"/>
            <a:ext cx="11049000" cy="542925"/>
          </a:xfrm>
          <a:prstGeom prst="rect">
            <a:avLst/>
          </a:prstGeom>
          <a:solidFill>
            <a:srgbClr val="E5EF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Diagram connector 3">
            <a:extLst>
              <a:ext uri="{FF2B5EF4-FFF2-40B4-BE49-F238E27FC236}">
                <a16:creationId xmlns:a16="http://schemas.microsoft.com/office/drawing/2014/main" id="{70FA67BF-5C3E-4CF0-B710-56A32AC63F5D}"/>
              </a:ext>
            </a:extLst>
          </p:cNvPr>
          <p:cNvSpPr>
            <a:spLocks noGrp="1"/>
          </p:cNvSpPr>
          <p:nvPr/>
        </p:nvSpPr>
        <p:spPr>
          <a:xfrm>
            <a:off x="552450" y="6267450"/>
            <a:ext cx="11087100" cy="9525"/>
          </a:xfrm>
          <a:custGeom>
            <a:avLst/>
            <a:gdLst/>
            <a:ahLst/>
            <a:cxnLst/>
            <a:rect l="0" t="0" r="0" b="0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9525">
            <a:solidFill>
              <a:srgbClr val="CCD8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5.1">
            <a:extLst>
              <a:ext uri="{FF2B5EF4-FFF2-40B4-BE49-F238E27FC236}">
                <a16:creationId xmlns:a16="http://schemas.microsoft.com/office/drawing/2014/main" id="{F9D5811F-E774-4082-BA94-E71F7039ABD9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086574" cy="179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AFS FIBERWISE</a:t>
            </a:r>
          </a:p>
        </p:txBody>
      </p:sp>
      <p:sp>
        <p:nvSpPr>
          <p:cNvPr id="5" name="Text 5.2">
            <a:extLst>
              <a:ext uri="{FF2B5EF4-FFF2-40B4-BE49-F238E27FC236}">
                <a16:creationId xmlns:a16="http://schemas.microsoft.com/office/drawing/2014/main" id="{92E96147-63FE-4F9D-8D26-3DB6EBD33515}"/>
              </a:ext>
            </a:extLst>
          </p:cNvPr>
          <p:cNvSpPr>
            <a:spLocks noGrp="1"/>
          </p:cNvSpPr>
          <p:nvPr/>
        </p:nvSpPr>
        <p:spPr>
          <a:xfrm>
            <a:off x="8191500" y="285750"/>
            <a:ext cx="141300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JURY PRESENTATION / 05</a:t>
            </a:r>
          </a:p>
        </p:txBody>
      </p:sp>
      <p:sp>
        <p:nvSpPr>
          <p:cNvPr id="6" name="Text 5.3">
            <a:extLst>
              <a:ext uri="{FF2B5EF4-FFF2-40B4-BE49-F238E27FC236}">
                <a16:creationId xmlns:a16="http://schemas.microsoft.com/office/drawing/2014/main" id="{63983F56-C2AF-4F1E-B611-F1036524517D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6969025" cy="4991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Verification supports expert review</a:t>
            </a:r>
          </a:p>
        </p:txBody>
      </p:sp>
      <p:sp>
        <p:nvSpPr>
          <p:cNvPr id="7" name="Text 5.4">
            <a:extLst>
              <a:ext uri="{FF2B5EF4-FFF2-40B4-BE49-F238E27FC236}">
                <a16:creationId xmlns:a16="http://schemas.microsoft.com/office/drawing/2014/main" id="{D7F36F27-0449-4454-BD29-97417F0F63EE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4311377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Statement types and checks expose uncertainty.</a:t>
            </a:r>
          </a:p>
        </p:txBody>
      </p:sp>
      <p:sp>
        <p:nvSpPr>
          <p:cNvPr id="8" name="Text 5.5">
            <a:extLst>
              <a:ext uri="{FF2B5EF4-FFF2-40B4-BE49-F238E27FC236}">
                <a16:creationId xmlns:a16="http://schemas.microsoft.com/office/drawing/2014/main" id="{93473858-89CF-4837-B68F-9A6245BFE628}"/>
              </a:ext>
            </a:extLst>
          </p:cNvPr>
          <p:cNvSpPr>
            <a:spLocks noGrp="1"/>
          </p:cNvSpPr>
          <p:nvPr/>
        </p:nvSpPr>
        <p:spPr>
          <a:xfrm>
            <a:off x="571500" y="2076450"/>
            <a:ext cx="311757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Four statement types</a:t>
            </a:r>
          </a:p>
        </p:txBody>
      </p:sp>
      <p:sp>
        <p:nvSpPr>
          <p:cNvPr id="9" name="Text 5.6">
            <a:extLst>
              <a:ext uri="{FF2B5EF4-FFF2-40B4-BE49-F238E27FC236}">
                <a16:creationId xmlns:a16="http://schemas.microsoft.com/office/drawing/2014/main" id="{08D772E7-2A84-4A06-A029-85BCAD0ED3EB}"/>
              </a:ext>
            </a:extLst>
          </p:cNvPr>
          <p:cNvSpPr>
            <a:spLocks noGrp="1"/>
          </p:cNvSpPr>
          <p:nvPr/>
        </p:nvSpPr>
        <p:spPr>
          <a:xfrm>
            <a:off x="571500" y="2609850"/>
            <a:ext cx="120338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Client fact</a:t>
            </a:r>
          </a:p>
        </p:txBody>
      </p:sp>
      <p:sp>
        <p:nvSpPr>
          <p:cNvPr id="10" name="Text 5.7">
            <a:extLst>
              <a:ext uri="{FF2B5EF4-FFF2-40B4-BE49-F238E27FC236}">
                <a16:creationId xmlns:a16="http://schemas.microsoft.com/office/drawing/2014/main" id="{16077C57-E574-43C4-A1A4-CCF3CB8403EC}"/>
              </a:ext>
            </a:extLst>
          </p:cNvPr>
          <p:cNvSpPr>
            <a:spLocks noGrp="1"/>
          </p:cNvSpPr>
          <p:nvPr/>
        </p:nvSpPr>
        <p:spPr>
          <a:xfrm>
            <a:off x="2571750" y="2609850"/>
            <a:ext cx="2935319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What the customer actually said.</a:t>
            </a:r>
          </a:p>
        </p:txBody>
      </p:sp>
      <p:sp>
        <p:nvSpPr>
          <p:cNvPr id="11" name="Text 5.8">
            <a:extLst>
              <a:ext uri="{FF2B5EF4-FFF2-40B4-BE49-F238E27FC236}">
                <a16:creationId xmlns:a16="http://schemas.microsoft.com/office/drawing/2014/main" id="{06AEB0E2-36E9-46EF-B809-61E0B865A68B}"/>
              </a:ext>
            </a:extLst>
          </p:cNvPr>
          <p:cNvSpPr>
            <a:spLocks noGrp="1"/>
          </p:cNvSpPr>
          <p:nvPr/>
        </p:nvSpPr>
        <p:spPr>
          <a:xfrm>
            <a:off x="571500" y="3295650"/>
            <a:ext cx="1608392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Sourced claim</a:t>
            </a:r>
          </a:p>
        </p:txBody>
      </p:sp>
      <p:sp>
        <p:nvSpPr>
          <p:cNvPr id="12" name="Text 5.9">
            <a:extLst>
              <a:ext uri="{FF2B5EF4-FFF2-40B4-BE49-F238E27FC236}">
                <a16:creationId xmlns:a16="http://schemas.microsoft.com/office/drawing/2014/main" id="{1D664093-3E5A-4E45-B3C4-D49EC09FA1CD}"/>
              </a:ext>
            </a:extLst>
          </p:cNvPr>
          <p:cNvSpPr>
            <a:spLocks noGrp="1"/>
          </p:cNvSpPr>
          <p:nvPr/>
        </p:nvSpPr>
        <p:spPr>
          <a:xfrm>
            <a:off x="2571750" y="3295650"/>
            <a:ext cx="2848908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A claim with a source, page and</a:t>
            </a:r>
          </a:p>
        </p:txBody>
      </p:sp>
      <p:sp>
        <p:nvSpPr>
          <p:cNvPr id="13" name="Text 5.10">
            <a:extLst>
              <a:ext uri="{FF2B5EF4-FFF2-40B4-BE49-F238E27FC236}">
                <a16:creationId xmlns:a16="http://schemas.microsoft.com/office/drawing/2014/main" id="{38AB66F8-6854-4636-81B1-51668BC94438}"/>
              </a:ext>
            </a:extLst>
          </p:cNvPr>
          <p:cNvSpPr>
            <a:spLocks noGrp="1"/>
          </p:cNvSpPr>
          <p:nvPr/>
        </p:nvSpPr>
        <p:spPr>
          <a:xfrm>
            <a:off x="2571750" y="3521964"/>
            <a:ext cx="644919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quote.</a:t>
            </a:r>
          </a:p>
        </p:txBody>
      </p:sp>
      <p:sp>
        <p:nvSpPr>
          <p:cNvPr id="14" name="Text 5.11">
            <a:extLst>
              <a:ext uri="{FF2B5EF4-FFF2-40B4-BE49-F238E27FC236}">
                <a16:creationId xmlns:a16="http://schemas.microsoft.com/office/drawing/2014/main" id="{1C8902DC-CBBA-4309-905C-0E206EA51CD8}"/>
              </a:ext>
            </a:extLst>
          </p:cNvPr>
          <p:cNvSpPr>
            <a:spLocks noGrp="1"/>
          </p:cNvSpPr>
          <p:nvPr/>
        </p:nvSpPr>
        <p:spPr>
          <a:xfrm>
            <a:off x="571500" y="3981450"/>
            <a:ext cx="136283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Assumption</a:t>
            </a:r>
          </a:p>
        </p:txBody>
      </p:sp>
      <p:sp>
        <p:nvSpPr>
          <p:cNvPr id="15" name="Text 5.12">
            <a:extLst>
              <a:ext uri="{FF2B5EF4-FFF2-40B4-BE49-F238E27FC236}">
                <a16:creationId xmlns:a16="http://schemas.microsoft.com/office/drawing/2014/main" id="{136EC1CF-DEBA-4411-A5DF-055FEB7BAB8E}"/>
              </a:ext>
            </a:extLst>
          </p:cNvPr>
          <p:cNvSpPr>
            <a:spLocks noGrp="1"/>
          </p:cNvSpPr>
          <p:nvPr/>
        </p:nvSpPr>
        <p:spPr>
          <a:xfrm>
            <a:off x="2571750" y="3981450"/>
            <a:ext cx="2754954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An unconfirmed interpretation.</a:t>
            </a:r>
          </a:p>
        </p:txBody>
      </p:sp>
      <p:sp>
        <p:nvSpPr>
          <p:cNvPr id="16" name="Text 5.13">
            <a:extLst>
              <a:ext uri="{FF2B5EF4-FFF2-40B4-BE49-F238E27FC236}">
                <a16:creationId xmlns:a16="http://schemas.microsoft.com/office/drawing/2014/main" id="{AC4419B0-012D-4260-8EA7-7C85CAB73EED}"/>
              </a:ext>
            </a:extLst>
          </p:cNvPr>
          <p:cNvSpPr>
            <a:spLocks noGrp="1"/>
          </p:cNvSpPr>
          <p:nvPr/>
        </p:nvSpPr>
        <p:spPr>
          <a:xfrm>
            <a:off x="571500" y="4667250"/>
            <a:ext cx="10342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Proposal</a:t>
            </a:r>
          </a:p>
        </p:txBody>
      </p:sp>
      <p:sp>
        <p:nvSpPr>
          <p:cNvPr id="17" name="Text 5.14">
            <a:extLst>
              <a:ext uri="{FF2B5EF4-FFF2-40B4-BE49-F238E27FC236}">
                <a16:creationId xmlns:a16="http://schemas.microsoft.com/office/drawing/2014/main" id="{B083D74A-6239-465B-A5ED-45C1610D7C82}"/>
              </a:ext>
            </a:extLst>
          </p:cNvPr>
          <p:cNvSpPr>
            <a:spLocks noGrp="1"/>
          </p:cNvSpPr>
          <p:nvPr/>
        </p:nvSpPr>
        <p:spPr>
          <a:xfrm>
            <a:off x="2571750" y="4667250"/>
            <a:ext cx="2443429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An experiment or design to</a:t>
            </a:r>
          </a:p>
        </p:txBody>
      </p:sp>
      <p:sp>
        <p:nvSpPr>
          <p:cNvPr id="18" name="Text 5.15">
            <a:extLst>
              <a:ext uri="{FF2B5EF4-FFF2-40B4-BE49-F238E27FC236}">
                <a16:creationId xmlns:a16="http://schemas.microsoft.com/office/drawing/2014/main" id="{2B4807FB-E757-4D14-B824-6C6963E83D2F}"/>
              </a:ext>
            </a:extLst>
          </p:cNvPr>
          <p:cNvSpPr>
            <a:spLocks noGrp="1"/>
          </p:cNvSpPr>
          <p:nvPr/>
        </p:nvSpPr>
        <p:spPr>
          <a:xfrm>
            <a:off x="2571750" y="4893564"/>
            <a:ext cx="110389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investigate.</a:t>
            </a:r>
          </a:p>
        </p:txBody>
      </p:sp>
      <p:sp>
        <p:nvSpPr>
          <p:cNvPr id="19" name="Text 5.16">
            <a:extLst>
              <a:ext uri="{FF2B5EF4-FFF2-40B4-BE49-F238E27FC236}">
                <a16:creationId xmlns:a16="http://schemas.microsoft.com/office/drawing/2014/main" id="{5C6DA868-9EF6-487E-9034-65DDF17D08A1}"/>
              </a:ext>
            </a:extLst>
          </p:cNvPr>
          <p:cNvSpPr>
            <a:spLocks noGrp="1"/>
          </p:cNvSpPr>
          <p:nvPr/>
        </p:nvSpPr>
        <p:spPr>
          <a:xfrm>
            <a:off x="6381750" y="2076450"/>
            <a:ext cx="3067050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Checks after drafting</a:t>
            </a:r>
          </a:p>
        </p:txBody>
      </p:sp>
      <p:sp>
        <p:nvSpPr>
          <p:cNvPr id="20" name="Text 5.17">
            <a:extLst>
              <a:ext uri="{FF2B5EF4-FFF2-40B4-BE49-F238E27FC236}">
                <a16:creationId xmlns:a16="http://schemas.microsoft.com/office/drawing/2014/main" id="{1DBF6520-3374-4A14-A85E-0C3F4E41755F}"/>
              </a:ext>
            </a:extLst>
          </p:cNvPr>
          <p:cNvSpPr>
            <a:spLocks noGrp="1"/>
          </p:cNvSpPr>
          <p:nvPr/>
        </p:nvSpPr>
        <p:spPr>
          <a:xfrm>
            <a:off x="6381750" y="2609850"/>
            <a:ext cx="2098929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Citation and scope</a:t>
            </a:r>
          </a:p>
        </p:txBody>
      </p:sp>
      <p:sp>
        <p:nvSpPr>
          <p:cNvPr id="21" name="Text 5.18">
            <a:extLst>
              <a:ext uri="{FF2B5EF4-FFF2-40B4-BE49-F238E27FC236}">
                <a16:creationId xmlns:a16="http://schemas.microsoft.com/office/drawing/2014/main" id="{FC747651-3ABA-48D0-BA55-B88C7778F64C}"/>
              </a:ext>
            </a:extLst>
          </p:cNvPr>
          <p:cNvSpPr>
            <a:spLocks noGrp="1"/>
          </p:cNvSpPr>
          <p:nvPr/>
        </p:nvSpPr>
        <p:spPr>
          <a:xfrm>
            <a:off x="6381750" y="2905125"/>
            <a:ext cx="4968201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Quote presence, missing pages and readiness language.</a:t>
            </a:r>
          </a:p>
        </p:txBody>
      </p:sp>
      <p:sp>
        <p:nvSpPr>
          <p:cNvPr id="22" name="Text 5.19">
            <a:extLst>
              <a:ext uri="{FF2B5EF4-FFF2-40B4-BE49-F238E27FC236}">
                <a16:creationId xmlns:a16="http://schemas.microsoft.com/office/drawing/2014/main" id="{8F42B427-2578-4B9F-BF25-733E82C99715}"/>
              </a:ext>
            </a:extLst>
          </p:cNvPr>
          <p:cNvSpPr>
            <a:spLocks noGrp="1"/>
          </p:cNvSpPr>
          <p:nvPr/>
        </p:nvSpPr>
        <p:spPr>
          <a:xfrm>
            <a:off x="6381750" y="3429000"/>
            <a:ext cx="2789492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Numbers and client facts</a:t>
            </a:r>
          </a:p>
        </p:txBody>
      </p:sp>
      <p:sp>
        <p:nvSpPr>
          <p:cNvPr id="23" name="Text 5.20">
            <a:extLst>
              <a:ext uri="{FF2B5EF4-FFF2-40B4-BE49-F238E27FC236}">
                <a16:creationId xmlns:a16="http://schemas.microsoft.com/office/drawing/2014/main" id="{38695B3D-29C7-4C55-BA49-AA99A1926542}"/>
              </a:ext>
            </a:extLst>
          </p:cNvPr>
          <p:cNvSpPr>
            <a:spLocks noGrp="1"/>
          </p:cNvSpPr>
          <p:nvPr/>
        </p:nvSpPr>
        <p:spPr>
          <a:xfrm>
            <a:off x="6381750" y="3724275"/>
            <a:ext cx="4626673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Heuristic checks against supplied text and evidence.</a:t>
            </a:r>
          </a:p>
        </p:txBody>
      </p:sp>
      <p:sp>
        <p:nvSpPr>
          <p:cNvPr id="24" name="Text 5.21">
            <a:extLst>
              <a:ext uri="{FF2B5EF4-FFF2-40B4-BE49-F238E27FC236}">
                <a16:creationId xmlns:a16="http://schemas.microsoft.com/office/drawing/2014/main" id="{71FF7516-BDB9-483A-A1EF-80CF4F3C892E}"/>
              </a:ext>
            </a:extLst>
          </p:cNvPr>
          <p:cNvSpPr>
            <a:spLocks noGrp="1"/>
          </p:cNvSpPr>
          <p:nvPr/>
        </p:nvSpPr>
        <p:spPr>
          <a:xfrm>
            <a:off x="6381750" y="4248150"/>
            <a:ext cx="204787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Quality and repair</a:t>
            </a:r>
          </a:p>
        </p:txBody>
      </p:sp>
      <p:sp>
        <p:nvSpPr>
          <p:cNvPr id="25" name="Text 5.22">
            <a:extLst>
              <a:ext uri="{FF2B5EF4-FFF2-40B4-BE49-F238E27FC236}">
                <a16:creationId xmlns:a16="http://schemas.microsoft.com/office/drawing/2014/main" id="{2BD67D8D-CB7E-4927-80A5-D5A412F772AA}"/>
              </a:ext>
            </a:extLst>
          </p:cNvPr>
          <p:cNvSpPr>
            <a:spLocks noGrp="1"/>
          </p:cNvSpPr>
          <p:nvPr/>
        </p:nvSpPr>
        <p:spPr>
          <a:xfrm>
            <a:off x="6381750" y="4543425"/>
            <a:ext cx="4463453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16 checks, with at most one model repair attempt.</a:t>
            </a:r>
          </a:p>
        </p:txBody>
      </p:sp>
      <p:sp>
        <p:nvSpPr>
          <p:cNvPr id="26" name="Text 5.23">
            <a:extLst>
              <a:ext uri="{FF2B5EF4-FFF2-40B4-BE49-F238E27FC236}">
                <a16:creationId xmlns:a16="http://schemas.microsoft.com/office/drawing/2014/main" id="{3DBB9F59-4FE2-4DB7-A34B-DEA6C53DCB44}"/>
              </a:ext>
            </a:extLst>
          </p:cNvPr>
          <p:cNvSpPr>
            <a:spLocks noGrp="1"/>
          </p:cNvSpPr>
          <p:nvPr/>
        </p:nvSpPr>
        <p:spPr>
          <a:xfrm>
            <a:off x="571500" y="5219700"/>
            <a:ext cx="7677149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Confidence uses information, evidence and scope signals, with rule caps and verification penalties.</a:t>
            </a:r>
          </a:p>
        </p:txBody>
      </p:sp>
      <p:sp>
        <p:nvSpPr>
          <p:cNvPr id="27" name="Text 5.24">
            <a:extLst>
              <a:ext uri="{FF2B5EF4-FFF2-40B4-BE49-F238E27FC236}">
                <a16:creationId xmlns:a16="http://schemas.microsoft.com/office/drawing/2014/main" id="{E4B1CCCC-A129-4D53-9FB6-A7FD7A8F9510}"/>
              </a:ext>
            </a:extLst>
          </p:cNvPr>
          <p:cNvSpPr>
            <a:spLocks noGrp="1"/>
          </p:cNvSpPr>
          <p:nvPr/>
        </p:nvSpPr>
        <p:spPr>
          <a:xfrm>
            <a:off x="762000" y="5638800"/>
            <a:ext cx="8843945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75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A matching quote does not prove that the full scientific conclusion is correct.</a:t>
            </a:r>
          </a:p>
        </p:txBody>
      </p:sp>
      <p:sp>
        <p:nvSpPr>
          <p:cNvPr id="28" name="Text 5.25">
            <a:extLst>
              <a:ext uri="{FF2B5EF4-FFF2-40B4-BE49-F238E27FC236}">
                <a16:creationId xmlns:a16="http://schemas.microsoft.com/office/drawing/2014/main" id="{74ADADCA-4BF3-4041-B541-95629DA88069}"/>
              </a:ext>
            </a:extLst>
          </p:cNvPr>
          <p:cNvSpPr>
            <a:spLocks noGrp="1"/>
          </p:cNvSpPr>
          <p:nvPr/>
        </p:nvSpPr>
        <p:spPr>
          <a:xfrm>
            <a:off x="571500" y="6391275"/>
            <a:ext cx="4998761" cy="1590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Code: engine/verify.py, quality.py and confidence.py. Citation counts cover selected report fields.</a:t>
            </a:r>
          </a:p>
        </p:txBody>
      </p:sp>
    </p:spTree>
    <p:extLst>
      <p:ext uri="{BB962C8B-B14F-4D97-AF65-F5344CB8AC3E}">
        <p14:creationId xmlns:p14="http://schemas.microsoft.com/office/powerpoint/2010/main" val="2708673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6 background or diagram 1">
            <a:extLst>
              <a:ext uri="{FF2B5EF4-FFF2-40B4-BE49-F238E27FC236}">
                <a16:creationId xmlns:a16="http://schemas.microsoft.com/office/drawing/2014/main" id="{8F495A46-7825-4F64-8ED2-54900F97A6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Diagram connector 2">
            <a:extLst>
              <a:ext uri="{FF2B5EF4-FFF2-40B4-BE49-F238E27FC236}">
                <a16:creationId xmlns:a16="http://schemas.microsoft.com/office/drawing/2014/main" id="{9E51CDE4-2BDC-4672-9DB9-6C26F7CC14EE}"/>
              </a:ext>
            </a:extLst>
          </p:cNvPr>
          <p:cNvSpPr>
            <a:spLocks noGrp="1"/>
          </p:cNvSpPr>
          <p:nvPr/>
        </p:nvSpPr>
        <p:spPr>
          <a:xfrm>
            <a:off x="571500" y="3924300"/>
            <a:ext cx="11049000" cy="9525"/>
          </a:xfrm>
          <a:custGeom>
            <a:avLst/>
            <a:gdLst/>
            <a:ahLst/>
            <a:cxnLst/>
            <a:rect l="0" t="0" r="0" b="0"/>
            <a:pathLst>
              <a:path w="11049000" h="9525">
                <a:moveTo>
                  <a:pt x="0" y="0"/>
                </a:moveTo>
                <a:lnTo>
                  <a:pt x="11049000" y="0"/>
                </a:lnTo>
              </a:path>
            </a:pathLst>
          </a:custGeom>
          <a:noFill/>
          <a:ln w="9525">
            <a:solidFill>
              <a:srgbClr val="CCD8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Diagram connector 3">
            <a:extLst>
              <a:ext uri="{FF2B5EF4-FFF2-40B4-BE49-F238E27FC236}">
                <a16:creationId xmlns:a16="http://schemas.microsoft.com/office/drawing/2014/main" id="{36EAD776-0519-49E1-B383-8D25CB5E2DD6}"/>
              </a:ext>
            </a:extLst>
          </p:cNvPr>
          <p:cNvSpPr>
            <a:spLocks noGrp="1"/>
          </p:cNvSpPr>
          <p:nvPr/>
        </p:nvSpPr>
        <p:spPr>
          <a:xfrm>
            <a:off x="552450" y="6267450"/>
            <a:ext cx="11087100" cy="9525"/>
          </a:xfrm>
          <a:custGeom>
            <a:avLst/>
            <a:gdLst/>
            <a:ahLst/>
            <a:cxnLst/>
            <a:rect l="0" t="0" r="0" b="0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9525">
            <a:solidFill>
              <a:srgbClr val="CCD8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6.1">
            <a:extLst>
              <a:ext uri="{FF2B5EF4-FFF2-40B4-BE49-F238E27FC236}">
                <a16:creationId xmlns:a16="http://schemas.microsoft.com/office/drawing/2014/main" id="{BB453238-5CF1-462B-8966-9ABBA9AC3A82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086574" cy="179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AFS FIBERWISE</a:t>
            </a:r>
          </a:p>
        </p:txBody>
      </p:sp>
      <p:sp>
        <p:nvSpPr>
          <p:cNvPr id="5" name="Text 6.2">
            <a:extLst>
              <a:ext uri="{FF2B5EF4-FFF2-40B4-BE49-F238E27FC236}">
                <a16:creationId xmlns:a16="http://schemas.microsoft.com/office/drawing/2014/main" id="{0CB94FB2-80A0-4593-B76A-4E2A709C5847}"/>
              </a:ext>
            </a:extLst>
          </p:cNvPr>
          <p:cNvSpPr>
            <a:spLocks noGrp="1"/>
          </p:cNvSpPr>
          <p:nvPr/>
        </p:nvSpPr>
        <p:spPr>
          <a:xfrm>
            <a:off x="8191500" y="285750"/>
            <a:ext cx="141300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JURY PRESENTATION / 06</a:t>
            </a:r>
          </a:p>
        </p:txBody>
      </p:sp>
      <p:sp>
        <p:nvSpPr>
          <p:cNvPr id="6" name="Text 6.3">
            <a:extLst>
              <a:ext uri="{FF2B5EF4-FFF2-40B4-BE49-F238E27FC236}">
                <a16:creationId xmlns:a16="http://schemas.microsoft.com/office/drawing/2014/main" id="{C44BB2FD-F38A-4C85-9104-B3B3E571DFC2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8632775" cy="4991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Example: a new pharmaceutical formulation</a:t>
            </a:r>
          </a:p>
        </p:txBody>
      </p:sp>
      <p:sp>
        <p:nvSpPr>
          <p:cNvPr id="7" name="Text 6.4">
            <a:extLst>
              <a:ext uri="{FF2B5EF4-FFF2-40B4-BE49-F238E27FC236}">
                <a16:creationId xmlns:a16="http://schemas.microsoft.com/office/drawing/2014/main" id="{9EAFB2D6-2C05-4401-AED7-015A3E7D469A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9106321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H01 asks whether adding Raman can preserve an existing NIR calibration after the formulation changes.</a:t>
            </a:r>
          </a:p>
        </p:txBody>
      </p:sp>
      <p:sp>
        <p:nvSpPr>
          <p:cNvPr id="8" name="Text 6.5">
            <a:extLst>
              <a:ext uri="{FF2B5EF4-FFF2-40B4-BE49-F238E27FC236}">
                <a16:creationId xmlns:a16="http://schemas.microsoft.com/office/drawing/2014/main" id="{E652FCE7-E660-4FA4-9F1B-76E549F59863}"/>
              </a:ext>
            </a:extLst>
          </p:cNvPr>
          <p:cNvSpPr>
            <a:spLocks noGrp="1"/>
          </p:cNvSpPr>
          <p:nvPr/>
        </p:nvSpPr>
        <p:spPr>
          <a:xfrm>
            <a:off x="571500" y="2085975"/>
            <a:ext cx="3126162" cy="245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7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75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275" b="1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Customer premise (paraphrased)</a:t>
            </a:r>
          </a:p>
        </p:txBody>
      </p:sp>
      <p:sp>
        <p:nvSpPr>
          <p:cNvPr id="9" name="Text 6.6">
            <a:extLst>
              <a:ext uri="{FF2B5EF4-FFF2-40B4-BE49-F238E27FC236}">
                <a16:creationId xmlns:a16="http://schemas.microsoft.com/office/drawing/2014/main" id="{D7339F87-F6B9-4D4B-AD8D-6C4654EF907E}"/>
              </a:ext>
            </a:extLst>
          </p:cNvPr>
          <p:cNvSpPr>
            <a:spLocks noGrp="1"/>
          </p:cNvSpPr>
          <p:nvPr/>
        </p:nvSpPr>
        <p:spPr>
          <a:xfrm>
            <a:off x="571500" y="2476500"/>
            <a:ext cx="4300557" cy="432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“Adding Raman will keep</a:t>
            </a:r>
          </a:p>
        </p:txBody>
      </p:sp>
      <p:sp>
        <p:nvSpPr>
          <p:cNvPr id="10" name="Text 6.7">
            <a:extLst>
              <a:ext uri="{FF2B5EF4-FFF2-40B4-BE49-F238E27FC236}">
                <a16:creationId xmlns:a16="http://schemas.microsoft.com/office/drawing/2014/main" id="{E5D46B22-3BC9-4AC6-BC7B-F8AAAC026AAF}"/>
              </a:ext>
            </a:extLst>
          </p:cNvPr>
          <p:cNvSpPr>
            <a:spLocks noGrp="1"/>
          </p:cNvSpPr>
          <p:nvPr/>
        </p:nvSpPr>
        <p:spPr>
          <a:xfrm>
            <a:off x="571500" y="2866263"/>
            <a:ext cx="4378509" cy="4324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our old calibration valid.”</a:t>
            </a:r>
          </a:p>
        </p:txBody>
      </p:sp>
      <p:sp>
        <p:nvSpPr>
          <p:cNvPr id="11" name="Text 6.8">
            <a:extLst>
              <a:ext uri="{FF2B5EF4-FFF2-40B4-BE49-F238E27FC236}">
                <a16:creationId xmlns:a16="http://schemas.microsoft.com/office/drawing/2014/main" id="{252121BF-A117-44C8-9C7E-4F6DD9EC3E3A}"/>
              </a:ext>
            </a:extLst>
          </p:cNvPr>
          <p:cNvSpPr>
            <a:spLocks noGrp="1"/>
          </p:cNvSpPr>
          <p:nvPr/>
        </p:nvSpPr>
        <p:spPr>
          <a:xfrm>
            <a:off x="6477000" y="2085975"/>
            <a:ext cx="2519753" cy="3257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725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725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Assessment finding</a:t>
            </a:r>
          </a:p>
        </p:txBody>
      </p:sp>
      <p:sp>
        <p:nvSpPr>
          <p:cNvPr id="12" name="Text 6.9">
            <a:extLst>
              <a:ext uri="{FF2B5EF4-FFF2-40B4-BE49-F238E27FC236}">
                <a16:creationId xmlns:a16="http://schemas.microsoft.com/office/drawing/2014/main" id="{87A07C46-989E-45B5-8A87-F5F649DB7E72}"/>
              </a:ext>
            </a:extLst>
          </p:cNvPr>
          <p:cNvSpPr>
            <a:spLocks noGrp="1"/>
          </p:cNvSpPr>
          <p:nvPr/>
        </p:nvSpPr>
        <p:spPr>
          <a:xfrm>
            <a:off x="6477000" y="2847975"/>
            <a:ext cx="5083169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Adding Raman does not validate the old</a:t>
            </a:r>
          </a:p>
        </p:txBody>
      </p:sp>
      <p:sp>
        <p:nvSpPr>
          <p:cNvPr id="13" name="Text 6.10">
            <a:extLst>
              <a:ext uri="{FF2B5EF4-FFF2-40B4-BE49-F238E27FC236}">
                <a16:creationId xmlns:a16="http://schemas.microsoft.com/office/drawing/2014/main" id="{12E2EBA8-1BFF-4374-B3E2-95BF56AD09A5}"/>
              </a:ext>
            </a:extLst>
          </p:cNvPr>
          <p:cNvSpPr>
            <a:spLocks noGrp="1"/>
          </p:cNvSpPr>
          <p:nvPr/>
        </p:nvSpPr>
        <p:spPr>
          <a:xfrm>
            <a:off x="6477000" y="3174873"/>
            <a:ext cx="3698309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model for a new formulation.</a:t>
            </a:r>
          </a:p>
        </p:txBody>
      </p:sp>
      <p:sp>
        <p:nvSpPr>
          <p:cNvPr id="14" name="Text 6.11">
            <a:extLst>
              <a:ext uri="{FF2B5EF4-FFF2-40B4-BE49-F238E27FC236}">
                <a16:creationId xmlns:a16="http://schemas.microsoft.com/office/drawing/2014/main" id="{18F17891-009A-4BCD-B343-4C8CDBC6F1A3}"/>
              </a:ext>
            </a:extLst>
          </p:cNvPr>
          <p:cNvSpPr>
            <a:spLocks noGrp="1"/>
          </p:cNvSpPr>
          <p:nvPr/>
        </p:nvSpPr>
        <p:spPr>
          <a:xfrm>
            <a:off x="571500" y="4257675"/>
            <a:ext cx="254336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Methods worth testing</a:t>
            </a:r>
          </a:p>
        </p:txBody>
      </p:sp>
      <p:sp>
        <p:nvSpPr>
          <p:cNvPr id="15" name="Text 6.12">
            <a:extLst>
              <a:ext uri="{FF2B5EF4-FFF2-40B4-BE49-F238E27FC236}">
                <a16:creationId xmlns:a16="http://schemas.microsoft.com/office/drawing/2014/main" id="{17AC1F89-89E8-46D7-83D1-6617268F2F93}"/>
              </a:ext>
            </a:extLst>
          </p:cNvPr>
          <p:cNvSpPr>
            <a:spLocks noGrp="1"/>
          </p:cNvSpPr>
          <p:nvPr/>
        </p:nvSpPr>
        <p:spPr>
          <a:xfrm>
            <a:off x="3476625" y="4257675"/>
            <a:ext cx="6872097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NIR diffuse reflection as the baseline, with Raman as a comparison.</a:t>
            </a:r>
          </a:p>
        </p:txBody>
      </p:sp>
      <p:sp>
        <p:nvSpPr>
          <p:cNvPr id="16" name="Text 6.13">
            <a:extLst>
              <a:ext uri="{FF2B5EF4-FFF2-40B4-BE49-F238E27FC236}">
                <a16:creationId xmlns:a16="http://schemas.microsoft.com/office/drawing/2014/main" id="{490C9542-4263-4756-AAA0-FBCE27C9AA32}"/>
              </a:ext>
            </a:extLst>
          </p:cNvPr>
          <p:cNvSpPr>
            <a:spLocks noGrp="1"/>
          </p:cNvSpPr>
          <p:nvPr/>
        </p:nvSpPr>
        <p:spPr>
          <a:xfrm>
            <a:off x="571500" y="4991100"/>
            <a:ext cx="207168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Decision-changing</a:t>
            </a:r>
          </a:p>
        </p:txBody>
      </p:sp>
      <p:sp>
        <p:nvSpPr>
          <p:cNvPr id="17" name="Text 6.14">
            <a:extLst>
              <a:ext uri="{FF2B5EF4-FFF2-40B4-BE49-F238E27FC236}">
                <a16:creationId xmlns:a16="http://schemas.microsoft.com/office/drawing/2014/main" id="{5C91F12A-F180-412C-83B9-5B07CBF5131C}"/>
              </a:ext>
            </a:extLst>
          </p:cNvPr>
          <p:cNvSpPr>
            <a:spLocks noGrp="1"/>
          </p:cNvSpPr>
          <p:nvPr/>
        </p:nvSpPr>
        <p:spPr>
          <a:xfrm>
            <a:off x="571500" y="5242560"/>
            <a:ext cx="114604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questions</a:t>
            </a:r>
          </a:p>
        </p:txBody>
      </p:sp>
      <p:sp>
        <p:nvSpPr>
          <p:cNvPr id="18" name="Text 6.15">
            <a:extLst>
              <a:ext uri="{FF2B5EF4-FFF2-40B4-BE49-F238E27FC236}">
                <a16:creationId xmlns:a16="http://schemas.microsoft.com/office/drawing/2014/main" id="{3E561034-0ACB-498A-9A94-9D80DB3DB266}"/>
              </a:ext>
            </a:extLst>
          </p:cNvPr>
          <p:cNvSpPr>
            <a:spLocks noGrp="1"/>
          </p:cNvSpPr>
          <p:nvPr/>
        </p:nvSpPr>
        <p:spPr>
          <a:xfrm>
            <a:off x="3476625" y="4991100"/>
            <a:ext cx="7767808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What changed in the blend? Which reference values and acceptance criteria</a:t>
            </a:r>
          </a:p>
        </p:txBody>
      </p:sp>
      <p:sp>
        <p:nvSpPr>
          <p:cNvPr id="19" name="Text 6.16">
            <a:extLst>
              <a:ext uri="{FF2B5EF4-FFF2-40B4-BE49-F238E27FC236}">
                <a16:creationId xmlns:a16="http://schemas.microsoft.com/office/drawing/2014/main" id="{9547CAD0-665E-41E5-B622-6A21BC07ACAF}"/>
              </a:ext>
            </a:extLst>
          </p:cNvPr>
          <p:cNvSpPr>
            <a:spLocks noGrp="1"/>
          </p:cNvSpPr>
          <p:nvPr/>
        </p:nvSpPr>
        <p:spPr>
          <a:xfrm>
            <a:off x="3476625" y="5255133"/>
            <a:ext cx="1496025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are available?</a:t>
            </a:r>
          </a:p>
        </p:txBody>
      </p:sp>
      <p:sp>
        <p:nvSpPr>
          <p:cNvPr id="20" name="Text 6.17">
            <a:extLst>
              <a:ext uri="{FF2B5EF4-FFF2-40B4-BE49-F238E27FC236}">
                <a16:creationId xmlns:a16="http://schemas.microsoft.com/office/drawing/2014/main" id="{A8DB14FB-74D5-46AB-8395-AB84E3A38465}"/>
              </a:ext>
            </a:extLst>
          </p:cNvPr>
          <p:cNvSpPr>
            <a:spLocks noGrp="1"/>
          </p:cNvSpPr>
          <p:nvPr/>
        </p:nvSpPr>
        <p:spPr>
          <a:xfrm>
            <a:off x="571500" y="5876925"/>
            <a:ext cx="8199598" cy="245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rPr>
              <a:t>Archived H01: provisional assessment, low confidence. The report stage used a rule-based fallback.</a:t>
            </a:r>
          </a:p>
        </p:txBody>
      </p:sp>
      <p:sp>
        <p:nvSpPr>
          <p:cNvPr id="21" name="Text 6.18">
            <a:extLst>
              <a:ext uri="{FF2B5EF4-FFF2-40B4-BE49-F238E27FC236}">
                <a16:creationId xmlns:a16="http://schemas.microsoft.com/office/drawing/2014/main" id="{F022863D-22C4-41FD-A8D3-B065B309D2B7}"/>
              </a:ext>
            </a:extLst>
          </p:cNvPr>
          <p:cNvSpPr>
            <a:spLocks noGrp="1"/>
          </p:cNvSpPr>
          <p:nvPr/>
        </p:nvSpPr>
        <p:spPr>
          <a:xfrm>
            <a:off x="571500" y="6391275"/>
            <a:ext cx="3334955" cy="1590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Archived H01 output. Technical basis: S01 pp.5, 8-10 and 14-15.</a:t>
            </a:r>
          </a:p>
        </p:txBody>
      </p:sp>
    </p:spTree>
    <p:extLst>
      <p:ext uri="{BB962C8B-B14F-4D97-AF65-F5344CB8AC3E}">
        <p14:creationId xmlns:p14="http://schemas.microsoft.com/office/powerpoint/2010/main" val="13133491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7 background or diagram 1">
            <a:extLst>
              <a:ext uri="{FF2B5EF4-FFF2-40B4-BE49-F238E27FC236}">
                <a16:creationId xmlns:a16="http://schemas.microsoft.com/office/drawing/2014/main" id="{5A72357F-A1B4-4F12-87E3-A26C74C0F87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lide 7 background or diagram 2">
            <a:extLst>
              <a:ext uri="{FF2B5EF4-FFF2-40B4-BE49-F238E27FC236}">
                <a16:creationId xmlns:a16="http://schemas.microsoft.com/office/drawing/2014/main" id="{1B510CE6-D388-4774-93B9-A5DEEE3B7AB3}"/>
              </a:ext>
            </a:extLst>
          </p:cNvPr>
          <p:cNvSpPr>
            <a:spLocks noGrp="1"/>
          </p:cNvSpPr>
          <p:nvPr/>
        </p:nvSpPr>
        <p:spPr>
          <a:xfrm>
            <a:off x="571500" y="5715000"/>
            <a:ext cx="11049000" cy="390525"/>
          </a:xfrm>
          <a:prstGeom prst="rect">
            <a:avLst/>
          </a:prstGeom>
          <a:solidFill>
            <a:srgbClr val="E5EFEB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Diagram connector 3">
            <a:extLst>
              <a:ext uri="{FF2B5EF4-FFF2-40B4-BE49-F238E27FC236}">
                <a16:creationId xmlns:a16="http://schemas.microsoft.com/office/drawing/2014/main" id="{6AE42DA3-135C-4F6D-8465-7128183BCA67}"/>
              </a:ext>
            </a:extLst>
          </p:cNvPr>
          <p:cNvSpPr>
            <a:spLocks noGrp="1"/>
          </p:cNvSpPr>
          <p:nvPr/>
        </p:nvSpPr>
        <p:spPr>
          <a:xfrm>
            <a:off x="552450" y="6267450"/>
            <a:ext cx="11087100" cy="9525"/>
          </a:xfrm>
          <a:custGeom>
            <a:avLst/>
            <a:gdLst/>
            <a:ahLst/>
            <a:cxnLst/>
            <a:rect l="0" t="0" r="0" b="0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9525">
            <a:solidFill>
              <a:srgbClr val="CCD8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7.1">
            <a:extLst>
              <a:ext uri="{FF2B5EF4-FFF2-40B4-BE49-F238E27FC236}">
                <a16:creationId xmlns:a16="http://schemas.microsoft.com/office/drawing/2014/main" id="{D81356E2-CD81-4E55-8D42-A433DC10F0C7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086574" cy="179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AFS FIBERWISE</a:t>
            </a:r>
          </a:p>
        </p:txBody>
      </p:sp>
      <p:sp>
        <p:nvSpPr>
          <p:cNvPr id="5" name="Text 7.2">
            <a:extLst>
              <a:ext uri="{FF2B5EF4-FFF2-40B4-BE49-F238E27FC236}">
                <a16:creationId xmlns:a16="http://schemas.microsoft.com/office/drawing/2014/main" id="{F239B155-B55D-413C-A9D2-787211739388}"/>
              </a:ext>
            </a:extLst>
          </p:cNvPr>
          <p:cNvSpPr>
            <a:spLocks noGrp="1"/>
          </p:cNvSpPr>
          <p:nvPr/>
        </p:nvSpPr>
        <p:spPr>
          <a:xfrm>
            <a:off x="8191500" y="285750"/>
            <a:ext cx="141300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JURY PRESENTATION / 07</a:t>
            </a:r>
          </a:p>
        </p:txBody>
      </p:sp>
      <p:sp>
        <p:nvSpPr>
          <p:cNvPr id="6" name="Text 7.3">
            <a:extLst>
              <a:ext uri="{FF2B5EF4-FFF2-40B4-BE49-F238E27FC236}">
                <a16:creationId xmlns:a16="http://schemas.microsoft.com/office/drawing/2014/main" id="{B5B65BCE-B4AB-46DA-91B8-3CF1DEDB7F7C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5659146" cy="4991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A first feasibility experiment</a:t>
            </a:r>
          </a:p>
        </p:txBody>
      </p:sp>
      <p:sp>
        <p:nvSpPr>
          <p:cNvPr id="7" name="Text 7.4">
            <a:extLst>
              <a:ext uri="{FF2B5EF4-FFF2-40B4-BE49-F238E27FC236}">
                <a16:creationId xmlns:a16="http://schemas.microsoft.com/office/drawing/2014/main" id="{5B186975-AC5B-41EF-A4D0-7FE605858BB7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555919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The first experiment tests whether calibration reuse is justified.</a:t>
            </a:r>
          </a:p>
        </p:txBody>
      </p:sp>
      <p:sp>
        <p:nvSpPr>
          <p:cNvPr id="8" name="Text 7.5">
            <a:extLst>
              <a:ext uri="{FF2B5EF4-FFF2-40B4-BE49-F238E27FC236}">
                <a16:creationId xmlns:a16="http://schemas.microsoft.com/office/drawing/2014/main" id="{1C25E074-86BA-494A-8D6E-56949EBEF26A}"/>
              </a:ext>
            </a:extLst>
          </p:cNvPr>
          <p:cNvSpPr>
            <a:spLocks noGrp="1"/>
          </p:cNvSpPr>
          <p:nvPr/>
        </p:nvSpPr>
        <p:spPr>
          <a:xfrm>
            <a:off x="571500" y="2057400"/>
            <a:ext cx="519532" cy="4457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01</a:t>
            </a:r>
          </a:p>
        </p:txBody>
      </p:sp>
      <p:sp>
        <p:nvSpPr>
          <p:cNvPr id="9" name="Text 7.6">
            <a:extLst>
              <a:ext uri="{FF2B5EF4-FFF2-40B4-BE49-F238E27FC236}">
                <a16:creationId xmlns:a16="http://schemas.microsoft.com/office/drawing/2014/main" id="{2C689389-C9A6-4F3B-9FA3-9BA95B6FD0E9}"/>
              </a:ext>
            </a:extLst>
          </p:cNvPr>
          <p:cNvSpPr>
            <a:spLocks noGrp="1"/>
          </p:cNvSpPr>
          <p:nvPr/>
        </p:nvSpPr>
        <p:spPr>
          <a:xfrm>
            <a:off x="1571625" y="2057400"/>
            <a:ext cx="3207868" cy="3390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Representative samples</a:t>
            </a:r>
          </a:p>
        </p:txBody>
      </p:sp>
      <p:sp>
        <p:nvSpPr>
          <p:cNvPr id="10" name="Text 7.7">
            <a:extLst>
              <a:ext uri="{FF2B5EF4-FFF2-40B4-BE49-F238E27FC236}">
                <a16:creationId xmlns:a16="http://schemas.microsoft.com/office/drawing/2014/main" id="{939F03A6-E28B-42D2-A098-1F5774BA2126}"/>
              </a:ext>
            </a:extLst>
          </p:cNvPr>
          <p:cNvSpPr>
            <a:spLocks noGrp="1"/>
          </p:cNvSpPr>
          <p:nvPr/>
        </p:nvSpPr>
        <p:spPr>
          <a:xfrm>
            <a:off x="1571625" y="2400300"/>
            <a:ext cx="659244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Cover the new API / excipient range and relevant physical variation.</a:t>
            </a:r>
          </a:p>
        </p:txBody>
      </p:sp>
      <p:sp>
        <p:nvSpPr>
          <p:cNvPr id="11" name="Text 7.8">
            <a:extLst>
              <a:ext uri="{FF2B5EF4-FFF2-40B4-BE49-F238E27FC236}">
                <a16:creationId xmlns:a16="http://schemas.microsoft.com/office/drawing/2014/main" id="{FD04BB3D-A231-4743-A38F-39CB9EC7D5B6}"/>
              </a:ext>
            </a:extLst>
          </p:cNvPr>
          <p:cNvSpPr>
            <a:spLocks noGrp="1"/>
          </p:cNvSpPr>
          <p:nvPr/>
        </p:nvSpPr>
        <p:spPr>
          <a:xfrm>
            <a:off x="571500" y="2924175"/>
            <a:ext cx="519532" cy="4457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  <p:sp>
        <p:nvSpPr>
          <p:cNvPr id="12" name="Text 7.9">
            <a:extLst>
              <a:ext uri="{FF2B5EF4-FFF2-40B4-BE49-F238E27FC236}">
                <a16:creationId xmlns:a16="http://schemas.microsoft.com/office/drawing/2014/main" id="{411E51C4-17C6-4569-BD62-75C1958EAD8F}"/>
              </a:ext>
            </a:extLst>
          </p:cNvPr>
          <p:cNvSpPr>
            <a:spLocks noGrp="1"/>
          </p:cNvSpPr>
          <p:nvPr/>
        </p:nvSpPr>
        <p:spPr>
          <a:xfrm>
            <a:off x="1571625" y="2924175"/>
            <a:ext cx="3971621" cy="3390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Independent reference values</a:t>
            </a:r>
          </a:p>
        </p:txBody>
      </p:sp>
      <p:sp>
        <p:nvSpPr>
          <p:cNvPr id="13" name="Text 7.10">
            <a:extLst>
              <a:ext uri="{FF2B5EF4-FFF2-40B4-BE49-F238E27FC236}">
                <a16:creationId xmlns:a16="http://schemas.microsoft.com/office/drawing/2014/main" id="{8A464862-F1EA-44AC-AB17-7F7744420B5D}"/>
              </a:ext>
            </a:extLst>
          </p:cNvPr>
          <p:cNvSpPr>
            <a:spLocks noGrp="1"/>
          </p:cNvSpPr>
          <p:nvPr/>
        </p:nvSpPr>
        <p:spPr>
          <a:xfrm>
            <a:off x="1571625" y="3267075"/>
            <a:ext cx="665130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Pair each sample spectrum with a suitable laboratory measurement.</a:t>
            </a:r>
          </a:p>
        </p:txBody>
      </p:sp>
      <p:sp>
        <p:nvSpPr>
          <p:cNvPr id="14" name="Text 7.11">
            <a:extLst>
              <a:ext uri="{FF2B5EF4-FFF2-40B4-BE49-F238E27FC236}">
                <a16:creationId xmlns:a16="http://schemas.microsoft.com/office/drawing/2014/main" id="{3F3F86AC-6111-4C23-B498-A2B3034A6CCA}"/>
              </a:ext>
            </a:extLst>
          </p:cNvPr>
          <p:cNvSpPr>
            <a:spLocks noGrp="1"/>
          </p:cNvSpPr>
          <p:nvPr/>
        </p:nvSpPr>
        <p:spPr>
          <a:xfrm>
            <a:off x="571500" y="3790950"/>
            <a:ext cx="519532" cy="4457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  <p:sp>
        <p:nvSpPr>
          <p:cNvPr id="15" name="Text 7.12">
            <a:extLst>
              <a:ext uri="{FF2B5EF4-FFF2-40B4-BE49-F238E27FC236}">
                <a16:creationId xmlns:a16="http://schemas.microsoft.com/office/drawing/2014/main" id="{BA8E8501-73FE-4D69-AF83-4811E536F792}"/>
              </a:ext>
            </a:extLst>
          </p:cNvPr>
          <p:cNvSpPr>
            <a:spLocks noGrp="1"/>
          </p:cNvSpPr>
          <p:nvPr/>
        </p:nvSpPr>
        <p:spPr>
          <a:xfrm>
            <a:off x="1571625" y="3790950"/>
            <a:ext cx="3012643" cy="3390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Controlled comparison</a:t>
            </a:r>
          </a:p>
        </p:txBody>
      </p:sp>
      <p:sp>
        <p:nvSpPr>
          <p:cNvPr id="16" name="Text 7.13">
            <a:extLst>
              <a:ext uri="{FF2B5EF4-FFF2-40B4-BE49-F238E27FC236}">
                <a16:creationId xmlns:a16="http://schemas.microsoft.com/office/drawing/2014/main" id="{DA8ECA76-C98D-4249-AED6-2B339CBDD1AA}"/>
              </a:ext>
            </a:extLst>
          </p:cNvPr>
          <p:cNvSpPr>
            <a:spLocks noGrp="1"/>
          </p:cNvSpPr>
          <p:nvPr/>
        </p:nvSpPr>
        <p:spPr>
          <a:xfrm>
            <a:off x="1571625" y="4133850"/>
            <a:ext cx="896111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Test the old NIR model first. Compare a new NIR model with Raman or fused data if justified.</a:t>
            </a:r>
          </a:p>
        </p:txBody>
      </p:sp>
      <p:sp>
        <p:nvSpPr>
          <p:cNvPr id="17" name="Text 7.14">
            <a:extLst>
              <a:ext uri="{FF2B5EF4-FFF2-40B4-BE49-F238E27FC236}">
                <a16:creationId xmlns:a16="http://schemas.microsoft.com/office/drawing/2014/main" id="{A9C234EA-3A98-4266-A5DE-77AB7F3595D1}"/>
              </a:ext>
            </a:extLst>
          </p:cNvPr>
          <p:cNvSpPr>
            <a:spLocks noGrp="1"/>
          </p:cNvSpPr>
          <p:nvPr/>
        </p:nvSpPr>
        <p:spPr>
          <a:xfrm>
            <a:off x="571500" y="4657725"/>
            <a:ext cx="519532" cy="4457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  <p:sp>
        <p:nvSpPr>
          <p:cNvPr id="18" name="Text 7.15">
            <a:extLst>
              <a:ext uri="{FF2B5EF4-FFF2-40B4-BE49-F238E27FC236}">
                <a16:creationId xmlns:a16="http://schemas.microsoft.com/office/drawing/2014/main" id="{46CD2A95-7EA0-4A36-BD0B-4C9CD4677504}"/>
              </a:ext>
            </a:extLst>
          </p:cNvPr>
          <p:cNvSpPr>
            <a:spLocks noGrp="1"/>
          </p:cNvSpPr>
          <p:nvPr/>
        </p:nvSpPr>
        <p:spPr>
          <a:xfrm>
            <a:off x="1571625" y="4657725"/>
            <a:ext cx="3099054" cy="3390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Independent validation</a:t>
            </a:r>
          </a:p>
        </p:txBody>
      </p:sp>
      <p:sp>
        <p:nvSpPr>
          <p:cNvPr id="19" name="Text 7.16">
            <a:extLst>
              <a:ext uri="{FF2B5EF4-FFF2-40B4-BE49-F238E27FC236}">
                <a16:creationId xmlns:a16="http://schemas.microsoft.com/office/drawing/2014/main" id="{10EE3A16-CE82-4F4C-93B2-A75B66256639}"/>
              </a:ext>
            </a:extLst>
          </p:cNvPr>
          <p:cNvSpPr>
            <a:spLocks noGrp="1"/>
          </p:cNvSpPr>
          <p:nvPr/>
        </p:nvSpPr>
        <p:spPr>
          <a:xfrm>
            <a:off x="1571625" y="5000625"/>
            <a:ext cx="687704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Evaluate held-out batches or runs against client-agreed error and bias.</a:t>
            </a:r>
          </a:p>
        </p:txBody>
      </p:sp>
      <p:sp>
        <p:nvSpPr>
          <p:cNvPr id="20" name="Text 7.17">
            <a:extLst>
              <a:ext uri="{FF2B5EF4-FFF2-40B4-BE49-F238E27FC236}">
                <a16:creationId xmlns:a16="http://schemas.microsoft.com/office/drawing/2014/main" id="{C786DABE-093D-4B09-A55B-C41AF72B33BF}"/>
              </a:ext>
            </a:extLst>
          </p:cNvPr>
          <p:cNvSpPr>
            <a:spLocks noGrp="1"/>
          </p:cNvSpPr>
          <p:nvPr/>
        </p:nvSpPr>
        <p:spPr>
          <a:xfrm>
            <a:off x="733425" y="5791200"/>
            <a:ext cx="8313705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Decision: retain, rebuild or reject calibration reuse using the experimental evidence.</a:t>
            </a:r>
          </a:p>
        </p:txBody>
      </p:sp>
      <p:sp>
        <p:nvSpPr>
          <p:cNvPr id="21" name="Text 7.18">
            <a:extLst>
              <a:ext uri="{FF2B5EF4-FFF2-40B4-BE49-F238E27FC236}">
                <a16:creationId xmlns:a16="http://schemas.microsoft.com/office/drawing/2014/main" id="{AD0184A4-4FF5-4252-97EF-F119C41CDB01}"/>
              </a:ext>
            </a:extLst>
          </p:cNvPr>
          <p:cNvSpPr>
            <a:spLocks noGrp="1"/>
          </p:cNvSpPr>
          <p:nvPr/>
        </p:nvSpPr>
        <p:spPr>
          <a:xfrm>
            <a:off x="571500" y="6391275"/>
            <a:ext cx="5060870" cy="1590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Based on the stored H01 plan. Acceptance criteria remain client-agreed; no spectra were supplied.</a:t>
            </a:r>
          </a:p>
        </p:txBody>
      </p:sp>
    </p:spTree>
    <p:extLst>
      <p:ext uri="{BB962C8B-B14F-4D97-AF65-F5344CB8AC3E}">
        <p14:creationId xmlns:p14="http://schemas.microsoft.com/office/powerpoint/2010/main" val="2912869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8 background or diagram 1">
            <a:extLst>
              <a:ext uri="{FF2B5EF4-FFF2-40B4-BE49-F238E27FC236}">
                <a16:creationId xmlns:a16="http://schemas.microsoft.com/office/drawing/2014/main" id="{4D77E718-4982-4721-A0D0-D66635C7EB8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Diagram connector 2">
            <a:extLst>
              <a:ext uri="{FF2B5EF4-FFF2-40B4-BE49-F238E27FC236}">
                <a16:creationId xmlns:a16="http://schemas.microsoft.com/office/drawing/2014/main" id="{EECBD9F9-7F29-46E5-9316-B9B1EA2B980D}"/>
              </a:ext>
            </a:extLst>
          </p:cNvPr>
          <p:cNvSpPr>
            <a:spLocks noGrp="1"/>
          </p:cNvSpPr>
          <p:nvPr/>
        </p:nvSpPr>
        <p:spPr>
          <a:xfrm>
            <a:off x="552450" y="6267450"/>
            <a:ext cx="11087100" cy="9525"/>
          </a:xfrm>
          <a:custGeom>
            <a:avLst/>
            <a:gdLst/>
            <a:ahLst/>
            <a:cxnLst/>
            <a:rect l="0" t="0" r="0" b="0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9525">
            <a:solidFill>
              <a:srgbClr val="CCD8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E197844-BDAE-4888-B956-9F39EF050E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315200" y="1971675"/>
            <a:ext cx="3333750" cy="3333750"/>
          </a:xfrm>
          <a:prstGeom prst="rect">
            <a:avLst/>
          </a:prstGeom>
        </p:spPr>
      </p:pic>
      <p:sp>
        <p:nvSpPr>
          <p:cNvPr id="4" name="Text 8.1">
            <a:extLst>
              <a:ext uri="{FF2B5EF4-FFF2-40B4-BE49-F238E27FC236}">
                <a16:creationId xmlns:a16="http://schemas.microsoft.com/office/drawing/2014/main" id="{830EC7B5-9051-45B6-8F8F-4238020200F8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086574" cy="179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AFS FIBERWISE</a:t>
            </a:r>
          </a:p>
        </p:txBody>
      </p:sp>
      <p:sp>
        <p:nvSpPr>
          <p:cNvPr id="5" name="Text 8.2">
            <a:extLst>
              <a:ext uri="{FF2B5EF4-FFF2-40B4-BE49-F238E27FC236}">
                <a16:creationId xmlns:a16="http://schemas.microsoft.com/office/drawing/2014/main" id="{1E917339-4AD7-4AE9-9E01-D7190DC13B66}"/>
              </a:ext>
            </a:extLst>
          </p:cNvPr>
          <p:cNvSpPr>
            <a:spLocks noGrp="1"/>
          </p:cNvSpPr>
          <p:nvPr/>
        </p:nvSpPr>
        <p:spPr>
          <a:xfrm>
            <a:off x="8191500" y="285750"/>
            <a:ext cx="141300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JURY PRESENTATION / 08</a:t>
            </a:r>
          </a:p>
        </p:txBody>
      </p:sp>
      <p:sp>
        <p:nvSpPr>
          <p:cNvPr id="6" name="Text 8.3">
            <a:extLst>
              <a:ext uri="{FF2B5EF4-FFF2-40B4-BE49-F238E27FC236}">
                <a16:creationId xmlns:a16="http://schemas.microsoft.com/office/drawing/2014/main" id="{0D9ECC23-399F-4AB0-81F3-BA1584EAA09D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9944027" cy="4991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Example: the existing fiber blocks the MIR concept</a:t>
            </a:r>
          </a:p>
        </p:txBody>
      </p:sp>
      <p:sp>
        <p:nvSpPr>
          <p:cNvPr id="7" name="Text 8.4">
            <a:extLst>
              <a:ext uri="{FF2B5EF4-FFF2-40B4-BE49-F238E27FC236}">
                <a16:creationId xmlns:a16="http://schemas.microsoft.com/office/drawing/2014/main" id="{C86E490A-4473-4C45-8028-17AF0C3B512A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8805768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H04 asks to reuse a visible/NIR silica cable for remote MIR ATR measurements of water in petroleum.</a:t>
            </a:r>
          </a:p>
        </p:txBody>
      </p:sp>
      <p:sp>
        <p:nvSpPr>
          <p:cNvPr id="8" name="Text 8.5">
            <a:extLst>
              <a:ext uri="{FF2B5EF4-FFF2-40B4-BE49-F238E27FC236}">
                <a16:creationId xmlns:a16="http://schemas.microsoft.com/office/drawing/2014/main" id="{FEFA7359-03E4-4D72-BB6B-26D79AF50D5B}"/>
              </a:ext>
            </a:extLst>
          </p:cNvPr>
          <p:cNvSpPr>
            <a:spLocks noGrp="1"/>
          </p:cNvSpPr>
          <p:nvPr/>
        </p:nvSpPr>
        <p:spPr>
          <a:xfrm>
            <a:off x="571500" y="2057400"/>
            <a:ext cx="1932680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1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The central finding</a:t>
            </a:r>
          </a:p>
        </p:txBody>
      </p:sp>
      <p:sp>
        <p:nvSpPr>
          <p:cNvPr id="9" name="Text 8.6">
            <a:extLst>
              <a:ext uri="{FF2B5EF4-FFF2-40B4-BE49-F238E27FC236}">
                <a16:creationId xmlns:a16="http://schemas.microsoft.com/office/drawing/2014/main" id="{D1A09EA4-029E-44A5-AE23-5B0C522FCE9C}"/>
              </a:ext>
            </a:extLst>
          </p:cNvPr>
          <p:cNvSpPr>
            <a:spLocks noGrp="1"/>
          </p:cNvSpPr>
          <p:nvPr/>
        </p:nvSpPr>
        <p:spPr>
          <a:xfrm>
            <a:off x="571500" y="2428875"/>
            <a:ext cx="3690271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The existing silica link</a:t>
            </a:r>
          </a:p>
        </p:txBody>
      </p:sp>
      <p:sp>
        <p:nvSpPr>
          <p:cNvPr id="10" name="Text 8.7">
            <a:extLst>
              <a:ext uri="{FF2B5EF4-FFF2-40B4-BE49-F238E27FC236}">
                <a16:creationId xmlns:a16="http://schemas.microsoft.com/office/drawing/2014/main" id="{15A59FCC-D5AF-4EBB-99AF-FC059F7708C6}"/>
              </a:ext>
            </a:extLst>
          </p:cNvPr>
          <p:cNvSpPr>
            <a:spLocks noGrp="1"/>
          </p:cNvSpPr>
          <p:nvPr/>
        </p:nvSpPr>
        <p:spPr>
          <a:xfrm>
            <a:off x="571500" y="2806065"/>
            <a:ext cx="4796981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cannot support the proposed</a:t>
            </a:r>
          </a:p>
        </p:txBody>
      </p:sp>
      <p:sp>
        <p:nvSpPr>
          <p:cNvPr id="11" name="Text 8.8">
            <a:extLst>
              <a:ext uri="{FF2B5EF4-FFF2-40B4-BE49-F238E27FC236}">
                <a16:creationId xmlns:a16="http://schemas.microsoft.com/office/drawing/2014/main" id="{7FFBE437-6FCE-431C-83CB-CCF26D952F1F}"/>
              </a:ext>
            </a:extLst>
          </p:cNvPr>
          <p:cNvSpPr>
            <a:spLocks noGrp="1"/>
          </p:cNvSpPr>
          <p:nvPr/>
        </p:nvSpPr>
        <p:spPr>
          <a:xfrm>
            <a:off x="571500" y="3183255"/>
            <a:ext cx="3137916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MIR measurement.</a:t>
            </a:r>
          </a:p>
        </p:txBody>
      </p:sp>
      <p:sp>
        <p:nvSpPr>
          <p:cNvPr id="12" name="Text 8.9">
            <a:extLst>
              <a:ext uri="{FF2B5EF4-FFF2-40B4-BE49-F238E27FC236}">
                <a16:creationId xmlns:a16="http://schemas.microsoft.com/office/drawing/2014/main" id="{FB772120-C750-4D5E-97CB-12A2E791286F}"/>
              </a:ext>
            </a:extLst>
          </p:cNvPr>
          <p:cNvSpPr>
            <a:spLocks noGrp="1"/>
          </p:cNvSpPr>
          <p:nvPr/>
        </p:nvSpPr>
        <p:spPr>
          <a:xfrm>
            <a:off x="571500" y="3943350"/>
            <a:ext cx="4529804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Next questions: link length, routing, process</a:t>
            </a:r>
          </a:p>
        </p:txBody>
      </p:sp>
      <p:sp>
        <p:nvSpPr>
          <p:cNvPr id="13" name="Text 8.10">
            <a:extLst>
              <a:ext uri="{FF2B5EF4-FFF2-40B4-BE49-F238E27FC236}">
                <a16:creationId xmlns:a16="http://schemas.microsoft.com/office/drawing/2014/main" id="{A62C9136-91CE-4EF6-A646-D40E0D68E981}"/>
              </a:ext>
            </a:extLst>
          </p:cNvPr>
          <p:cNvSpPr>
            <a:spLocks noGrp="1"/>
          </p:cNvSpPr>
          <p:nvPr/>
        </p:nvSpPr>
        <p:spPr>
          <a:xfrm>
            <a:off x="571500" y="4207383"/>
            <a:ext cx="3976135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conditions, target range and reference</a:t>
            </a:r>
          </a:p>
        </p:txBody>
      </p:sp>
      <p:sp>
        <p:nvSpPr>
          <p:cNvPr id="14" name="Text 8.11">
            <a:extLst>
              <a:ext uri="{FF2B5EF4-FFF2-40B4-BE49-F238E27FC236}">
                <a16:creationId xmlns:a16="http://schemas.microsoft.com/office/drawing/2014/main" id="{05A5A998-A3AB-48BD-AC0C-BB14836ACF28}"/>
              </a:ext>
            </a:extLst>
          </p:cNvPr>
          <p:cNvSpPr>
            <a:spLocks noGrp="1"/>
          </p:cNvSpPr>
          <p:nvPr/>
        </p:nvSpPr>
        <p:spPr>
          <a:xfrm>
            <a:off x="571500" y="4471416"/>
            <a:ext cx="1662846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measurements.</a:t>
            </a:r>
          </a:p>
        </p:txBody>
      </p:sp>
      <p:sp>
        <p:nvSpPr>
          <p:cNvPr id="15" name="Text 8.12">
            <a:extLst>
              <a:ext uri="{FF2B5EF4-FFF2-40B4-BE49-F238E27FC236}">
                <a16:creationId xmlns:a16="http://schemas.microsoft.com/office/drawing/2014/main" id="{87F5293A-8667-4327-AEB3-44A5A0D4F2E3}"/>
              </a:ext>
            </a:extLst>
          </p:cNvPr>
          <p:cNvSpPr>
            <a:spLocks noGrp="1"/>
          </p:cNvSpPr>
          <p:nvPr/>
        </p:nvSpPr>
        <p:spPr>
          <a:xfrm>
            <a:off x="571500" y="4924426"/>
            <a:ext cx="5525111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Next experiment: compare a compatible MIR setup on</a:t>
            </a:r>
          </a:p>
        </p:txBody>
      </p:sp>
      <p:sp>
        <p:nvSpPr>
          <p:cNvPr id="16" name="Text 8.13">
            <a:extLst>
              <a:ext uri="{FF2B5EF4-FFF2-40B4-BE49-F238E27FC236}">
                <a16:creationId xmlns:a16="http://schemas.microsoft.com/office/drawing/2014/main" id="{32CE73F7-0A99-4F9F-BC59-0B5C1618BC6D}"/>
              </a:ext>
            </a:extLst>
          </p:cNvPr>
          <p:cNvSpPr>
            <a:spLocks noGrp="1"/>
          </p:cNvSpPr>
          <p:nvPr/>
        </p:nvSpPr>
        <p:spPr>
          <a:xfrm>
            <a:off x="571500" y="5188458"/>
            <a:ext cx="5216490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representative samples before approving a remote</a:t>
            </a:r>
          </a:p>
        </p:txBody>
      </p:sp>
      <p:sp>
        <p:nvSpPr>
          <p:cNvPr id="17" name="Text 8.14">
            <a:extLst>
              <a:ext uri="{FF2B5EF4-FFF2-40B4-BE49-F238E27FC236}">
                <a16:creationId xmlns:a16="http://schemas.microsoft.com/office/drawing/2014/main" id="{539CE425-226B-4957-882C-F67F054C63B0}"/>
              </a:ext>
            </a:extLst>
          </p:cNvPr>
          <p:cNvSpPr>
            <a:spLocks noGrp="1"/>
          </p:cNvSpPr>
          <p:nvPr/>
        </p:nvSpPr>
        <p:spPr>
          <a:xfrm>
            <a:off x="571500" y="5452491"/>
            <a:ext cx="512702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link.</a:t>
            </a:r>
          </a:p>
        </p:txBody>
      </p:sp>
      <p:sp>
        <p:nvSpPr>
          <p:cNvPr id="18" name="Text 8.15">
            <a:extLst>
              <a:ext uri="{FF2B5EF4-FFF2-40B4-BE49-F238E27FC236}">
                <a16:creationId xmlns:a16="http://schemas.microsoft.com/office/drawing/2014/main" id="{744E2E76-1A36-4F8A-BD88-6F970F19590D}"/>
              </a:ext>
            </a:extLst>
          </p:cNvPr>
          <p:cNvSpPr>
            <a:spLocks noGrp="1"/>
          </p:cNvSpPr>
          <p:nvPr/>
        </p:nvSpPr>
        <p:spPr>
          <a:xfrm>
            <a:off x="6762750" y="5381625"/>
            <a:ext cx="2449439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S02 slide 6, cropped fiber transmission chart</a:t>
            </a:r>
          </a:p>
        </p:txBody>
      </p:sp>
      <p:sp>
        <p:nvSpPr>
          <p:cNvPr id="19" name="Text 8.16">
            <a:extLst>
              <a:ext uri="{FF2B5EF4-FFF2-40B4-BE49-F238E27FC236}">
                <a16:creationId xmlns:a16="http://schemas.microsoft.com/office/drawing/2014/main" id="{AFC7B8DA-459E-45A6-B003-CA9222F37442}"/>
              </a:ext>
            </a:extLst>
          </p:cNvPr>
          <p:cNvSpPr>
            <a:spLocks noGrp="1"/>
          </p:cNvSpPr>
          <p:nvPr/>
        </p:nvSpPr>
        <p:spPr>
          <a:xfrm>
            <a:off x="571500" y="5867400"/>
            <a:ext cx="9250006" cy="24574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pPr>
            <a:r>
              <a:rPr sz="1275" b="0">
                <a:solidFill>
                  <a:srgbClr val="B54B25"/>
                </a:solidFill>
                <a:latin typeface="DejaVu Sans"/>
                <a:ea typeface="DejaVu Sans"/>
                <a:cs typeface="DejaVu Sans"/>
              </a:rPr>
              <a:t>Archived H04 also flags 2/7 sourced claims verified and one unsupported number. Expert review is still required.</a:t>
            </a:r>
          </a:p>
        </p:txBody>
      </p:sp>
      <p:sp>
        <p:nvSpPr>
          <p:cNvPr id="20" name="Text 8.17">
            <a:extLst>
              <a:ext uri="{FF2B5EF4-FFF2-40B4-BE49-F238E27FC236}">
                <a16:creationId xmlns:a16="http://schemas.microsoft.com/office/drawing/2014/main" id="{0305B8AC-5F57-4178-AD89-0F985045437C}"/>
              </a:ext>
            </a:extLst>
          </p:cNvPr>
          <p:cNvSpPr>
            <a:spLocks noGrp="1"/>
          </p:cNvSpPr>
          <p:nvPr/>
        </p:nvSpPr>
        <p:spPr>
          <a:xfrm>
            <a:off x="571500" y="6391275"/>
            <a:ext cx="3564884" cy="1590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Archived H04 output. Fiber chart: art photonics, supplied S02 slide 6.</a:t>
            </a:r>
          </a:p>
        </p:txBody>
      </p:sp>
    </p:spTree>
    <p:extLst>
      <p:ext uri="{BB962C8B-B14F-4D97-AF65-F5344CB8AC3E}">
        <p14:creationId xmlns:p14="http://schemas.microsoft.com/office/powerpoint/2010/main" val="1987928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9 background or diagram 1">
            <a:extLst>
              <a:ext uri="{FF2B5EF4-FFF2-40B4-BE49-F238E27FC236}">
                <a16:creationId xmlns:a16="http://schemas.microsoft.com/office/drawing/2014/main" id="{5470E753-7116-4968-B4EA-76F62725F13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Diagram connector 2">
            <a:extLst>
              <a:ext uri="{FF2B5EF4-FFF2-40B4-BE49-F238E27FC236}">
                <a16:creationId xmlns:a16="http://schemas.microsoft.com/office/drawing/2014/main" id="{3CA9BE95-3611-4580-8672-0126ADA7A931}"/>
              </a:ext>
            </a:extLst>
          </p:cNvPr>
          <p:cNvSpPr>
            <a:spLocks noGrp="1"/>
          </p:cNvSpPr>
          <p:nvPr/>
        </p:nvSpPr>
        <p:spPr>
          <a:xfrm>
            <a:off x="552450" y="6267450"/>
            <a:ext cx="11087100" cy="9525"/>
          </a:xfrm>
          <a:custGeom>
            <a:avLst/>
            <a:gdLst/>
            <a:ahLst/>
            <a:cxnLst/>
            <a:rect l="0" t="0" r="0" b="0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9525">
            <a:solidFill>
              <a:srgbClr val="CCD8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9.1">
            <a:extLst>
              <a:ext uri="{FF2B5EF4-FFF2-40B4-BE49-F238E27FC236}">
                <a16:creationId xmlns:a16="http://schemas.microsoft.com/office/drawing/2014/main" id="{17FED5A7-FB77-4B1E-80F6-A8663E7605DD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086574" cy="179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AFS FIBERWISE</a:t>
            </a:r>
          </a:p>
        </p:txBody>
      </p:sp>
      <p:sp>
        <p:nvSpPr>
          <p:cNvPr id="4" name="Text 9.2">
            <a:extLst>
              <a:ext uri="{FF2B5EF4-FFF2-40B4-BE49-F238E27FC236}">
                <a16:creationId xmlns:a16="http://schemas.microsoft.com/office/drawing/2014/main" id="{F810FE1B-8860-4EFD-83BB-FBDD9F888C53}"/>
              </a:ext>
            </a:extLst>
          </p:cNvPr>
          <p:cNvSpPr>
            <a:spLocks noGrp="1"/>
          </p:cNvSpPr>
          <p:nvPr/>
        </p:nvSpPr>
        <p:spPr>
          <a:xfrm>
            <a:off x="8191500" y="285750"/>
            <a:ext cx="141300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JURY PRESENTATION / 09</a:t>
            </a:r>
          </a:p>
        </p:txBody>
      </p:sp>
      <p:sp>
        <p:nvSpPr>
          <p:cNvPr id="5" name="Text 9.3">
            <a:extLst>
              <a:ext uri="{FF2B5EF4-FFF2-40B4-BE49-F238E27FC236}">
                <a16:creationId xmlns:a16="http://schemas.microsoft.com/office/drawing/2014/main" id="{BD64B8E5-9DDE-4C95-B4EA-9860580DA236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7534467" cy="4991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AFS pathways follow the investigation</a:t>
            </a:r>
          </a:p>
        </p:txBody>
      </p:sp>
      <p:sp>
        <p:nvSpPr>
          <p:cNvPr id="6" name="Text 9.4">
            <a:extLst>
              <a:ext uri="{FF2B5EF4-FFF2-40B4-BE49-F238E27FC236}">
                <a16:creationId xmlns:a16="http://schemas.microsoft.com/office/drawing/2014/main" id="{9D8BB92D-3B5C-4584-AD6E-2B75E3EB3AC3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5750356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Optional pathway preferences are checked against sourced rules.</a:t>
            </a:r>
          </a:p>
        </p:txBody>
      </p:sp>
      <p:sp>
        <p:nvSpPr>
          <p:cNvPr id="7" name="Text 9.5">
            <a:extLst>
              <a:ext uri="{FF2B5EF4-FFF2-40B4-BE49-F238E27FC236}">
                <a16:creationId xmlns:a16="http://schemas.microsoft.com/office/drawing/2014/main" id="{88333C3D-0B96-40CC-AAEA-3647E4E61727}"/>
              </a:ext>
            </a:extLst>
          </p:cNvPr>
          <p:cNvSpPr>
            <a:spLocks noGrp="1"/>
          </p:cNvSpPr>
          <p:nvPr/>
        </p:nvSpPr>
        <p:spPr>
          <a:xfrm>
            <a:off x="571500" y="2028825"/>
            <a:ext cx="8633232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Lab trials establish useful features before solution selection.</a:t>
            </a:r>
          </a:p>
        </p:txBody>
      </p:sp>
      <p:sp>
        <p:nvSpPr>
          <p:cNvPr id="8" name="Text 9.6">
            <a:extLst>
              <a:ext uri="{FF2B5EF4-FFF2-40B4-BE49-F238E27FC236}">
                <a16:creationId xmlns:a16="http://schemas.microsoft.com/office/drawing/2014/main" id="{A0C3BEF6-4E87-46B3-A9C3-FCFA249181C2}"/>
              </a:ext>
            </a:extLst>
          </p:cNvPr>
          <p:cNvSpPr>
            <a:spLocks noGrp="1"/>
          </p:cNvSpPr>
          <p:nvPr/>
        </p:nvSpPr>
        <p:spPr>
          <a:xfrm>
            <a:off x="571500" y="3086100"/>
            <a:ext cx="493357" cy="7391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A</a:t>
            </a:r>
          </a:p>
        </p:txBody>
      </p:sp>
      <p:sp>
        <p:nvSpPr>
          <p:cNvPr id="9" name="Text 9.7">
            <a:extLst>
              <a:ext uri="{FF2B5EF4-FFF2-40B4-BE49-F238E27FC236}">
                <a16:creationId xmlns:a16="http://schemas.microsoft.com/office/drawing/2014/main" id="{B12C85A6-50DE-4D05-9F04-E41B2B4C5A87}"/>
              </a:ext>
            </a:extLst>
          </p:cNvPr>
          <p:cNvSpPr>
            <a:spLocks noGrp="1"/>
          </p:cNvSpPr>
          <p:nvPr/>
        </p:nvSpPr>
        <p:spPr>
          <a:xfrm>
            <a:off x="571500" y="3848100"/>
            <a:ext cx="2569483" cy="3257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Chemometric model</a:t>
            </a:r>
          </a:p>
        </p:txBody>
      </p:sp>
      <p:sp>
        <p:nvSpPr>
          <p:cNvPr id="10" name="Text 9.8">
            <a:extLst>
              <a:ext uri="{FF2B5EF4-FFF2-40B4-BE49-F238E27FC236}">
                <a16:creationId xmlns:a16="http://schemas.microsoft.com/office/drawing/2014/main" id="{5288EFF6-5EFE-4E30-BB64-2DED18E0D1BA}"/>
              </a:ext>
            </a:extLst>
          </p:cNvPr>
          <p:cNvSpPr>
            <a:spLocks noGrp="1"/>
          </p:cNvSpPr>
          <p:nvPr/>
        </p:nvSpPr>
        <p:spPr>
          <a:xfrm>
            <a:off x="571500" y="4600575"/>
            <a:ext cx="298323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Translate spectra into process</a:t>
            </a:r>
          </a:p>
        </p:txBody>
      </p:sp>
      <p:sp>
        <p:nvSpPr>
          <p:cNvPr id="11" name="Text 9.9">
            <a:extLst>
              <a:ext uri="{FF2B5EF4-FFF2-40B4-BE49-F238E27FC236}">
                <a16:creationId xmlns:a16="http://schemas.microsoft.com/office/drawing/2014/main" id="{557F1FFA-686E-442A-A62B-09280946DF41}"/>
              </a:ext>
            </a:extLst>
          </p:cNvPr>
          <p:cNvSpPr>
            <a:spLocks noGrp="1"/>
          </p:cNvSpPr>
          <p:nvPr/>
        </p:nvSpPr>
        <p:spPr>
          <a:xfrm>
            <a:off x="571500" y="4852035"/>
            <a:ext cx="3067431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measurements for automation.</a:t>
            </a:r>
          </a:p>
        </p:txBody>
      </p:sp>
      <p:sp>
        <p:nvSpPr>
          <p:cNvPr id="12" name="Text 9.10">
            <a:extLst>
              <a:ext uri="{FF2B5EF4-FFF2-40B4-BE49-F238E27FC236}">
                <a16:creationId xmlns:a16="http://schemas.microsoft.com/office/drawing/2014/main" id="{38D6BF2A-ADE8-4933-8B41-F78C352B8AC0}"/>
              </a:ext>
            </a:extLst>
          </p:cNvPr>
          <p:cNvSpPr>
            <a:spLocks noGrp="1"/>
          </p:cNvSpPr>
          <p:nvPr/>
        </p:nvSpPr>
        <p:spPr>
          <a:xfrm>
            <a:off x="4381500" y="3086100"/>
            <a:ext cx="487185" cy="7391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B</a:t>
            </a:r>
          </a:p>
        </p:txBody>
      </p:sp>
      <p:sp>
        <p:nvSpPr>
          <p:cNvPr id="13" name="Text 9.11">
            <a:extLst>
              <a:ext uri="{FF2B5EF4-FFF2-40B4-BE49-F238E27FC236}">
                <a16:creationId xmlns:a16="http://schemas.microsoft.com/office/drawing/2014/main" id="{08E845F2-00BD-4D46-8A48-4B492E3E2CAE}"/>
              </a:ext>
            </a:extLst>
          </p:cNvPr>
          <p:cNvSpPr>
            <a:spLocks noGrp="1"/>
          </p:cNvSpPr>
          <p:nvPr/>
        </p:nvSpPr>
        <p:spPr>
          <a:xfrm>
            <a:off x="4381500" y="3848100"/>
            <a:ext cx="3096796" cy="3257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Customized MSF system</a:t>
            </a:r>
          </a:p>
        </p:txBody>
      </p:sp>
      <p:sp>
        <p:nvSpPr>
          <p:cNvPr id="14" name="Text 9.12">
            <a:extLst>
              <a:ext uri="{FF2B5EF4-FFF2-40B4-BE49-F238E27FC236}">
                <a16:creationId xmlns:a16="http://schemas.microsoft.com/office/drawing/2014/main" id="{17E1B3A8-BBBB-434D-814A-778A25485300}"/>
              </a:ext>
            </a:extLst>
          </p:cNvPr>
          <p:cNvSpPr>
            <a:spLocks noGrp="1"/>
          </p:cNvSpPr>
          <p:nvPr/>
        </p:nvSpPr>
        <p:spPr>
          <a:xfrm>
            <a:off x="4381500" y="4600575"/>
            <a:ext cx="2610231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Equip the customer’s R&amp;D</a:t>
            </a:r>
          </a:p>
        </p:txBody>
      </p:sp>
      <p:sp>
        <p:nvSpPr>
          <p:cNvPr id="15" name="Text 9.13">
            <a:extLst>
              <a:ext uri="{FF2B5EF4-FFF2-40B4-BE49-F238E27FC236}">
                <a16:creationId xmlns:a16="http://schemas.microsoft.com/office/drawing/2014/main" id="{6831765E-F4E4-49F5-B271-D9E9F5F5AF92}"/>
              </a:ext>
            </a:extLst>
          </p:cNvPr>
          <p:cNvSpPr>
            <a:spLocks noGrp="1"/>
          </p:cNvSpPr>
          <p:nvPr/>
        </p:nvSpPr>
        <p:spPr>
          <a:xfrm>
            <a:off x="4381500" y="4852035"/>
            <a:ext cx="114052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laboratory.</a:t>
            </a:r>
          </a:p>
        </p:txBody>
      </p:sp>
      <p:sp>
        <p:nvSpPr>
          <p:cNvPr id="16" name="Text 9.14">
            <a:extLst>
              <a:ext uri="{FF2B5EF4-FFF2-40B4-BE49-F238E27FC236}">
                <a16:creationId xmlns:a16="http://schemas.microsoft.com/office/drawing/2014/main" id="{A32353A4-8A6D-4EE1-A407-930CEDC2939A}"/>
              </a:ext>
            </a:extLst>
          </p:cNvPr>
          <p:cNvSpPr>
            <a:spLocks noGrp="1"/>
          </p:cNvSpPr>
          <p:nvPr/>
        </p:nvSpPr>
        <p:spPr>
          <a:xfrm>
            <a:off x="8191500" y="3086100"/>
            <a:ext cx="472783" cy="73914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405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C</a:t>
            </a:r>
          </a:p>
        </p:txBody>
      </p:sp>
      <p:sp>
        <p:nvSpPr>
          <p:cNvPr id="17" name="Text 9.15">
            <a:extLst>
              <a:ext uri="{FF2B5EF4-FFF2-40B4-BE49-F238E27FC236}">
                <a16:creationId xmlns:a16="http://schemas.microsoft.com/office/drawing/2014/main" id="{6DF13BAF-D8EB-4CD6-A18A-10508DC13976}"/>
              </a:ext>
            </a:extLst>
          </p:cNvPr>
          <p:cNvSpPr>
            <a:spLocks noGrp="1"/>
          </p:cNvSpPr>
          <p:nvPr/>
        </p:nvSpPr>
        <p:spPr>
          <a:xfrm>
            <a:off x="8191500" y="3848100"/>
            <a:ext cx="3453451" cy="32575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725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Dedicated spectral sensors</a:t>
            </a:r>
          </a:p>
        </p:txBody>
      </p:sp>
      <p:sp>
        <p:nvSpPr>
          <p:cNvPr id="18" name="Text 9.16">
            <a:extLst>
              <a:ext uri="{FF2B5EF4-FFF2-40B4-BE49-F238E27FC236}">
                <a16:creationId xmlns:a16="http://schemas.microsoft.com/office/drawing/2014/main" id="{32CC5E72-DBD9-4A2A-8939-0DD1F86D84E2}"/>
              </a:ext>
            </a:extLst>
          </p:cNvPr>
          <p:cNvSpPr>
            <a:spLocks noGrp="1"/>
          </p:cNvSpPr>
          <p:nvPr/>
        </p:nvSpPr>
        <p:spPr>
          <a:xfrm>
            <a:off x="8191500" y="4600575"/>
            <a:ext cx="327031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Develop a dedicated sensor after</a:t>
            </a:r>
          </a:p>
        </p:txBody>
      </p:sp>
      <p:sp>
        <p:nvSpPr>
          <p:cNvPr id="19" name="Text 9.17">
            <a:extLst>
              <a:ext uri="{FF2B5EF4-FFF2-40B4-BE49-F238E27FC236}">
                <a16:creationId xmlns:a16="http://schemas.microsoft.com/office/drawing/2014/main" id="{80E6A757-D84B-41EB-B670-7BECF6E341B4}"/>
              </a:ext>
            </a:extLst>
          </p:cNvPr>
          <p:cNvSpPr>
            <a:spLocks noGrp="1"/>
          </p:cNvSpPr>
          <p:nvPr/>
        </p:nvSpPr>
        <p:spPr>
          <a:xfrm>
            <a:off x="8191500" y="4852035"/>
            <a:ext cx="144532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lab validation.</a:t>
            </a:r>
          </a:p>
        </p:txBody>
      </p:sp>
      <p:sp>
        <p:nvSpPr>
          <p:cNvPr id="20" name="Text 9.18">
            <a:extLst>
              <a:ext uri="{FF2B5EF4-FFF2-40B4-BE49-F238E27FC236}">
                <a16:creationId xmlns:a16="http://schemas.microsoft.com/office/drawing/2014/main" id="{21DB41CC-E9AA-40F2-A06F-DFDE24D7E8D5}"/>
              </a:ext>
            </a:extLst>
          </p:cNvPr>
          <p:cNvSpPr>
            <a:spLocks noGrp="1"/>
          </p:cNvSpPr>
          <p:nvPr/>
        </p:nvSpPr>
        <p:spPr>
          <a:xfrm>
            <a:off x="571500" y="5876925"/>
            <a:ext cx="8204376" cy="2724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4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4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A preference is context. The analysis can return “premature”, “conflicts” or “undecided”.</a:t>
            </a:r>
          </a:p>
        </p:txBody>
      </p:sp>
      <p:sp>
        <p:nvSpPr>
          <p:cNvPr id="21" name="Text 9.19">
            <a:extLst>
              <a:ext uri="{FF2B5EF4-FFF2-40B4-BE49-F238E27FC236}">
                <a16:creationId xmlns:a16="http://schemas.microsoft.com/office/drawing/2014/main" id="{48E59BAA-8F36-4263-A24C-7F7BF5A6D18C}"/>
              </a:ext>
            </a:extLst>
          </p:cNvPr>
          <p:cNvSpPr>
            <a:spLocks noGrp="1"/>
          </p:cNvSpPr>
          <p:nvPr/>
        </p:nvSpPr>
        <p:spPr>
          <a:xfrm>
            <a:off x="571500" y="6391275"/>
            <a:ext cx="4988461" cy="1590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Path definitions: S02 slide 20. Code: engine/paths.py. AFS and the customer confirm the solution.</a:t>
            </a:r>
          </a:p>
        </p:txBody>
      </p:sp>
    </p:spTree>
    <p:extLst>
      <p:ext uri="{BB962C8B-B14F-4D97-AF65-F5344CB8AC3E}">
        <p14:creationId xmlns:p14="http://schemas.microsoft.com/office/powerpoint/2010/main" val="14529073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10 background or diagram 1">
            <a:extLst>
              <a:ext uri="{FF2B5EF4-FFF2-40B4-BE49-F238E27FC236}">
                <a16:creationId xmlns:a16="http://schemas.microsoft.com/office/drawing/2014/main" id="{1127BAA9-D2F7-4BE6-8EF0-F1C0E382EF9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D37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Diagram connector 2">
            <a:extLst>
              <a:ext uri="{FF2B5EF4-FFF2-40B4-BE49-F238E27FC236}">
                <a16:creationId xmlns:a16="http://schemas.microsoft.com/office/drawing/2014/main" id="{DF0634CE-A9A3-485D-8682-2FB50C28CC85}"/>
              </a:ext>
            </a:extLst>
          </p:cNvPr>
          <p:cNvSpPr>
            <a:spLocks noGrp="1"/>
          </p:cNvSpPr>
          <p:nvPr/>
        </p:nvSpPr>
        <p:spPr>
          <a:xfrm>
            <a:off x="552450" y="6267450"/>
            <a:ext cx="11087100" cy="9525"/>
          </a:xfrm>
          <a:custGeom>
            <a:avLst/>
            <a:gdLst/>
            <a:ahLst/>
            <a:cxnLst/>
            <a:rect l="0" t="0" r="0" b="0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9525">
            <a:solidFill>
              <a:srgbClr val="42616A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0.1">
            <a:extLst>
              <a:ext uri="{FF2B5EF4-FFF2-40B4-BE49-F238E27FC236}">
                <a16:creationId xmlns:a16="http://schemas.microsoft.com/office/drawing/2014/main" id="{8C29D9C7-F52A-4AB9-BB34-1822662C76CC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086574" cy="179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F7F8F4"/>
                </a:solidFill>
                <a:latin typeface="DejaVu Sans"/>
                <a:ea typeface="DejaVu Sans"/>
                <a:cs typeface="DejaVu Sans"/>
              </a:rPr>
              <a:t>AFS FIBERWISE</a:t>
            </a:r>
          </a:p>
        </p:txBody>
      </p:sp>
      <p:sp>
        <p:nvSpPr>
          <p:cNvPr id="4" name="Text 10.2">
            <a:extLst>
              <a:ext uri="{FF2B5EF4-FFF2-40B4-BE49-F238E27FC236}">
                <a16:creationId xmlns:a16="http://schemas.microsoft.com/office/drawing/2014/main" id="{93E784DE-09E5-4112-8C8F-A06617AC1DEB}"/>
              </a:ext>
            </a:extLst>
          </p:cNvPr>
          <p:cNvSpPr>
            <a:spLocks noGrp="1"/>
          </p:cNvSpPr>
          <p:nvPr/>
        </p:nvSpPr>
        <p:spPr>
          <a:xfrm>
            <a:off x="8191500" y="285750"/>
            <a:ext cx="1413005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A5C6C8"/>
                </a:solidFill>
                <a:latin typeface="DejaVu Sans"/>
                <a:ea typeface="DejaVu Sans"/>
                <a:cs typeface="DejaVu Sans"/>
              </a:rPr>
              <a:t>JURY PRESENTATION / 10</a:t>
            </a:r>
          </a:p>
        </p:txBody>
      </p:sp>
      <p:sp>
        <p:nvSpPr>
          <p:cNvPr id="5" name="Text 10.3">
            <a:extLst>
              <a:ext uri="{FF2B5EF4-FFF2-40B4-BE49-F238E27FC236}">
                <a16:creationId xmlns:a16="http://schemas.microsoft.com/office/drawing/2014/main" id="{1FD8FB25-FEDC-4DE0-B775-DDF07C469D52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6959766" cy="4991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70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F7F8F4"/>
                </a:solidFill>
                <a:latin typeface="DejaVu Sans"/>
                <a:ea typeface="DejaVu Sans"/>
                <a:cs typeface="DejaVu Sans"/>
              </a:rPr>
              <a:t>Current limits and the expert’s role</a:t>
            </a:r>
          </a:p>
        </p:txBody>
      </p:sp>
      <p:sp>
        <p:nvSpPr>
          <p:cNvPr id="6" name="Text 10.4">
            <a:extLst>
              <a:ext uri="{FF2B5EF4-FFF2-40B4-BE49-F238E27FC236}">
                <a16:creationId xmlns:a16="http://schemas.microsoft.com/office/drawing/2014/main" id="{692ABCF3-4430-4A64-AC80-858278E55108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8009555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B8D0D1"/>
                </a:solidFill>
                <a:latin typeface="DejaVu Sans"/>
                <a:ea typeface="DejaVu Sans"/>
                <a:cs typeface="DejaVu Sans"/>
              </a:rPr>
              <a:t>The prototype structures the first decision. Real samples determine analytical performance.</a:t>
            </a:r>
          </a:p>
        </p:txBody>
      </p:sp>
      <p:sp>
        <p:nvSpPr>
          <p:cNvPr id="7" name="Text 10.5">
            <a:extLst>
              <a:ext uri="{FF2B5EF4-FFF2-40B4-BE49-F238E27FC236}">
                <a16:creationId xmlns:a16="http://schemas.microsoft.com/office/drawing/2014/main" id="{484CB99F-9A7E-46F9-85E3-B34ADF340990}"/>
              </a:ext>
            </a:extLst>
          </p:cNvPr>
          <p:cNvSpPr>
            <a:spLocks noGrp="1"/>
          </p:cNvSpPr>
          <p:nvPr/>
        </p:nvSpPr>
        <p:spPr>
          <a:xfrm>
            <a:off x="571500" y="2114550"/>
            <a:ext cx="2617604" cy="3124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rPr>
              <a:t>No measured spectra</a:t>
            </a:r>
          </a:p>
        </p:txBody>
      </p:sp>
      <p:sp>
        <p:nvSpPr>
          <p:cNvPr id="8" name="Text 10.6">
            <a:extLst>
              <a:ext uri="{FF2B5EF4-FFF2-40B4-BE49-F238E27FC236}">
                <a16:creationId xmlns:a16="http://schemas.microsoft.com/office/drawing/2014/main" id="{D3BB3960-D8B2-493E-8EBB-4F01A80B07CF}"/>
              </a:ext>
            </a:extLst>
          </p:cNvPr>
          <p:cNvSpPr>
            <a:spLocks noGrp="1"/>
          </p:cNvSpPr>
          <p:nvPr/>
        </p:nvSpPr>
        <p:spPr>
          <a:xfrm>
            <a:off x="4000500" y="2114550"/>
            <a:ext cx="6758082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rPr>
              <a:t>Accuracy and detection limits remain unproven for the customer’s</a:t>
            </a:r>
          </a:p>
        </p:txBody>
      </p:sp>
      <p:sp>
        <p:nvSpPr>
          <p:cNvPr id="9" name="Text 10.7">
            <a:extLst>
              <a:ext uri="{FF2B5EF4-FFF2-40B4-BE49-F238E27FC236}">
                <a16:creationId xmlns:a16="http://schemas.microsoft.com/office/drawing/2014/main" id="{E4C77273-025B-4018-9107-2F0EF0B820AB}"/>
              </a:ext>
            </a:extLst>
          </p:cNvPr>
          <p:cNvSpPr>
            <a:spLocks noGrp="1"/>
          </p:cNvSpPr>
          <p:nvPr/>
        </p:nvSpPr>
        <p:spPr>
          <a:xfrm>
            <a:off x="4000500" y="2378583"/>
            <a:ext cx="931955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rPr>
              <a:t>process.</a:t>
            </a:r>
          </a:p>
        </p:txBody>
      </p:sp>
      <p:sp>
        <p:nvSpPr>
          <p:cNvPr id="10" name="Text 10.8">
            <a:extLst>
              <a:ext uri="{FF2B5EF4-FFF2-40B4-BE49-F238E27FC236}">
                <a16:creationId xmlns:a16="http://schemas.microsoft.com/office/drawing/2014/main" id="{A74FBD75-BC77-4300-A443-15B316C0FC21}"/>
              </a:ext>
            </a:extLst>
          </p:cNvPr>
          <p:cNvSpPr>
            <a:spLocks noGrp="1"/>
          </p:cNvSpPr>
          <p:nvPr/>
        </p:nvSpPr>
        <p:spPr>
          <a:xfrm>
            <a:off x="571500" y="2914650"/>
            <a:ext cx="2549081" cy="3124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rPr>
              <a:t>Heuristic safeguards</a:t>
            </a:r>
          </a:p>
        </p:txBody>
      </p:sp>
      <p:sp>
        <p:nvSpPr>
          <p:cNvPr id="11" name="Text 10.9">
            <a:extLst>
              <a:ext uri="{FF2B5EF4-FFF2-40B4-BE49-F238E27FC236}">
                <a16:creationId xmlns:a16="http://schemas.microsoft.com/office/drawing/2014/main" id="{50906B5B-8C4D-4811-88D8-C7F4612B1267}"/>
              </a:ext>
            </a:extLst>
          </p:cNvPr>
          <p:cNvSpPr>
            <a:spLocks noGrp="1"/>
          </p:cNvSpPr>
          <p:nvPr/>
        </p:nvSpPr>
        <p:spPr>
          <a:xfrm>
            <a:off x="4000500" y="2914650"/>
            <a:ext cx="7612790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rPr>
              <a:t>Rule scores and confidence are design signals, not calibrated probabilities.</a:t>
            </a:r>
          </a:p>
        </p:txBody>
      </p:sp>
      <p:sp>
        <p:nvSpPr>
          <p:cNvPr id="12" name="Text 10.10">
            <a:extLst>
              <a:ext uri="{FF2B5EF4-FFF2-40B4-BE49-F238E27FC236}">
                <a16:creationId xmlns:a16="http://schemas.microsoft.com/office/drawing/2014/main" id="{E6D309DB-2943-459C-912B-D49D0666CECB}"/>
              </a:ext>
            </a:extLst>
          </p:cNvPr>
          <p:cNvSpPr>
            <a:spLocks noGrp="1"/>
          </p:cNvSpPr>
          <p:nvPr/>
        </p:nvSpPr>
        <p:spPr>
          <a:xfrm>
            <a:off x="571500" y="3714750"/>
            <a:ext cx="2835955" cy="3124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rPr>
              <a:t>Incomplete verification</a:t>
            </a:r>
          </a:p>
        </p:txBody>
      </p:sp>
      <p:sp>
        <p:nvSpPr>
          <p:cNvPr id="13" name="Text 10.11">
            <a:extLst>
              <a:ext uri="{FF2B5EF4-FFF2-40B4-BE49-F238E27FC236}">
                <a16:creationId xmlns:a16="http://schemas.microsoft.com/office/drawing/2014/main" id="{2971BA56-6BA1-490A-8878-E5EA096B064C}"/>
              </a:ext>
            </a:extLst>
          </p:cNvPr>
          <p:cNvSpPr>
            <a:spLocks noGrp="1"/>
          </p:cNvSpPr>
          <p:nvPr/>
        </p:nvSpPr>
        <p:spPr>
          <a:xfrm>
            <a:off x="4000500" y="3714750"/>
            <a:ext cx="7192935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rPr>
              <a:t>Quote checks do not prove conclusions. Citation counts cover selected</a:t>
            </a:r>
          </a:p>
        </p:txBody>
      </p:sp>
      <p:sp>
        <p:nvSpPr>
          <p:cNvPr id="14" name="Text 10.12">
            <a:extLst>
              <a:ext uri="{FF2B5EF4-FFF2-40B4-BE49-F238E27FC236}">
                <a16:creationId xmlns:a16="http://schemas.microsoft.com/office/drawing/2014/main" id="{514A4E01-1C0E-41B3-8802-C3415084A872}"/>
              </a:ext>
            </a:extLst>
          </p:cNvPr>
          <p:cNvSpPr>
            <a:spLocks noGrp="1"/>
          </p:cNvSpPr>
          <p:nvPr/>
        </p:nvSpPr>
        <p:spPr>
          <a:xfrm>
            <a:off x="4000500" y="3978783"/>
            <a:ext cx="694725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rPr>
              <a:t>fields.</a:t>
            </a:r>
          </a:p>
        </p:txBody>
      </p:sp>
      <p:sp>
        <p:nvSpPr>
          <p:cNvPr id="15" name="Text 10.13">
            <a:extLst>
              <a:ext uri="{FF2B5EF4-FFF2-40B4-BE49-F238E27FC236}">
                <a16:creationId xmlns:a16="http://schemas.microsoft.com/office/drawing/2014/main" id="{15CFB649-DFB0-46D7-BA40-740A8CBA939B}"/>
              </a:ext>
            </a:extLst>
          </p:cNvPr>
          <p:cNvSpPr>
            <a:spLocks noGrp="1"/>
          </p:cNvSpPr>
          <p:nvPr/>
        </p:nvSpPr>
        <p:spPr>
          <a:xfrm>
            <a:off x="571500" y="4514850"/>
            <a:ext cx="3211678" cy="3124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pPr>
            <a:r>
              <a:rPr sz="1650" b="1">
                <a:solidFill>
                  <a:srgbClr val="87CCC6"/>
                </a:solidFill>
                <a:latin typeface="DejaVu Sans"/>
                <a:ea typeface="DejaVu Sans"/>
                <a:cs typeface="DejaVu Sans"/>
              </a:rPr>
              <a:t>Model and service failures</a:t>
            </a:r>
          </a:p>
        </p:txBody>
      </p:sp>
      <p:sp>
        <p:nvSpPr>
          <p:cNvPr id="16" name="Text 10.14">
            <a:extLst>
              <a:ext uri="{FF2B5EF4-FFF2-40B4-BE49-F238E27FC236}">
                <a16:creationId xmlns:a16="http://schemas.microsoft.com/office/drawing/2014/main" id="{A03D3E62-A4CA-44BF-950E-4665452A83FC}"/>
              </a:ext>
            </a:extLst>
          </p:cNvPr>
          <p:cNvSpPr>
            <a:spLocks noGrp="1"/>
          </p:cNvSpPr>
          <p:nvPr/>
        </p:nvSpPr>
        <p:spPr>
          <a:xfrm>
            <a:off x="4000500" y="4514850"/>
            <a:ext cx="5770960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F7F8F4"/>
                </a:solidFill>
                <a:latin typeface="DejaVu Sans"/>
                <a:ea typeface="DejaVu Sans"/>
                <a:cs typeface="DejaVu Sans"/>
              </a:rPr>
              <a:t>Retries and labelled fallbacks help when model calls fail.</a:t>
            </a:r>
          </a:p>
        </p:txBody>
      </p:sp>
      <p:sp>
        <p:nvSpPr>
          <p:cNvPr id="17" name="Text 10.15">
            <a:extLst>
              <a:ext uri="{FF2B5EF4-FFF2-40B4-BE49-F238E27FC236}">
                <a16:creationId xmlns:a16="http://schemas.microsoft.com/office/drawing/2014/main" id="{494EA208-EDCF-482B-8FF0-09DD819638F6}"/>
              </a:ext>
            </a:extLst>
          </p:cNvPr>
          <p:cNvSpPr>
            <a:spLocks noGrp="1"/>
          </p:cNvSpPr>
          <p:nvPr/>
        </p:nvSpPr>
        <p:spPr>
          <a:xfrm>
            <a:off x="571500" y="5591175"/>
            <a:ext cx="8133722" cy="3657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95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95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95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95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95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95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95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95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95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95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950" b="1">
                <a:solidFill>
                  <a:srgbClr val="F7F8F4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F7F8F4"/>
                </a:solidFill>
                <a:latin typeface="DejaVu Sans"/>
                <a:ea typeface="DejaVu Sans"/>
                <a:cs typeface="DejaVu Sans"/>
              </a:rPr>
              <a:t>Expert review and feasibility studies guide the next step.</a:t>
            </a:r>
          </a:p>
        </p:txBody>
      </p:sp>
      <p:sp>
        <p:nvSpPr>
          <p:cNvPr id="18" name="Text 10.16">
            <a:extLst>
              <a:ext uri="{FF2B5EF4-FFF2-40B4-BE49-F238E27FC236}">
                <a16:creationId xmlns:a16="http://schemas.microsoft.com/office/drawing/2014/main" id="{E1D435C9-22E5-4EAC-BE40-5A2120AC5E05}"/>
              </a:ext>
            </a:extLst>
          </p:cNvPr>
          <p:cNvSpPr>
            <a:spLocks noGrp="1"/>
          </p:cNvSpPr>
          <p:nvPr/>
        </p:nvSpPr>
        <p:spPr>
          <a:xfrm>
            <a:off x="571500" y="6391275"/>
            <a:ext cx="697125" cy="1590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pPr>
            <a:r>
              <a: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rPr>
              <a:t>Repository: </a:t>
            </a:r>
          </a:p>
        </p:txBody>
      </p:sp>
      <p:sp>
        <p:nvSpPr>
          <p:cNvPr id="19" name="Text 10.17">
            <a:extLst>
              <a:ext uri="{FF2B5EF4-FFF2-40B4-BE49-F238E27FC236}">
                <a16:creationId xmlns:a16="http://schemas.microsoft.com/office/drawing/2014/main" id="{4DEE1C75-BD5E-4309-8E16-95C8AE544318}"/>
              </a:ext>
            </a:extLst>
          </p:cNvPr>
          <p:cNvSpPr>
            <a:spLocks noGrp="1"/>
          </p:cNvSpPr>
          <p:nvPr/>
        </p:nvSpPr>
        <p:spPr>
          <a:xfrm>
            <a:off x="1173375" y="6391275"/>
            <a:ext cx="1489824" cy="1590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788" b="0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788" b="0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788" b="0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788" b="0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788" b="0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788" b="0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788" b="0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788" b="0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788" b="0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788" b="0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788" b="0">
                <a:solidFill>
                  <a:srgbClr val="87CCC6"/>
                </a:solidFill>
                <a:latin typeface="DejaVu Sans"/>
                <a:ea typeface="DejaVu Sans"/>
                <a:cs typeface="DejaVu Sans"/>
              </a:defRPr>
            </a:pPr>
            <a:r>
              <a:rPr sz="788" b="0">
                <a:solidFill>
                  <a:srgbClr val="87CCC6"/>
                </a:solidFill>
                <a:latin typeface="DejaVu Sans"/>
                <a:ea typeface="DejaVu Sans"/>
                <a:cs typeface="DejaVu Sans"/>
              </a:rPr>
              <a:t>github.com/ght007/SchubKI</a:t>
            </a:r>
          </a:p>
        </p:txBody>
      </p:sp>
      <p:sp>
        <p:nvSpPr>
          <p:cNvPr id="20" name="Text 10.18">
            <a:extLst>
              <a:ext uri="{FF2B5EF4-FFF2-40B4-BE49-F238E27FC236}">
                <a16:creationId xmlns:a16="http://schemas.microsoft.com/office/drawing/2014/main" id="{CDC8BA48-C8C6-4F83-9CE9-5C2F3E0E8A59}"/>
              </a:ext>
            </a:extLst>
          </p:cNvPr>
          <p:cNvSpPr>
            <a:spLocks noGrp="1"/>
          </p:cNvSpPr>
          <p:nvPr/>
        </p:nvSpPr>
        <p:spPr>
          <a:xfrm>
            <a:off x="2567949" y="6391275"/>
            <a:ext cx="2556058" cy="1590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defRPr>
            </a:pPr>
            <a:r>
              <a:rPr sz="788" b="0">
                <a:solidFill>
                  <a:srgbClr val="B8D0D1"/>
                </a:solidFill>
                <a:latin typeface="DejaVu Sans"/>
                <a:ea typeface="DejaVu Sans"/>
                <a:cs typeface="DejaVu Sans"/>
              </a:rPr>
              <a:t> / Reviewed snapshot bf818a9 / 18 October 2026</a:t>
            </a:r>
          </a:p>
        </p:txBody>
      </p:sp>
    </p:spTree>
    <p:extLst>
      <p:ext uri="{BB962C8B-B14F-4D97-AF65-F5344CB8AC3E}">
        <p14:creationId xmlns:p14="http://schemas.microsoft.com/office/powerpoint/2010/main" val="14108397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11 background or diagram 1">
            <a:extLst>
              <a:ext uri="{FF2B5EF4-FFF2-40B4-BE49-F238E27FC236}">
                <a16:creationId xmlns:a16="http://schemas.microsoft.com/office/drawing/2014/main" id="{B8E50437-FEFD-4BB2-8E45-47402BDD69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Diagram connector 4">
            <a:extLst>
              <a:ext uri="{FF2B5EF4-FFF2-40B4-BE49-F238E27FC236}">
                <a16:creationId xmlns:a16="http://schemas.microsoft.com/office/drawing/2014/main" id="{34CE56BE-BBC1-490B-AA61-80431634422F}"/>
              </a:ext>
            </a:extLst>
          </p:cNvPr>
          <p:cNvSpPr>
            <a:spLocks noGrp="1"/>
          </p:cNvSpPr>
          <p:nvPr/>
        </p:nvSpPr>
        <p:spPr>
          <a:xfrm>
            <a:off x="552450" y="6267450"/>
            <a:ext cx="11087100" cy="9525"/>
          </a:xfrm>
          <a:custGeom>
            <a:avLst/>
            <a:gdLst/>
            <a:ahLst/>
            <a:cxnLst/>
            <a:rect l="0" t="0" r="0" b="0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9525">
            <a:solidFill>
              <a:srgbClr val="CCD8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1.1">
            <a:extLst>
              <a:ext uri="{FF2B5EF4-FFF2-40B4-BE49-F238E27FC236}">
                <a16:creationId xmlns:a16="http://schemas.microsoft.com/office/drawing/2014/main" id="{02EEC4F8-9E3C-48B8-BA0B-991D381E4A22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086574" cy="179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AFS FIBERWISE</a:t>
            </a:r>
          </a:p>
        </p:txBody>
      </p:sp>
      <p:sp>
        <p:nvSpPr>
          <p:cNvPr id="4" name="Text 11.2">
            <a:extLst>
              <a:ext uri="{FF2B5EF4-FFF2-40B4-BE49-F238E27FC236}">
                <a16:creationId xmlns:a16="http://schemas.microsoft.com/office/drawing/2014/main" id="{4B3077ED-2991-40A1-8D13-99B5D9128781}"/>
              </a:ext>
            </a:extLst>
          </p:cNvPr>
          <p:cNvSpPr>
            <a:spLocks noGrp="1"/>
          </p:cNvSpPr>
          <p:nvPr/>
        </p:nvSpPr>
        <p:spPr>
          <a:xfrm>
            <a:off x="8191500" y="285750"/>
            <a:ext cx="856440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APPENDIX / 11</a:t>
            </a:r>
          </a:p>
        </p:txBody>
      </p:sp>
      <p:sp>
        <p:nvSpPr>
          <p:cNvPr id="5" name="Text 11.3">
            <a:extLst>
              <a:ext uri="{FF2B5EF4-FFF2-40B4-BE49-F238E27FC236}">
                <a16:creationId xmlns:a16="http://schemas.microsoft.com/office/drawing/2014/main" id="{1F8B3882-8843-4845-A28D-99E4CF8EACE1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8167803" cy="4991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Saved-run evidence and evaluation scope</a:t>
            </a:r>
          </a:p>
        </p:txBody>
      </p:sp>
      <p:sp>
        <p:nvSpPr>
          <p:cNvPr id="6" name="Text 11.4">
            <a:extLst>
              <a:ext uri="{FF2B5EF4-FFF2-40B4-BE49-F238E27FC236}">
                <a16:creationId xmlns:a16="http://schemas.microsoft.com/office/drawing/2014/main" id="{F7003C81-6025-4992-A767-D2EE07CA8592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7400736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These are reported artifact metrics, not independently measured scientific accuracy.</a:t>
            </a:r>
          </a:p>
        </p:txBody>
      </p:sp>
      <p:sp>
        <p:nvSpPr>
          <p:cNvPr id="7" name="Text 11.5">
            <a:extLst>
              <a:ext uri="{FF2B5EF4-FFF2-40B4-BE49-F238E27FC236}">
                <a16:creationId xmlns:a16="http://schemas.microsoft.com/office/drawing/2014/main" id="{00AFBA96-651B-4115-A6A4-D2F6E313F4C1}"/>
              </a:ext>
            </a:extLst>
          </p:cNvPr>
          <p:cNvSpPr>
            <a:spLocks noGrp="1"/>
          </p:cNvSpPr>
          <p:nvPr/>
        </p:nvSpPr>
        <p:spPr>
          <a:xfrm>
            <a:off x="571500" y="4048125"/>
            <a:ext cx="4181933" cy="3390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8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What the artifacts demonstrate</a:t>
            </a:r>
          </a:p>
        </p:txBody>
      </p:sp>
      <p:sp>
        <p:nvSpPr>
          <p:cNvPr id="8" name="Text 11.6">
            <a:extLst>
              <a:ext uri="{FF2B5EF4-FFF2-40B4-BE49-F238E27FC236}">
                <a16:creationId xmlns:a16="http://schemas.microsoft.com/office/drawing/2014/main" id="{8BAFC7D2-2A48-4C4F-AFDA-6181CAFA12CB}"/>
              </a:ext>
            </a:extLst>
          </p:cNvPr>
          <p:cNvSpPr>
            <a:spLocks noGrp="1"/>
          </p:cNvSpPr>
          <p:nvPr/>
        </p:nvSpPr>
        <p:spPr>
          <a:xfrm>
            <a:off x="571500" y="4495800"/>
            <a:ext cx="5128832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H01 retains a labelled rule-based draft after a model</a:t>
            </a:r>
          </a:p>
        </p:txBody>
      </p:sp>
      <p:sp>
        <p:nvSpPr>
          <p:cNvPr id="9" name="Text 11.7">
            <a:extLst>
              <a:ext uri="{FF2B5EF4-FFF2-40B4-BE49-F238E27FC236}">
                <a16:creationId xmlns:a16="http://schemas.microsoft.com/office/drawing/2014/main" id="{02D8B43C-349D-4A4F-8C96-841E2EEC4F6E}"/>
              </a:ext>
            </a:extLst>
          </p:cNvPr>
          <p:cNvSpPr>
            <a:spLocks noGrp="1"/>
          </p:cNvSpPr>
          <p:nvPr/>
        </p:nvSpPr>
        <p:spPr>
          <a:xfrm>
            <a:off x="571500" y="4747260"/>
            <a:ext cx="4852225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failure. H04 exposes citation and numeric failures</a:t>
            </a:r>
          </a:p>
        </p:txBody>
      </p:sp>
      <p:sp>
        <p:nvSpPr>
          <p:cNvPr id="10" name="Text 11.8">
            <a:extLst>
              <a:ext uri="{FF2B5EF4-FFF2-40B4-BE49-F238E27FC236}">
                <a16:creationId xmlns:a16="http://schemas.microsoft.com/office/drawing/2014/main" id="{F9117914-173D-44A9-B3E5-88FE321A813A}"/>
              </a:ext>
            </a:extLst>
          </p:cNvPr>
          <p:cNvSpPr>
            <a:spLocks noGrp="1"/>
          </p:cNvSpPr>
          <p:nvPr/>
        </p:nvSpPr>
        <p:spPr>
          <a:xfrm>
            <a:off x="571500" y="4998720"/>
            <a:ext cx="4801362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rather than presenting a clean verification result.</a:t>
            </a:r>
          </a:p>
        </p:txBody>
      </p:sp>
      <p:sp>
        <p:nvSpPr>
          <p:cNvPr id="11" name="Text 11.9">
            <a:extLst>
              <a:ext uri="{FF2B5EF4-FFF2-40B4-BE49-F238E27FC236}">
                <a16:creationId xmlns:a16="http://schemas.microsoft.com/office/drawing/2014/main" id="{E2B3C37D-C2C5-45C7-B0D8-D67C83F70589}"/>
              </a:ext>
            </a:extLst>
          </p:cNvPr>
          <p:cNvSpPr>
            <a:spLocks noGrp="1"/>
          </p:cNvSpPr>
          <p:nvPr/>
        </p:nvSpPr>
        <p:spPr>
          <a:xfrm>
            <a:off x="6477000" y="4048125"/>
            <a:ext cx="3591687" cy="33909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800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800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800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800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800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800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800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800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800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800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800" b="1">
                <a:solidFill>
                  <a:srgbClr val="B54B25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B54B25"/>
                </a:solidFill>
                <a:latin typeface="DejaVu Sans"/>
                <a:ea typeface="DejaVu Sans"/>
                <a:cs typeface="DejaVu Sans"/>
              </a:rPr>
              <a:t>What they do not establish</a:t>
            </a:r>
          </a:p>
        </p:txBody>
      </p:sp>
      <p:sp>
        <p:nvSpPr>
          <p:cNvPr id="12" name="Text 11.10">
            <a:extLst>
              <a:ext uri="{FF2B5EF4-FFF2-40B4-BE49-F238E27FC236}">
                <a16:creationId xmlns:a16="http://schemas.microsoft.com/office/drawing/2014/main" id="{55B4F566-5D6B-4D01-B903-A08316C985BA}"/>
              </a:ext>
            </a:extLst>
          </p:cNvPr>
          <p:cNvSpPr>
            <a:spLocks noGrp="1"/>
          </p:cNvSpPr>
          <p:nvPr/>
        </p:nvSpPr>
        <p:spPr>
          <a:xfrm>
            <a:off x="6477000" y="4495800"/>
            <a:ext cx="4564762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The reviewed snapshot contains two final-case</a:t>
            </a:r>
          </a:p>
        </p:txBody>
      </p:sp>
      <p:sp>
        <p:nvSpPr>
          <p:cNvPr id="13" name="Text 11.11">
            <a:extLst>
              <a:ext uri="{FF2B5EF4-FFF2-40B4-BE49-F238E27FC236}">
                <a16:creationId xmlns:a16="http://schemas.microsoft.com/office/drawing/2014/main" id="{E1B5A07A-0A6E-4CBD-89F3-8773A4078E5C}"/>
              </a:ext>
            </a:extLst>
          </p:cNvPr>
          <p:cNvSpPr>
            <a:spLocks noGrp="1"/>
          </p:cNvSpPr>
          <p:nvPr/>
        </p:nvSpPr>
        <p:spPr>
          <a:xfrm>
            <a:off x="6477000" y="4747260"/>
            <a:ext cx="4618672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outputs and six adversarial outputs. It does not</a:t>
            </a:r>
          </a:p>
        </p:txBody>
      </p:sp>
      <p:sp>
        <p:nvSpPr>
          <p:cNvPr id="14" name="Text 11.12">
            <a:extLst>
              <a:ext uri="{FF2B5EF4-FFF2-40B4-BE49-F238E27FC236}">
                <a16:creationId xmlns:a16="http://schemas.microsoft.com/office/drawing/2014/main" id="{3D8CFD93-AFEA-45CD-A017-F6028DB5B9CC}"/>
              </a:ext>
            </a:extLst>
          </p:cNvPr>
          <p:cNvSpPr>
            <a:spLocks noGrp="1"/>
          </p:cNvSpPr>
          <p:nvPr/>
        </p:nvSpPr>
        <p:spPr>
          <a:xfrm>
            <a:off x="6477000" y="4998720"/>
            <a:ext cx="5110163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establish completion of H01-H06 or expert-validated</a:t>
            </a:r>
          </a:p>
        </p:txBody>
      </p:sp>
      <p:sp>
        <p:nvSpPr>
          <p:cNvPr id="15" name="Text 11.13">
            <a:extLst>
              <a:ext uri="{FF2B5EF4-FFF2-40B4-BE49-F238E27FC236}">
                <a16:creationId xmlns:a16="http://schemas.microsoft.com/office/drawing/2014/main" id="{FF182303-D447-4A4F-80B5-B4889765DC40}"/>
              </a:ext>
            </a:extLst>
          </p:cNvPr>
          <p:cNvSpPr>
            <a:spLocks noGrp="1"/>
          </p:cNvSpPr>
          <p:nvPr/>
        </p:nvSpPr>
        <p:spPr>
          <a:xfrm>
            <a:off x="6477000" y="5250180"/>
            <a:ext cx="137922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00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performance.</a:t>
            </a:r>
          </a:p>
        </p:txBody>
      </p:sp>
      <p:sp>
        <p:nvSpPr>
          <p:cNvPr id="16" name="Text 11.14">
            <a:extLst>
              <a:ext uri="{FF2B5EF4-FFF2-40B4-BE49-F238E27FC236}">
                <a16:creationId xmlns:a16="http://schemas.microsoft.com/office/drawing/2014/main" id="{337B1B63-DC04-4F15-B5CF-693DA8063FFD}"/>
              </a:ext>
            </a:extLst>
          </p:cNvPr>
          <p:cNvSpPr>
            <a:spLocks noGrp="1"/>
          </p:cNvSpPr>
          <p:nvPr/>
        </p:nvSpPr>
        <p:spPr>
          <a:xfrm>
            <a:off x="571500" y="6391275"/>
            <a:ext cx="6514250" cy="1590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Evidence: outputs/H01.json, H04.json and outputs/adversarial at snapshot bf818a9. H01: H1 fail / U2 warn. H04: G1 and G2 fail.</a:t>
            </a:r>
          </a:p>
        </p:txBody>
      </p:sp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DAEC677B-4A37-40FB-B114-A40D5D57B1B2}"/>
              </a:ext>
            </a:extLst>
          </p:cNvPr>
          <p:cNvGraphicFramePr/>
          <p:nvPr/>
        </p:nvGraphicFramePr>
        <p:xfrm>
          <a:off x="571500" y="2000250"/>
          <a:ext cx="11049000" cy="1762125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7375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2697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Archived run</a:t>
                      </a:r>
                    </a:p>
                  </a:txBody>
                  <a:tcPr>
                    <a:lnL w="0">
                      <a:solidFill>
                        <a:srgbClr val="CCD8D7"/>
                      </a:solidFill>
                      <a:prstDash val="solid"/>
                    </a:lnL>
                    <a:lnR w="0">
                      <a:solidFill>
                        <a:srgbClr val="CCD8D7"/>
                      </a:solidFill>
                      <a:prstDash val="solid"/>
                    </a:lnR>
                    <a:lnT w="0">
                      <a:solidFill>
                        <a:srgbClr val="CCD8D7"/>
                      </a:solidFill>
                      <a:prstDash val="solid"/>
                    </a:lnT>
                    <a:lnB w="0">
                      <a:solidFill>
                        <a:srgbClr val="CCD8D7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2697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Quality checks</a:t>
                      </a:r>
                    </a:p>
                  </a:txBody>
                  <a:tcPr>
                    <a:lnL w="0" cap="flat" cmpd="sng" algn="ctr">
                      <a:solidFill>
                        <a:srgbClr val="CCD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solidFill>
                        <a:srgbClr val="CCD8D7"/>
                      </a:solidFill>
                      <a:prstDash val="solid"/>
                    </a:lnR>
                    <a:lnT w="0">
                      <a:solidFill>
                        <a:srgbClr val="CCD8D7"/>
                      </a:solidFill>
                      <a:prstDash val="solid"/>
                    </a:lnT>
                    <a:lnB w="0">
                      <a:solidFill>
                        <a:srgbClr val="CCD8D7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2697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Sourced claims</a:t>
                      </a:r>
                    </a:p>
                  </a:txBody>
                  <a:tcPr>
                    <a:lnL w="0" cap="flat" cmpd="sng" algn="ctr">
                      <a:solidFill>
                        <a:srgbClr val="CCD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solidFill>
                        <a:srgbClr val="CCD8D7"/>
                      </a:solidFill>
                      <a:prstDash val="solid"/>
                    </a:lnR>
                    <a:lnT w="0">
                      <a:solidFill>
                        <a:srgbClr val="CCD8D7"/>
                      </a:solidFill>
                      <a:prstDash val="solid"/>
                    </a:lnT>
                    <a:lnB w="0">
                      <a:solidFill>
                        <a:srgbClr val="CCD8D7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526971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Unsupported numbers</a:t>
                      </a:r>
                    </a:p>
                  </a:txBody>
                  <a:tcPr>
                    <a:lnL w="0" cap="flat" cmpd="sng" algn="ctr">
                      <a:solidFill>
                        <a:srgbClr val="CCD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solidFill>
                        <a:srgbClr val="CCD8D7"/>
                      </a:solidFill>
                      <a:prstDash val="solid"/>
                    </a:lnR>
                    <a:lnT w="0">
                      <a:solidFill>
                        <a:srgbClr val="CCD8D7"/>
                      </a:solidFill>
                      <a:prstDash val="solid"/>
                    </a:lnT>
                    <a:lnB w="0">
                      <a:solidFill>
                        <a:srgbClr val="CCD8D7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3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H01 formulation</a:t>
                      </a:r>
                    </a:p>
                  </a:txBody>
                  <a:tcPr>
                    <a:lnL w="0">
                      <a:solidFill>
                        <a:srgbClr val="CCD8D7"/>
                      </a:solidFill>
                      <a:prstDash val="solid"/>
                    </a:lnL>
                    <a:lnR w="0">
                      <a:solidFill>
                        <a:srgbClr val="CCD8D7"/>
                      </a:solidFill>
                      <a:prstDash val="solid"/>
                    </a:lnR>
                    <a:lnT w="0" cap="flat" cmpd="sng" algn="ctr">
                      <a:solidFill>
                        <a:srgbClr val="CCD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solidFill>
                        <a:srgbClr val="CCD8D7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3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 / 16</a:t>
                      </a:r>
                    </a:p>
                  </a:txBody>
                  <a:tcPr>
                    <a:lnL w="0" cap="flat" cmpd="sng" algn="ctr">
                      <a:solidFill>
                        <a:srgbClr val="CCD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solidFill>
                        <a:srgbClr val="CCD8D7"/>
                      </a:solidFill>
                      <a:prstDash val="solid"/>
                    </a:lnR>
                    <a:lnT w="0" cap="flat" cmpd="sng" algn="ctr">
                      <a:solidFill>
                        <a:srgbClr val="CCD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solidFill>
                        <a:srgbClr val="CCD8D7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3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 / 10</a:t>
                      </a:r>
                    </a:p>
                  </a:txBody>
                  <a:tcPr>
                    <a:lnL w="0" cap="flat" cmpd="sng" algn="ctr">
                      <a:solidFill>
                        <a:srgbClr val="CCD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solidFill>
                        <a:srgbClr val="CCD8D7"/>
                      </a:solidFill>
                      <a:prstDash val="solid"/>
                    </a:lnR>
                    <a:lnT w="0" cap="flat" cmpd="sng" algn="ctr">
                      <a:solidFill>
                        <a:srgbClr val="CCD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solidFill>
                        <a:srgbClr val="CCD8D7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3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</a:p>
                  </a:txBody>
                  <a:tcPr>
                    <a:lnL w="0" cap="flat" cmpd="sng" algn="ctr">
                      <a:solidFill>
                        <a:srgbClr val="CCD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solidFill>
                        <a:srgbClr val="CCD8D7"/>
                      </a:solidFill>
                      <a:prstDash val="solid"/>
                    </a:lnR>
                    <a:lnT w="0" cap="flat" cmpd="sng" algn="ctr">
                      <a:solidFill>
                        <a:srgbClr val="CCD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solidFill>
                        <a:srgbClr val="CCD8D7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3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H04 silica / MIR</a:t>
                      </a:r>
                    </a:p>
                  </a:txBody>
                  <a:tcPr>
                    <a:lnL w="0">
                      <a:solidFill>
                        <a:srgbClr val="CCD8D7"/>
                      </a:solidFill>
                      <a:prstDash val="solid"/>
                    </a:lnL>
                    <a:lnR w="0">
                      <a:solidFill>
                        <a:srgbClr val="CCD8D7"/>
                      </a:solidFill>
                      <a:prstDash val="solid"/>
                    </a:lnR>
                    <a:lnT w="0" cap="flat" cmpd="sng" algn="ctr">
                      <a:solidFill>
                        <a:srgbClr val="CCD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solidFill>
                        <a:srgbClr val="CCD8D7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3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14 / 16</a:t>
                      </a:r>
                    </a:p>
                  </a:txBody>
                  <a:tcPr>
                    <a:lnL w="0" cap="flat" cmpd="sng" algn="ctr">
                      <a:solidFill>
                        <a:srgbClr val="CCD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solidFill>
                        <a:srgbClr val="CCD8D7"/>
                      </a:solidFill>
                      <a:prstDash val="solid"/>
                    </a:lnR>
                    <a:lnT w="0" cap="flat" cmpd="sng" algn="ctr">
                      <a:solidFill>
                        <a:srgbClr val="CCD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solidFill>
                        <a:srgbClr val="CCD8D7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3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 / 7</a:t>
                      </a:r>
                    </a:p>
                  </a:txBody>
                  <a:tcPr>
                    <a:lnL w="0" cap="flat" cmpd="sng" algn="ctr">
                      <a:solidFill>
                        <a:srgbClr val="CCD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solidFill>
                        <a:srgbClr val="CCD8D7"/>
                      </a:solidFill>
                      <a:prstDash val="solid"/>
                    </a:lnR>
                    <a:lnT w="0" cap="flat" cmpd="sng" algn="ctr">
                      <a:solidFill>
                        <a:srgbClr val="CCD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solidFill>
                        <a:srgbClr val="CCD8D7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7333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</a:p>
                  </a:txBody>
                  <a:tcPr>
                    <a:lnL w="0" cap="flat" cmpd="sng" algn="ctr">
                      <a:solidFill>
                        <a:srgbClr val="CCD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>
                      <a:solidFill>
                        <a:srgbClr val="CCD8D7"/>
                      </a:solidFill>
                      <a:prstDash val="solid"/>
                    </a:lnR>
                    <a:lnT w="0" cap="flat" cmpd="sng" algn="ctr">
                      <a:solidFill>
                        <a:srgbClr val="CCD8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>
                      <a:solidFill>
                        <a:srgbClr val="CCD8D7"/>
                      </a:solidFill>
                      <a:prstDash val="solid"/>
                    </a:lnB>
                    <a:solidFill>
                      <a:srgbClr val="F7F8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96776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lide 12 background or diagram 1">
            <a:extLst>
              <a:ext uri="{FF2B5EF4-FFF2-40B4-BE49-F238E27FC236}">
                <a16:creationId xmlns:a16="http://schemas.microsoft.com/office/drawing/2014/main" id="{7CD41AA4-E685-49D5-9F2B-50A1AE6D2F7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8F4"/>
          </a:solidFill>
          <a:ln w="0">
            <a:noFill/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Diagram connector 2">
            <a:extLst>
              <a:ext uri="{FF2B5EF4-FFF2-40B4-BE49-F238E27FC236}">
                <a16:creationId xmlns:a16="http://schemas.microsoft.com/office/drawing/2014/main" id="{C868F993-3463-412E-B223-6BF49CDB7735}"/>
              </a:ext>
            </a:extLst>
          </p:cNvPr>
          <p:cNvSpPr>
            <a:spLocks noGrp="1"/>
          </p:cNvSpPr>
          <p:nvPr/>
        </p:nvSpPr>
        <p:spPr>
          <a:xfrm>
            <a:off x="552450" y="6267450"/>
            <a:ext cx="11087100" cy="9525"/>
          </a:xfrm>
          <a:custGeom>
            <a:avLst/>
            <a:gdLst/>
            <a:ahLst/>
            <a:cxnLst/>
            <a:rect l="0" t="0" r="0" b="0"/>
            <a:pathLst>
              <a:path w="11087100" h="9525">
                <a:moveTo>
                  <a:pt x="0" y="0"/>
                </a:moveTo>
                <a:lnTo>
                  <a:pt x="11087100" y="0"/>
                </a:lnTo>
              </a:path>
            </a:pathLst>
          </a:custGeom>
          <a:noFill/>
          <a:ln w="9525">
            <a:solidFill>
              <a:srgbClr val="CCD8D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12.1">
            <a:extLst>
              <a:ext uri="{FF2B5EF4-FFF2-40B4-BE49-F238E27FC236}">
                <a16:creationId xmlns:a16="http://schemas.microsoft.com/office/drawing/2014/main" id="{BE9E6398-A04A-4307-B9C2-85112E31E741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086574" cy="1790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9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AFS FIBERWISE</a:t>
            </a:r>
          </a:p>
        </p:txBody>
      </p:sp>
      <p:sp>
        <p:nvSpPr>
          <p:cNvPr id="4" name="Text 12.2">
            <a:extLst>
              <a:ext uri="{FF2B5EF4-FFF2-40B4-BE49-F238E27FC236}">
                <a16:creationId xmlns:a16="http://schemas.microsoft.com/office/drawing/2014/main" id="{26844C4C-8DED-42B9-ACEE-826EACDFD5BD}"/>
              </a:ext>
            </a:extLst>
          </p:cNvPr>
          <p:cNvSpPr>
            <a:spLocks noGrp="1"/>
          </p:cNvSpPr>
          <p:nvPr/>
        </p:nvSpPr>
        <p:spPr>
          <a:xfrm>
            <a:off x="8191500" y="285750"/>
            <a:ext cx="856440" cy="16573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825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APPENDIX / 12</a:t>
            </a:r>
          </a:p>
        </p:txBody>
      </p:sp>
      <p:sp>
        <p:nvSpPr>
          <p:cNvPr id="5" name="Text 12.3">
            <a:extLst>
              <a:ext uri="{FF2B5EF4-FFF2-40B4-BE49-F238E27FC236}">
                <a16:creationId xmlns:a16="http://schemas.microsoft.com/office/drawing/2014/main" id="{CAAC997C-9E78-4C2B-9536-1E8BDAF50C39}"/>
              </a:ext>
            </a:extLst>
          </p:cNvPr>
          <p:cNvSpPr>
            <a:spLocks noGrp="1"/>
          </p:cNvSpPr>
          <p:nvPr/>
        </p:nvSpPr>
        <p:spPr>
          <a:xfrm>
            <a:off x="552450" y="800100"/>
            <a:ext cx="5438660" cy="4991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Sources and reproducibility</a:t>
            </a:r>
          </a:p>
        </p:txBody>
      </p:sp>
      <p:sp>
        <p:nvSpPr>
          <p:cNvPr id="6" name="Text 12.4">
            <a:extLst>
              <a:ext uri="{FF2B5EF4-FFF2-40B4-BE49-F238E27FC236}">
                <a16:creationId xmlns:a16="http://schemas.microsoft.com/office/drawing/2014/main" id="{F3C727E2-209A-4660-8083-425A2020E296}"/>
              </a:ext>
            </a:extLst>
          </p:cNvPr>
          <p:cNvSpPr>
            <a:spLocks noGrp="1"/>
          </p:cNvSpPr>
          <p:nvPr/>
        </p:nvSpPr>
        <p:spPr>
          <a:xfrm>
            <a:off x="571500" y="1362075"/>
            <a:ext cx="5577878" cy="2590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35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Public source code and traceable materials support jury review.</a:t>
            </a:r>
          </a:p>
        </p:txBody>
      </p:sp>
      <p:sp>
        <p:nvSpPr>
          <p:cNvPr id="7" name="Text 12.5">
            <a:extLst>
              <a:ext uri="{FF2B5EF4-FFF2-40B4-BE49-F238E27FC236}">
                <a16:creationId xmlns:a16="http://schemas.microsoft.com/office/drawing/2014/main" id="{C32D77D0-D524-40D4-8744-806B87CA0D80}"/>
              </a:ext>
            </a:extLst>
          </p:cNvPr>
          <p:cNvSpPr>
            <a:spLocks noGrp="1"/>
          </p:cNvSpPr>
          <p:nvPr/>
        </p:nvSpPr>
        <p:spPr>
          <a:xfrm>
            <a:off x="571500" y="2047875"/>
            <a:ext cx="180136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Implementation</a:t>
            </a:r>
          </a:p>
        </p:txBody>
      </p:sp>
      <p:sp>
        <p:nvSpPr>
          <p:cNvPr id="8" name="Text 12.6">
            <a:extLst>
              <a:ext uri="{FF2B5EF4-FFF2-40B4-BE49-F238E27FC236}">
                <a16:creationId xmlns:a16="http://schemas.microsoft.com/office/drawing/2014/main" id="{5EB32063-B877-442F-A6EF-DA97F637AE1F}"/>
              </a:ext>
            </a:extLst>
          </p:cNvPr>
          <p:cNvSpPr>
            <a:spLocks noGrp="1"/>
          </p:cNvSpPr>
          <p:nvPr/>
        </p:nvSpPr>
        <p:spPr>
          <a:xfrm>
            <a:off x="3048000" y="2047875"/>
            <a:ext cx="2884399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github.com/ght007/SchubKI</a:t>
            </a:r>
          </a:p>
        </p:txBody>
      </p:sp>
      <p:sp>
        <p:nvSpPr>
          <p:cNvPr id="9" name="Text 12.7">
            <a:extLst>
              <a:ext uri="{FF2B5EF4-FFF2-40B4-BE49-F238E27FC236}">
                <a16:creationId xmlns:a16="http://schemas.microsoft.com/office/drawing/2014/main" id="{A8675894-9BC2-428C-AEB7-909AD672D03E}"/>
              </a:ext>
            </a:extLst>
          </p:cNvPr>
          <p:cNvSpPr>
            <a:spLocks noGrp="1"/>
          </p:cNvSpPr>
          <p:nvPr/>
        </p:nvSpPr>
        <p:spPr>
          <a:xfrm>
            <a:off x="3048000" y="2311908"/>
            <a:ext cx="5156482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Snapshot bf818a9, inspected on 18 October 2026.</a:t>
            </a:r>
          </a:p>
        </p:txBody>
      </p:sp>
      <p:sp>
        <p:nvSpPr>
          <p:cNvPr id="10" name="Text 12.8">
            <a:extLst>
              <a:ext uri="{FF2B5EF4-FFF2-40B4-BE49-F238E27FC236}">
                <a16:creationId xmlns:a16="http://schemas.microsoft.com/office/drawing/2014/main" id="{249ADCE1-2F86-4860-A3C8-44D7C00C0C5F}"/>
              </a:ext>
            </a:extLst>
          </p:cNvPr>
          <p:cNvSpPr>
            <a:spLocks noGrp="1"/>
          </p:cNvSpPr>
          <p:nvPr/>
        </p:nvSpPr>
        <p:spPr>
          <a:xfrm>
            <a:off x="571500" y="2819400"/>
            <a:ext cx="1111377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Core files</a:t>
            </a:r>
          </a:p>
        </p:txBody>
      </p:sp>
      <p:sp>
        <p:nvSpPr>
          <p:cNvPr id="11" name="Text 12.9">
            <a:extLst>
              <a:ext uri="{FF2B5EF4-FFF2-40B4-BE49-F238E27FC236}">
                <a16:creationId xmlns:a16="http://schemas.microsoft.com/office/drawing/2014/main" id="{4C60FC1A-63FF-4265-B3F3-A7251E214F86}"/>
              </a:ext>
            </a:extLst>
          </p:cNvPr>
          <p:cNvSpPr>
            <a:spLocks noGrp="1"/>
          </p:cNvSpPr>
          <p:nvPr/>
        </p:nvSpPr>
        <p:spPr>
          <a:xfrm>
            <a:off x="3048000" y="2819400"/>
            <a:ext cx="5855170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engine/pipeline.py, paths.py, verify.py and confidence.py</a:t>
            </a:r>
          </a:p>
        </p:txBody>
      </p:sp>
      <p:sp>
        <p:nvSpPr>
          <p:cNvPr id="12" name="Text 12.10">
            <a:extLst>
              <a:ext uri="{FF2B5EF4-FFF2-40B4-BE49-F238E27FC236}">
                <a16:creationId xmlns:a16="http://schemas.microsoft.com/office/drawing/2014/main" id="{DA73ADAF-7CBE-497A-BB37-4AE298240753}"/>
              </a:ext>
            </a:extLst>
          </p:cNvPr>
          <p:cNvSpPr>
            <a:spLocks noGrp="1"/>
          </p:cNvSpPr>
          <p:nvPr/>
        </p:nvSpPr>
        <p:spPr>
          <a:xfrm>
            <a:off x="3048000" y="3083433"/>
            <a:ext cx="4189161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kb/retrieve.py, kb/store.py and data/kb/*</a:t>
            </a:r>
          </a:p>
        </p:txBody>
      </p:sp>
      <p:sp>
        <p:nvSpPr>
          <p:cNvPr id="13" name="Text 12.11">
            <a:extLst>
              <a:ext uri="{FF2B5EF4-FFF2-40B4-BE49-F238E27FC236}">
                <a16:creationId xmlns:a16="http://schemas.microsoft.com/office/drawing/2014/main" id="{4F05436E-80E6-4342-8FEE-FF96930084E7}"/>
              </a:ext>
            </a:extLst>
          </p:cNvPr>
          <p:cNvSpPr>
            <a:spLocks noGrp="1"/>
          </p:cNvSpPr>
          <p:nvPr/>
        </p:nvSpPr>
        <p:spPr>
          <a:xfrm>
            <a:off x="571500" y="3609975"/>
            <a:ext cx="1538288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AFS evidence</a:t>
            </a:r>
          </a:p>
        </p:txBody>
      </p:sp>
      <p:sp>
        <p:nvSpPr>
          <p:cNvPr id="14" name="Text 12.12">
            <a:extLst>
              <a:ext uri="{FF2B5EF4-FFF2-40B4-BE49-F238E27FC236}">
                <a16:creationId xmlns:a16="http://schemas.microsoft.com/office/drawing/2014/main" id="{EF9CB331-87A2-4DDE-9887-34B89702E20D}"/>
              </a:ext>
            </a:extLst>
          </p:cNvPr>
          <p:cNvSpPr>
            <a:spLocks noGrp="1"/>
          </p:cNvSpPr>
          <p:nvPr/>
        </p:nvSpPr>
        <p:spPr>
          <a:xfrm>
            <a:off x="3048000" y="3609975"/>
            <a:ext cx="5030466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S01: methods and calibration, pp.5-10 and 14-18</a:t>
            </a:r>
          </a:p>
        </p:txBody>
      </p:sp>
      <p:sp>
        <p:nvSpPr>
          <p:cNvPr id="15" name="Text 12.13">
            <a:extLst>
              <a:ext uri="{FF2B5EF4-FFF2-40B4-BE49-F238E27FC236}">
                <a16:creationId xmlns:a16="http://schemas.microsoft.com/office/drawing/2014/main" id="{9B194AFA-375C-4A0F-9008-CC71C9C52F58}"/>
              </a:ext>
            </a:extLst>
          </p:cNvPr>
          <p:cNvSpPr>
            <a:spLocks noGrp="1"/>
          </p:cNvSpPr>
          <p:nvPr/>
        </p:nvSpPr>
        <p:spPr>
          <a:xfrm>
            <a:off x="3048000" y="3874008"/>
            <a:ext cx="6519653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S02: fiber chart, slide 6; lab concept, slide 5; pathways, slide 20</a:t>
            </a:r>
          </a:p>
        </p:txBody>
      </p:sp>
      <p:sp>
        <p:nvSpPr>
          <p:cNvPr id="16" name="Text 12.14">
            <a:extLst>
              <a:ext uri="{FF2B5EF4-FFF2-40B4-BE49-F238E27FC236}">
                <a16:creationId xmlns:a16="http://schemas.microsoft.com/office/drawing/2014/main" id="{65866799-2312-4657-807A-DB7BCA208498}"/>
              </a:ext>
            </a:extLst>
          </p:cNvPr>
          <p:cNvSpPr>
            <a:spLocks noGrp="1"/>
          </p:cNvSpPr>
          <p:nvPr/>
        </p:nvSpPr>
        <p:spPr>
          <a:xfrm>
            <a:off x="571500" y="4410075"/>
            <a:ext cx="1747266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defRPr>
            </a:pPr>
            <a:r>
              <a:rPr sz="1500" b="1">
                <a:solidFill>
                  <a:srgbClr val="007D79"/>
                </a:solidFill>
                <a:latin typeface="DejaVu Sans"/>
                <a:ea typeface="DejaVu Sans"/>
                <a:cs typeface="DejaVu Sans"/>
              </a:rPr>
              <a:t>Evidence scope</a:t>
            </a:r>
          </a:p>
        </p:txBody>
      </p:sp>
      <p:sp>
        <p:nvSpPr>
          <p:cNvPr id="17" name="Text 12.15">
            <a:extLst>
              <a:ext uri="{FF2B5EF4-FFF2-40B4-BE49-F238E27FC236}">
                <a16:creationId xmlns:a16="http://schemas.microsoft.com/office/drawing/2014/main" id="{B827E3C5-E469-41DA-ABD1-DB584FBC5F18}"/>
              </a:ext>
            </a:extLst>
          </p:cNvPr>
          <p:cNvSpPr>
            <a:spLocks noGrp="1"/>
          </p:cNvSpPr>
          <p:nvPr/>
        </p:nvSpPr>
        <p:spPr>
          <a:xfrm>
            <a:off x="3048000" y="4410075"/>
            <a:ext cx="4893050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S03: LED kidney study, in-vitro proof of concept</a:t>
            </a:r>
          </a:p>
        </p:txBody>
      </p:sp>
      <p:sp>
        <p:nvSpPr>
          <p:cNvPr id="18" name="Text 12.16">
            <a:extLst>
              <a:ext uri="{FF2B5EF4-FFF2-40B4-BE49-F238E27FC236}">
                <a16:creationId xmlns:a16="http://schemas.microsoft.com/office/drawing/2014/main" id="{6476AA70-E708-41C8-9F86-048A76778436}"/>
              </a:ext>
            </a:extLst>
          </p:cNvPr>
          <p:cNvSpPr>
            <a:spLocks noGrp="1"/>
          </p:cNvSpPr>
          <p:nvPr/>
        </p:nvSpPr>
        <p:spPr>
          <a:xfrm>
            <a:off x="3048000" y="4674108"/>
            <a:ext cx="6835691" cy="2990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57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S04: combined MIR / fluorescence probe, laboratory demonstration</a:t>
            </a:r>
          </a:p>
        </p:txBody>
      </p:sp>
      <p:sp>
        <p:nvSpPr>
          <p:cNvPr id="19" name="Text 12.17">
            <a:extLst>
              <a:ext uri="{FF2B5EF4-FFF2-40B4-BE49-F238E27FC236}">
                <a16:creationId xmlns:a16="http://schemas.microsoft.com/office/drawing/2014/main" id="{3E708B2D-B9FD-458E-A4A2-308D5F257AEE}"/>
              </a:ext>
            </a:extLst>
          </p:cNvPr>
          <p:cNvSpPr>
            <a:spLocks noGrp="1"/>
          </p:cNvSpPr>
          <p:nvPr/>
        </p:nvSpPr>
        <p:spPr>
          <a:xfrm>
            <a:off x="571500" y="5372101"/>
            <a:ext cx="10871946" cy="2724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Reproduction: Python 3.12, requirements.txt, registered AFS source files, ingest and local app startup. Groq requires a</a:t>
            </a:r>
          </a:p>
        </p:txBody>
      </p:sp>
      <p:sp>
        <p:nvSpPr>
          <p:cNvPr id="20" name="Text 12.18">
            <a:extLst>
              <a:ext uri="{FF2B5EF4-FFF2-40B4-BE49-F238E27FC236}">
                <a16:creationId xmlns:a16="http://schemas.microsoft.com/office/drawing/2014/main" id="{4E4F10D2-E822-4C4E-A9AA-B6570A929C33}"/>
              </a:ext>
            </a:extLst>
          </p:cNvPr>
          <p:cNvSpPr>
            <a:spLocks noGrp="1"/>
          </p:cNvSpPr>
          <p:nvPr/>
        </p:nvSpPr>
        <p:spPr>
          <a:xfrm>
            <a:off x="571500" y="5610987"/>
            <a:ext cx="1517352" cy="27241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17333D"/>
                </a:solidFill>
                <a:latin typeface="DejaVu Sans"/>
                <a:ea typeface="DejaVu Sans"/>
                <a:cs typeface="DejaVu Sans"/>
              </a:rPr>
              <a:t>private API key.</a:t>
            </a:r>
          </a:p>
        </p:txBody>
      </p:sp>
      <p:sp>
        <p:nvSpPr>
          <p:cNvPr id="21" name="Text 12.19">
            <a:extLst>
              <a:ext uri="{FF2B5EF4-FFF2-40B4-BE49-F238E27FC236}">
                <a16:creationId xmlns:a16="http://schemas.microsoft.com/office/drawing/2014/main" id="{01F46A3F-B52F-435A-8C02-F87E428E608F}"/>
              </a:ext>
            </a:extLst>
          </p:cNvPr>
          <p:cNvSpPr>
            <a:spLocks noGrp="1"/>
          </p:cNvSpPr>
          <p:nvPr/>
        </p:nvSpPr>
        <p:spPr>
          <a:xfrm>
            <a:off x="571500" y="5943600"/>
            <a:ext cx="7587844" cy="23241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The repository README documents setup. The original AFS documents retain their owners’ rights.</a:t>
            </a:r>
          </a:p>
        </p:txBody>
      </p:sp>
      <p:sp>
        <p:nvSpPr>
          <p:cNvPr id="22" name="Text 12.20">
            <a:extLst>
              <a:ext uri="{FF2B5EF4-FFF2-40B4-BE49-F238E27FC236}">
                <a16:creationId xmlns:a16="http://schemas.microsoft.com/office/drawing/2014/main" id="{9E132B0F-7F28-49F4-BF5A-30CDA32C7A1B}"/>
              </a:ext>
            </a:extLst>
          </p:cNvPr>
          <p:cNvSpPr>
            <a:spLocks noGrp="1"/>
          </p:cNvSpPr>
          <p:nvPr/>
        </p:nvSpPr>
        <p:spPr>
          <a:xfrm>
            <a:off x="571500" y="6391275"/>
            <a:ext cx="5793363" cy="15906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0" tIns="0" rIns="0" bIns="0" anchor="t">
            <a:noAutofit/>
          </a:bodyPr>
          <a:lstStyle>
            <a:def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defPPr>
            <a:lvl1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1pPr>
            <a:lvl2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2pPr>
            <a:lvl3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3pPr>
            <a:lvl4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4pPr>
            <a:lvl5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5pPr>
            <a:lvl6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6pPr>
            <a:lvl7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7pPr>
            <a:lvl8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8pPr>
            <a:lvl9pPr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lvl9pPr>
          </a:lstStyle>
          <a:p>
            <a:pPr>
              <a:lnSpc>
                <a:spcPct val="100000"/>
              </a:lnSpc>
              <a:buNone/>
              <a:def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defRPr>
            </a:pPr>
            <a:r>
              <a:rPr sz="788" b="0">
                <a:solidFill>
                  <a:srgbClr val="526971"/>
                </a:solidFill>
                <a:latin typeface="DejaVu Sans"/>
                <a:ea typeface="DejaVu Sans"/>
                <a:cs typeface="DejaVu Sans"/>
              </a:rPr>
              <a:t>Challenge context: AI Assistant for In-line Spectroscopy Solution Design brief, pp.1-2; opening presentation, p.22.</a:t>
            </a:r>
          </a:p>
        </p:txBody>
      </p:sp>
    </p:spTree>
    <p:extLst>
      <p:ext uri="{BB962C8B-B14F-4D97-AF65-F5344CB8AC3E}">
        <p14:creationId xmlns:p14="http://schemas.microsoft.com/office/powerpoint/2010/main" val="167881461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2204</Words>
  <Application>Microsoft Office PowerPoint</Application>
  <DocSecurity>0</DocSecurity>
  <PresentationFormat>Widescreen</PresentationFormat>
  <Paragraphs>294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DejaVu Sans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Akshdeep  Singh</cp:lastModifiedBy>
  <cp:revision>1</cp:revision>
  <dcterms:created xsi:type="dcterms:W3CDTF">2026-10-18T20:25:02Z</dcterms:created>
  <dcterms:modified xsi:type="dcterms:W3CDTF">2026-10-18T20:28:11Z</dcterms:modified>
</cp:coreProperties>
</file>