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PRESENTATION TIMING: 15 seconds</a:t>
            </a:r>
          </a:p>
          <a:p/>
          <a:p>
            <a:r>
              <a:t>SPEAKER NOTES</a:t>
            </a:r>
          </a:p>
          <a:p>
            <a:r>
              <a:t>Introduce the project as an assistant for an AFS expert’s first customer discussion. Name the five contributors; do not imply individual roles that have not been supplied. The assistant supports technical screening and experiment design, rather than replacing expert judgment.</a:t>
            </a:r>
          </a:p>
          <a:p/>
          <a:p>
            <a:r>
              <a:t>SOURCES AND EVIDENCE</a:t>
            </a:r>
          </a:p>
          <a:p>
            <a:r>
              <a:t>User-provided contributor names; README introduction; challenge brief p.1. The organiser is SchubKI; no separate formal team name was supplied.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PRESENTATION TIMING: 20 seconds</a:t>
            </a:r>
          </a:p>
          <a:p/>
          <a:p>
            <a:r>
              <a:t>SPEAKER NOTES</a:t>
            </a:r>
          </a:p>
          <a:p>
            <a:r>
              <a:t>Start with the challenge’s industrial customer: the desired process variable is known, but the measurement concept is not. Explain the three outputs: clarify, propose, and design a useful first test. The displayed customer sentence is an illustrative condensation of the challenge, not a logged customer quote.</a:t>
            </a:r>
          </a:p>
          <a:p/>
          <a:p>
            <a:r>
              <a:t>SOURCES AND EVIDENCE</a:t>
            </a:r>
          </a:p>
          <a:p>
            <a:r>
              <a:t>Challenge brief pp.1–2: six requested outputs and minimal requirements. README §§1–2.</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PRESENTATION TIMING: 35 seconds</a:t>
            </a:r>
          </a:p>
          <a:p/>
          <a:p>
            <a:r>
              <a:t>SPEAKER NOTES</a:t>
            </a:r>
          </a:p>
          <a:p>
            <a:r>
              <a:t>Walk through the fixed stages without reading every box. The pipeline deliberately does not depend on an agent choosing whether to verify. Explain that Council is optional: multiple models draft and cross-judge, but deterministic gates still run. Supabase is the main database only when configured; SQLite is local storage and offline fallback. Source files and a built index remain prerequisites for a functional run.</a:t>
            </a:r>
          </a:p>
          <a:p/>
          <a:p>
            <a:r>
              <a:t>SOURCES AND EVIDENCE</a:t>
            </a:r>
          </a:p>
          <a:p>
            <a:r>
              <a:t>README §§3–8 and 21. docs/frontend-integration.md: processing, data retention, accounts. Current engine and database implementation. Older architecture.md describes a SQLite-only baseline; this slide reflects the newer conditional Supabase implementation.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PRESENTATION TIMING: 25 seconds</a:t>
            </a:r>
          </a:p>
          <a:p/>
          <a:p>
            <a:r>
              <a:t>SPEAKER NOTES</a:t>
            </a:r>
          </a:p>
          <a:p>
            <a:r>
              <a:t>Use the three counts as implementation counts, not performance claims. The repository contains 95 evidence cards and 35 rules; the quality gate defines 16 checks. Explain the hierarchy of evidence scopes. The S02 slide deck is image-based and has a curated transcription. Raw source documents must be available for ingestion and quote verification.</a:t>
            </a:r>
          </a:p>
          <a:p/>
          <a:p>
            <a:r>
              <a:t>SOURCES AND EVIDENCE</a:t>
            </a:r>
          </a:p>
          <a:p>
            <a:r>
              <a:t>Counts checked directly in current claims.jsonl and rules.yaml. README §§5–7, 21; quality.py. Source descriptions cross-checked against the supplied original presentation, pp.3–4. Original S01–S05 PDFs are not present in this cloud checkout, so source quotations were not independently reverified for this slide.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PRESENTATION TIMING: 65 seconds, including a 60-second live demo</a:t>
            </a:r>
          </a:p>
          <a:p/>
          <a:p>
            <a:r>
              <a:t>SPEAKER NOTES</a:t>
            </a:r>
          </a:p>
          <a:p>
            <a:r>
              <a:t>Live demo script (Fast mode): 0–10s enter or load H04; 10–25s show the reading dialog, the silica/MIR warning, and one follow-up question; 25–45s select Yes, assess and open the resulting recommendation; 45–60s click a citation, inspect verification and show the feasibility plan. Close/Escape returns to editing; there is no skip button. If remote model latency prevents a five-minute presentation, open the stored run and clearly identify it as a replay. Expert view adds Process Information and Coach; General has three tabs. The screenshot is a current-frontend replay using rule-based reading and the archived H04 result, not evidence of a fresh model run or of currently configured external services.</a:t>
            </a:r>
          </a:p>
          <a:p/>
          <a:p>
            <a:r>
              <a:t>SOURCES AND EVIDENCE</a:t>
            </a:r>
          </a:p>
          <a:p>
            <a:r>
              <a:t>docs/frontend-integration.md and current frontend code, feature_dialog @18e4f84. UI screenshots captured from real frontend code with fixture API responses; result data taken from outputs/H04.json.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PRESENTATION TIMING: 30 seconds</a:t>
            </a:r>
          </a:p>
          <a:p/>
          <a:p>
            <a:r>
              <a:t>SPEAKER NOTES</a:t>
            </a:r>
          </a:p>
          <a:p>
            <a:r>
              <a:t>Read the concept, then the refusal: the customer’s existing asset does not match the requested spectral region, and critical installation data is missing. This is a recommendation to investigate, not approval of an engineered system. The reference to silica and MIR is drawn from the curated AFS evidence; do not present the old model report as fully verified. Its verification defects are intentionally shown on slide 8.</a:t>
            </a:r>
          </a:p>
          <a:p/>
          <a:p>
            <a:r>
              <a:t>SOURCES AND EVIDENCE</a:t>
            </a:r>
          </a:p>
          <a:p>
            <a:r>
              <a:t>H04 exact scenario in eval/cases/final_cases.yaml. Stored outputs/H04.json, report headline and feasibility plan. S02 pp.6/9 fiber references and p.13 water-in-petroleum reference as represented in repository evidence cards; original S02 PDF was not available for a fresh page check.</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PRESENTATION TIMING: 30 seconds</a:t>
            </a:r>
          </a:p>
          <a:p/>
          <a:p>
            <a:r>
              <a:t>SPEAKER NOTES</a:t>
            </a:r>
          </a:p>
          <a:p>
            <a:r>
              <a:t>Show that the output is an experiment plan rather than a product catalog answer. Use representative samples, independent references, same-sample comparisons and success criteria agreed with the customer. The H04 archive specifically proposes water-spiked petroleum, Karl Fischer references and increasing link length. The AFS pathways are options after evidence from the lab trial; this slide does not claim that all three are already suitable for H04.</a:t>
            </a:r>
          </a:p>
          <a:p/>
          <a:p>
            <a:r>
              <a:t>SOURCES AND EVIDENCE</a:t>
            </a:r>
          </a:p>
          <a:p>
            <a:r>
              <a:t>Stored H04 report feasibility_plan and pathway. README §§5, 7, 21; S02 p.20 path descriptions in curated materials. Challenge brief requires a simple practical feasibility-study plan. No sample counts, detection limits or accuracy targets have been invented.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PRESENTATION TIMING: 30 seconds</a:t>
            </a:r>
          </a:p>
          <a:p/>
          <a:p>
            <a:r>
              <a:t>SPEAKER NOTES</a:t>
            </a:r>
          </a:p>
          <a:p>
            <a:r>
              <a:t>Make the limitations visible rather than overstating performance. The archive has an H01 run with 10/10 sourced statements counted verified and an H04 run with 2/7; both score 14/16 on the quality gate. H04 includes a nonexistent S12 citation and one unsupported number. The overall confidence is insufficient. These are stored runs dated 17 October 2026, not results of a new evaluation. The app metric counts verified/fuzzy statements. A citation check is not an expert validation of the scientific claim. Do not repeat the old deck’s claims that 60 tests passed or all 21 cases passed; those claims were not established by the available artifacts.</a:t>
            </a:r>
          </a:p>
          <a:p/>
          <a:p>
            <a:r>
              <a:t>SOURCES AND EVIDENCE</a:t>
            </a:r>
          </a:p>
          <a:p>
            <a:r>
              <a:t>Exact metrics and flag read from outputs/H01.json and outputs/H04.json. README §§7,21 explains metric definitions. Supplied old presentation p.7 provides context, but the archive values are the primary evidence.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PRESENTATION TIMING: 25 seconds</a:t>
            </a:r>
          </a:p>
          <a:p/>
          <a:p>
            <a:r>
              <a:t>SPEAKER NOTES</a:t>
            </a:r>
          </a:p>
          <a:p>
            <a:r>
              <a:t>Name the scientific and system boundaries in plain language. No laboratory spectra were supplied, so there is no defensible predictive accuracy claim. More documents do not automatically mean approved rules; experts curate them. LLM citations can still fail and runtime quotas affect latency. Near-term work is to use measured spectra and expert feedback, not to claim production or clinical readiness from a prototype.</a:t>
            </a:r>
          </a:p>
          <a:p/>
          <a:p>
            <a:r>
              <a:t>SOURCES AND EVIDENCE</a:t>
            </a:r>
          </a:p>
          <a:p>
            <a:r>
              <a:t>README §§19–21. Original presentation p.8. Current knowledge-base editor supports registered readable documents with validation/versioning; it does not remove the need for expert review.</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PRESENTATION TIMING: 15 seconds</a:t>
            </a:r>
          </a:p>
          <a:p/>
          <a:p>
            <a:r>
              <a:t>SPEAKER NOTES</a:t>
            </a:r>
          </a:p>
          <a:p>
            <a:r>
              <a:t>Thank the jury and credit every contributor exactly as supplied: Eisa Atif, Marie Habermann, Atfan Deshmukh, Akshdeep Singh, and Naumanurrahman Shaikmujeeburrahman. Do not assign roles or hierarchy. End the main presentation here. Slides 11–14 are backup slides and submission handoff material; they are not part of the five-minute talk.</a:t>
            </a:r>
          </a:p>
          <a:p/>
          <a:p>
            <a:r>
              <a:t>SOURCES AND EVIDENCE</a:t>
            </a:r>
          </a:p>
          <a:p>
            <a:r>
              <a:t>User-provided contributor names. Main-slide timings total 290 seconds, including the demo.</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PRESENTATION TIMING: Backup slide; omit from the timed talk</a:t>
            </a:r>
          </a:p>
          <a:p/>
          <a:p>
            <a:r>
              <a:t>SPEAKER NOTES</a:t>
            </a:r>
          </a:p>
          <a:p>
            <a:r>
              <a:t>Use this only for questions about alignment to the challenge. This is an evidence mapping, not a scoring result. It covers all six criteria, summing to 100%. The presentation and demo are planned to fit in the five-minute requirement.</a:t>
            </a:r>
          </a:p>
          <a:p/>
          <a:p>
            <a:r>
              <a:t>SOURCES AND EVIDENCE</a:t>
            </a:r>
          </a:p>
          <a:p>
            <a:r>
              <a:t>Official challenge brief p.2: criterion weights 30/20/15/15/10/10. Submission form pp.3–4 requires architecture, examples, feasibility plans, limitations and a prototype demonstration.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PRESENTATION TIMING: Backup slide; omit from the timed talk</a:t>
            </a:r>
          </a:p>
          <a:p/>
          <a:p>
            <a:r>
              <a:t>SPEAKER NOTES</a:t>
            </a:r>
          </a:p>
          <a:p>
            <a:r>
              <a:t>This is the current shared frontend/backend section contract. The final heading is First feasibility experiment; Setup Overview appears separately after the 11 sections in the current frontend. Feasibility lists are numbered once; pre-existing numeric markers are stripped only for display/export, without modifying stored steps.</a:t>
            </a:r>
          </a:p>
          <a:p/>
          <a:p>
            <a:r>
              <a:t>SOURCES AND EVIDENCE</a:t>
            </a:r>
          </a:p>
          <a:p>
            <a:r>
              <a:t>docs/frontend-integration.md: Result Assessment outline. backend/app/render/outline.py SECTIONS. frontend/js/components/assessment-outline.js. These supersede older README preview and prototype wording.</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PRESENTATION TIMING: Submission handoff only; omit from the timed talk</a:t>
            </a:r>
          </a:p>
          <a:p/>
          <a:p>
            <a:r>
              <a:t>SPEAKER NOTES</a:t>
            </a:r>
          </a:p>
          <a:p>
            <a:r>
              <a:t>The supplied submission form says the final deadline is 18 October 2026 at 23:59 CEST. It requires unrestricted public access to source code, the six assistant-generated H01–H06 answers, slide PDF and a maximum-five-minute video, plus every participant’s registered name/email in matching order. Missing repository access leads to disqualification; missing slides/video access scores zero for the relevant criterion. These are requirements stated in the attached form, not actions taken by this assistant. This checkout has H01/H04 JSON and Markdown outputs only; H02/H03/H05/H06 must be produced by the assistant and published. No video, public access check or form submission has been performed. Source PDFs must also be supplied to reproduce ingest; adding the three uploaded PDFs to this presentation work does not populate the application’s required S01–S05 corpus.</a:t>
            </a:r>
          </a:p>
          <a:p/>
          <a:p>
            <a:r>
              <a:t>SOURCES AND EVIDENCE</a:t>
            </a:r>
          </a:p>
          <a:p>
            <a:r>
              <a:t>Submission form pp.1–4. Filesystem inventory of outputs/ at feature_dialog @18e4f84. No output files were edited or fabricated for the submission.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PRESENTATION TIMING: Backup / reference slide</a:t>
            </a:r>
          </a:p>
          <a:p/>
          <a:p>
            <a:r>
              <a:t>SPEAKER NOTES</a:t>
            </a:r>
          </a:p>
          <a:p>
            <a:r>
              <a:t>Review methodology: all three attached PDFs were text-extracted and reviewed; the original deck was visually inspected. Repository documentation was checked against current frontend and rendering code, KB counts and stored H01/H04 results. Stale README top-level preview/four-tab wording and unsubstantiated old-deck aggregate test claims were not carried forward. UI screenshots run the actual frontend with mocked API responses: rule-only reading plus archived H04 result. Original raw S01–S05 PDFs were absent, so technical source-page statements here are attributed to the repository’s curated evidence, not a new independent page verification. The PowerPoint uses editable text/shapes with image screenshots, and includes sources and timing notes. No contributors’ emails or roles were supplied or invented.</a:t>
            </a:r>
          </a:p>
          <a:p/>
          <a:p>
            <a:r>
              <a:t>SOURCES AND EVIDENCE</a:t>
            </a:r>
          </a:p>
          <a:p>
            <a:r>
              <a:t>All sources listed on this slide. Repository URL: https://github.com/ght007/SchubKI. Source branch current at deck creation: feature_dialog @18e4f84. Main talk timings: 15+20+35+25+65+30+30+30+25+15 = 290 seconds.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hyperlink" Target="https://github.com/ght007/SchubKI"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hyperlink" Target="https://github.com/ght007/SchubKI"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C2330"/>
        </a:solidFill>
        <a:effectLst/>
      </p:bgPr>
    </p:bg>
    <p:spTree>
      <p:nvGrpSpPr>
        <p:cNvPr id="1" name=""/>
        <p:cNvGrpSpPr/>
        <p:nvPr/>
      </p:nvGrpSpPr>
      <p:grpSpPr/>
      <p:sp>
        <p:nvSpPr>
          <p:cNvPr id="2" name="Rectangle 1"/>
          <p:cNvSpPr/>
          <p:nvPr/>
        </p:nvSpPr>
        <p:spPr>
          <a:xfrm>
            <a:off x="0" y="0"/>
            <a:ext cx="1223771" cy="50292"/>
          </a:xfrm>
          <a:prstGeom prst="rect">
            <a:avLst/>
          </a:prstGeom>
          <a:solidFill>
            <a:srgbClr val="7044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19199" y="0"/>
            <a:ext cx="1223771" cy="50292"/>
          </a:xfrm>
          <a:prstGeom prst="rect">
            <a:avLst/>
          </a:prstGeom>
          <a:solidFill>
            <a:srgbClr val="5E4D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438399" y="0"/>
            <a:ext cx="1223771" cy="50292"/>
          </a:xfrm>
          <a:prstGeom prst="rect">
            <a:avLst/>
          </a:prstGeom>
          <a:solidFill>
            <a:srgbClr val="426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57599" y="0"/>
            <a:ext cx="1223771" cy="50292"/>
          </a:xfrm>
          <a:prstGeom prst="rect">
            <a:avLst/>
          </a:prstGeom>
          <a:solidFill>
            <a:srgbClr val="2886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876799" y="0"/>
            <a:ext cx="1223771" cy="50292"/>
          </a:xfrm>
          <a:prstGeom prst="rect">
            <a:avLst/>
          </a:prstGeom>
          <a:solidFill>
            <a:srgbClr val="1591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095999" y="0"/>
            <a:ext cx="1223771" cy="50292"/>
          </a:xfrm>
          <a:prstGeom prst="rect">
            <a:avLst/>
          </a:prstGeom>
          <a:solidFill>
            <a:srgbClr val="2999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199" y="0"/>
            <a:ext cx="1223771" cy="50292"/>
          </a:xfrm>
          <a:prstGeom prst="rect">
            <a:avLst/>
          </a:prstGeom>
          <a:solidFill>
            <a:srgbClr val="7DAD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534399" y="0"/>
            <a:ext cx="1223771" cy="50292"/>
          </a:xfrm>
          <a:prstGeom prst="rect">
            <a:avLst/>
          </a:prstGeom>
          <a:solidFill>
            <a:srgbClr val="C6A6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753599" y="0"/>
            <a:ext cx="1223771" cy="50292"/>
          </a:xfrm>
          <a:prstGeom prst="rect">
            <a:avLst/>
          </a:prstGeom>
          <a:solidFill>
            <a:srgbClr val="CC7B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0972799" y="0"/>
            <a:ext cx="1223771" cy="50292"/>
          </a:xfrm>
          <a:prstGeom prst="rect">
            <a:avLst/>
          </a:prstGeom>
          <a:solidFill>
            <a:srgbClr val="B84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502920"/>
            <a:ext cx="10789920" cy="292608"/>
          </a:xfrm>
          <a:prstGeom prst="rect">
            <a:avLst/>
          </a:prstGeom>
          <a:noFill/>
        </p:spPr>
        <p:txBody>
          <a:bodyPr wrap="square" lIns="0" rIns="0" tIns="0" bIns="0">
            <a:spAutoFit/>
          </a:bodyPr>
          <a:lstStyle/>
          <a:p>
            <a:pPr>
              <a:lnSpc>
                <a:spcPct val="107000"/>
              </a:lnSpc>
              <a:spcBef>
                <a:spcPts val="0"/>
              </a:spcBef>
              <a:spcAft>
                <a:spcPts val="263"/>
              </a:spcAft>
              <a:defRPr sz="1100" b="1">
                <a:solidFill>
                  <a:srgbClr val="C8DBE5"/>
                </a:solidFill>
                <a:latin typeface="Arial"/>
              </a:defRPr>
            </a:pPr>
            <a:r>
              <a:t>ART FIBER SYSTEMS CHALLENGE  /  NATIONAL AI HACKATHON 2026</a:t>
            </a:r>
          </a:p>
        </p:txBody>
      </p:sp>
      <p:sp>
        <p:nvSpPr>
          <p:cNvPr id="13" name="TextBox 12"/>
          <p:cNvSpPr txBox="1"/>
          <p:nvPr/>
        </p:nvSpPr>
        <p:spPr>
          <a:xfrm>
            <a:off x="685800" y="1234440"/>
            <a:ext cx="8229600" cy="1645920"/>
          </a:xfrm>
          <a:prstGeom prst="rect">
            <a:avLst/>
          </a:prstGeom>
          <a:noFill/>
        </p:spPr>
        <p:txBody>
          <a:bodyPr wrap="square" lIns="0" rIns="0" tIns="0" bIns="0">
            <a:spAutoFit/>
          </a:bodyPr>
          <a:lstStyle/>
          <a:p>
            <a:pPr>
              <a:lnSpc>
                <a:spcPct val="107000"/>
              </a:lnSpc>
              <a:spcBef>
                <a:spcPts val="0"/>
              </a:spcBef>
              <a:spcAft>
                <a:spcPts val="1152"/>
              </a:spcAft>
              <a:defRPr sz="4800" b="1">
                <a:solidFill>
                  <a:srgbClr val="FFFFFF"/>
                </a:solidFill>
                <a:latin typeface="Arial"/>
              </a:defRPr>
            </a:pPr>
            <a:r>
              <a:t>AFS Assessment</a:t>
            </a:r>
          </a:p>
          <a:p>
            <a:pPr>
              <a:lnSpc>
                <a:spcPct val="107000"/>
              </a:lnSpc>
              <a:spcBef>
                <a:spcPts val="0"/>
              </a:spcBef>
              <a:spcAft>
                <a:spcPts val="1152"/>
              </a:spcAft>
              <a:defRPr sz="4800" b="1">
                <a:solidFill>
                  <a:srgbClr val="FFFFFF"/>
                </a:solidFill>
                <a:latin typeface="Arial"/>
              </a:defRPr>
            </a:pPr>
            <a:r>
              <a:t>Assistant</a:t>
            </a:r>
          </a:p>
        </p:txBody>
      </p:sp>
      <p:sp>
        <p:nvSpPr>
          <p:cNvPr id="14" name="TextBox 13"/>
          <p:cNvSpPr txBox="1"/>
          <p:nvPr/>
        </p:nvSpPr>
        <p:spPr>
          <a:xfrm>
            <a:off x="713232" y="3246120"/>
            <a:ext cx="9052560" cy="914400"/>
          </a:xfrm>
          <a:prstGeom prst="rect">
            <a:avLst/>
          </a:prstGeom>
          <a:noFill/>
        </p:spPr>
        <p:txBody>
          <a:bodyPr wrap="square" lIns="0" rIns="0" tIns="0" bIns="0">
            <a:spAutoFit/>
          </a:bodyPr>
          <a:lstStyle/>
          <a:p>
            <a:pPr>
              <a:lnSpc>
                <a:spcPct val="107000"/>
              </a:lnSpc>
              <a:spcBef>
                <a:spcPts val="0"/>
              </a:spcBef>
              <a:spcAft>
                <a:spcPts val="600"/>
              </a:spcAft>
              <a:defRPr sz="2500" b="0">
                <a:solidFill>
                  <a:srgbClr val="C8DBE5"/>
                </a:solidFill>
                <a:latin typeface="Arial"/>
              </a:defRPr>
            </a:pPr>
            <a:r>
              <a:t>From a customer enquiry to a</a:t>
            </a:r>
          </a:p>
          <a:p>
            <a:pPr>
              <a:lnSpc>
                <a:spcPct val="107000"/>
              </a:lnSpc>
              <a:spcBef>
                <a:spcPts val="0"/>
              </a:spcBef>
              <a:spcAft>
                <a:spcPts val="600"/>
              </a:spcAft>
              <a:defRPr sz="2500" b="0">
                <a:solidFill>
                  <a:srgbClr val="C8DBE5"/>
                </a:solidFill>
                <a:latin typeface="Arial"/>
              </a:defRPr>
            </a:pPr>
            <a:r>
              <a:t>reviewable first feasibility experiment.</a:t>
            </a:r>
          </a:p>
        </p:txBody>
      </p:sp>
      <p:sp>
        <p:nvSpPr>
          <p:cNvPr id="15" name="Rounded Rectangle 14"/>
          <p:cNvSpPr/>
          <p:nvPr/>
        </p:nvSpPr>
        <p:spPr>
          <a:xfrm>
            <a:off x="713232" y="4599432"/>
            <a:ext cx="2423160" cy="310896"/>
          </a:xfrm>
          <a:prstGeom prst="roundRect">
            <a:avLst>
              <a:gd name="adj" fmla="val 18000"/>
            </a:avLst>
          </a:prstGeom>
          <a:solidFill>
            <a:srgbClr val="1735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04672" y="4658868"/>
            <a:ext cx="2240279" cy="192024"/>
          </a:xfrm>
          <a:prstGeom prst="rect">
            <a:avLst/>
          </a:prstGeom>
          <a:noFill/>
        </p:spPr>
        <p:txBody>
          <a:bodyPr wrap="square" lIns="0" rIns="0" tIns="0" bIns="0">
            <a:spAutoFit/>
          </a:bodyPr>
          <a:lstStyle/>
          <a:p>
            <a:pPr algn="ctr">
              <a:lnSpc>
                <a:spcPct val="107000"/>
              </a:lnSpc>
              <a:spcBef>
                <a:spcPts val="0"/>
              </a:spcBef>
              <a:spcAft>
                <a:spcPts val="263"/>
              </a:spcAft>
              <a:defRPr sz="1100" b="1">
                <a:solidFill>
                  <a:srgbClr val="C8DBE5"/>
                </a:solidFill>
                <a:latin typeface="Arial"/>
              </a:defRPr>
            </a:pPr>
            <a:r>
              <a:t>SOURCE-GROUNDED</a:t>
            </a:r>
          </a:p>
        </p:txBody>
      </p:sp>
      <p:sp>
        <p:nvSpPr>
          <p:cNvPr id="17" name="Rounded Rectangle 16"/>
          <p:cNvSpPr/>
          <p:nvPr/>
        </p:nvSpPr>
        <p:spPr>
          <a:xfrm>
            <a:off x="3273552" y="4599432"/>
            <a:ext cx="2331720" cy="310896"/>
          </a:xfrm>
          <a:prstGeom prst="roundRect">
            <a:avLst>
              <a:gd name="adj" fmla="val 18000"/>
            </a:avLst>
          </a:prstGeom>
          <a:solidFill>
            <a:srgbClr val="1735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364992" y="4658868"/>
            <a:ext cx="2148839" cy="192024"/>
          </a:xfrm>
          <a:prstGeom prst="rect">
            <a:avLst/>
          </a:prstGeom>
          <a:noFill/>
        </p:spPr>
        <p:txBody>
          <a:bodyPr wrap="square" lIns="0" rIns="0" tIns="0" bIns="0">
            <a:spAutoFit/>
          </a:bodyPr>
          <a:lstStyle/>
          <a:p>
            <a:pPr algn="ctr">
              <a:lnSpc>
                <a:spcPct val="107000"/>
              </a:lnSpc>
              <a:spcBef>
                <a:spcPts val="0"/>
              </a:spcBef>
              <a:spcAft>
                <a:spcPts val="263"/>
              </a:spcAft>
              <a:defRPr sz="1100" b="1">
                <a:solidFill>
                  <a:srgbClr val="C8DBE5"/>
                </a:solidFill>
                <a:latin typeface="Arial"/>
              </a:defRPr>
            </a:pPr>
            <a:r>
              <a:t>EXPERT-REVIEWABLE</a:t>
            </a:r>
          </a:p>
        </p:txBody>
      </p:sp>
      <p:sp>
        <p:nvSpPr>
          <p:cNvPr id="19" name="Rounded Rectangle 18"/>
          <p:cNvSpPr/>
          <p:nvPr/>
        </p:nvSpPr>
        <p:spPr>
          <a:xfrm>
            <a:off x="5742432" y="4599432"/>
            <a:ext cx="2395728" cy="310896"/>
          </a:xfrm>
          <a:prstGeom prst="roundRect">
            <a:avLst>
              <a:gd name="adj" fmla="val 18000"/>
            </a:avLst>
          </a:prstGeom>
          <a:solidFill>
            <a:srgbClr val="1735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833872" y="4658868"/>
            <a:ext cx="2212848" cy="192024"/>
          </a:xfrm>
          <a:prstGeom prst="rect">
            <a:avLst/>
          </a:prstGeom>
          <a:noFill/>
        </p:spPr>
        <p:txBody>
          <a:bodyPr wrap="square" lIns="0" rIns="0" tIns="0" bIns="0">
            <a:spAutoFit/>
          </a:bodyPr>
          <a:lstStyle/>
          <a:p>
            <a:pPr algn="ctr">
              <a:lnSpc>
                <a:spcPct val="107000"/>
              </a:lnSpc>
              <a:spcBef>
                <a:spcPts val="0"/>
              </a:spcBef>
              <a:spcAft>
                <a:spcPts val="263"/>
              </a:spcAft>
              <a:defRPr sz="1100" b="1">
                <a:solidFill>
                  <a:srgbClr val="C8DBE5"/>
                </a:solidFill>
                <a:latin typeface="Arial"/>
              </a:defRPr>
            </a:pPr>
            <a:r>
              <a:t>EXPLICIT UNCERTAINTY</a:t>
            </a:r>
          </a:p>
        </p:txBody>
      </p:sp>
      <p:cxnSp>
        <p:nvCxnSpPr>
          <p:cNvPr id="21" name="Connector 20"/>
          <p:cNvCxnSpPr/>
          <p:nvPr/>
        </p:nvCxnSpPr>
        <p:spPr>
          <a:xfrm>
            <a:off x="9144000" y="1920240"/>
            <a:ext cx="60350" cy="123828"/>
          </a:xfrm>
          <a:prstGeom prst="line">
            <a:avLst/>
          </a:prstGeom>
          <a:ln w="30480">
            <a:solidFill>
              <a:srgbClr val="7044BB"/>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9204350" y="2044068"/>
            <a:ext cx="60350" cy="120665"/>
          </a:xfrm>
          <a:prstGeom prst="line">
            <a:avLst/>
          </a:prstGeom>
          <a:ln w="30480">
            <a:solidFill>
              <a:srgbClr val="7044BB"/>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9264700" y="2164733"/>
            <a:ext cx="60351" cy="114420"/>
          </a:xfrm>
          <a:prstGeom prst="line">
            <a:avLst/>
          </a:prstGeom>
          <a:ln w="30480">
            <a:solidFill>
              <a:srgbClr val="7044BB"/>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9325051" y="2279153"/>
            <a:ext cx="60350" cy="105251"/>
          </a:xfrm>
          <a:prstGeom prst="line">
            <a:avLst/>
          </a:prstGeom>
          <a:ln w="30480">
            <a:solidFill>
              <a:srgbClr val="7044BB"/>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9385401" y="2384404"/>
            <a:ext cx="60351" cy="93393"/>
          </a:xfrm>
          <a:prstGeom prst="line">
            <a:avLst/>
          </a:prstGeom>
          <a:ln w="30480">
            <a:solidFill>
              <a:srgbClr val="7044BB"/>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9445752" y="2477797"/>
            <a:ext cx="60350" cy="79151"/>
          </a:xfrm>
          <a:prstGeom prst="line">
            <a:avLst/>
          </a:prstGeom>
          <a:ln w="30480">
            <a:solidFill>
              <a:srgbClr val="7044BB"/>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9506102" y="2556948"/>
            <a:ext cx="60350" cy="62886"/>
          </a:xfrm>
          <a:prstGeom prst="line">
            <a:avLst/>
          </a:prstGeom>
          <a:ln w="30480">
            <a:solidFill>
              <a:srgbClr val="7044BB"/>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9566452" y="2619834"/>
            <a:ext cx="60351" cy="45014"/>
          </a:xfrm>
          <a:prstGeom prst="line">
            <a:avLst/>
          </a:prstGeom>
          <a:ln w="30480">
            <a:solidFill>
              <a:srgbClr val="7044BB"/>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9626803" y="2664848"/>
            <a:ext cx="60350" cy="25993"/>
          </a:xfrm>
          <a:prstGeom prst="line">
            <a:avLst/>
          </a:prstGeom>
          <a:ln w="30480">
            <a:solidFill>
              <a:srgbClr val="7044BB"/>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9687153" y="2690841"/>
            <a:ext cx="60351" cy="6307"/>
          </a:xfrm>
          <a:prstGeom prst="line">
            <a:avLst/>
          </a:prstGeom>
          <a:ln w="30480">
            <a:solidFill>
              <a:srgbClr val="7044BB"/>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9747504" y="2683609"/>
            <a:ext cx="60350" cy="13539"/>
          </a:xfrm>
          <a:prstGeom prst="line">
            <a:avLst/>
          </a:prstGeom>
          <a:ln w="30480">
            <a:solidFill>
              <a:srgbClr val="7044BB"/>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V="1">
            <a:off x="9807854" y="2650570"/>
            <a:ext cx="60350" cy="33039"/>
          </a:xfrm>
          <a:prstGeom prst="line">
            <a:avLst/>
          </a:prstGeom>
          <a:ln w="30480">
            <a:solidFill>
              <a:srgbClr val="7044BB"/>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V="1">
            <a:off x="9868204" y="2598873"/>
            <a:ext cx="60351" cy="51697"/>
          </a:xfrm>
          <a:prstGeom prst="line">
            <a:avLst/>
          </a:prstGeom>
          <a:ln w="30480">
            <a:solidFill>
              <a:srgbClr val="7044BB"/>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V="1">
            <a:off x="9928555" y="2529841"/>
            <a:ext cx="60350" cy="69032"/>
          </a:xfrm>
          <a:prstGeom prst="line">
            <a:avLst/>
          </a:prstGeom>
          <a:ln w="30480">
            <a:solidFill>
              <a:srgbClr val="7044BB"/>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V="1">
            <a:off x="9988905" y="2445237"/>
            <a:ext cx="60351" cy="84604"/>
          </a:xfrm>
          <a:prstGeom prst="line">
            <a:avLst/>
          </a:prstGeom>
          <a:ln w="30480">
            <a:solidFill>
              <a:srgbClr val="7044BB"/>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V="1">
            <a:off x="10049256" y="2347221"/>
            <a:ext cx="60350" cy="98016"/>
          </a:xfrm>
          <a:prstGeom prst="line">
            <a:avLst/>
          </a:prstGeom>
          <a:ln w="30480">
            <a:solidFill>
              <a:srgbClr val="7044BB"/>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V="1">
            <a:off x="10109606" y="2238297"/>
            <a:ext cx="60350" cy="108924"/>
          </a:xfrm>
          <a:prstGeom prst="line">
            <a:avLst/>
          </a:prstGeom>
          <a:ln w="30480">
            <a:solidFill>
              <a:srgbClr val="7044BB"/>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10169956" y="2121249"/>
            <a:ext cx="60351" cy="117048"/>
          </a:xfrm>
          <a:prstGeom prst="line">
            <a:avLst/>
          </a:prstGeom>
          <a:ln w="30480">
            <a:solidFill>
              <a:srgbClr val="7044BB"/>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V="1">
            <a:off x="10230307" y="1999066"/>
            <a:ext cx="60350" cy="122183"/>
          </a:xfrm>
          <a:prstGeom prst="line">
            <a:avLst/>
          </a:prstGeom>
          <a:ln w="30480">
            <a:solidFill>
              <a:srgbClr val="7044BB"/>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V="1">
            <a:off x="10290657" y="1874869"/>
            <a:ext cx="60351" cy="124197"/>
          </a:xfrm>
          <a:prstGeom prst="line">
            <a:avLst/>
          </a:prstGeom>
          <a:ln w="30480">
            <a:solidFill>
              <a:srgbClr val="7044BB"/>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V="1">
            <a:off x="10351008" y="1751831"/>
            <a:ext cx="60350" cy="123038"/>
          </a:xfrm>
          <a:prstGeom prst="line">
            <a:avLst/>
          </a:prstGeom>
          <a:ln w="30480">
            <a:solidFill>
              <a:srgbClr val="7044BB"/>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V="1">
            <a:off x="10411358" y="1633095"/>
            <a:ext cx="60350" cy="118736"/>
          </a:xfrm>
          <a:prstGeom prst="line">
            <a:avLst/>
          </a:prstGeom>
          <a:ln w="30480">
            <a:solidFill>
              <a:srgbClr val="7044BB"/>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V="1">
            <a:off x="10471708" y="1521695"/>
            <a:ext cx="60351" cy="111400"/>
          </a:xfrm>
          <a:prstGeom prst="line">
            <a:avLst/>
          </a:prstGeom>
          <a:ln w="30480">
            <a:solidFill>
              <a:srgbClr val="7044BB"/>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V="1">
            <a:off x="10532059" y="1420475"/>
            <a:ext cx="60350" cy="101220"/>
          </a:xfrm>
          <a:prstGeom prst="line">
            <a:avLst/>
          </a:prstGeom>
          <a:ln w="30480">
            <a:solidFill>
              <a:srgbClr val="7044BB"/>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V="1">
            <a:off x="10592409" y="1332022"/>
            <a:ext cx="60351" cy="88453"/>
          </a:xfrm>
          <a:prstGeom prst="line">
            <a:avLst/>
          </a:prstGeom>
          <a:ln w="30480">
            <a:solidFill>
              <a:srgbClr val="7044BB"/>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V="1">
            <a:off x="10652760" y="1258596"/>
            <a:ext cx="60350" cy="73426"/>
          </a:xfrm>
          <a:prstGeom prst="line">
            <a:avLst/>
          </a:prstGeom>
          <a:ln w="30480">
            <a:solidFill>
              <a:srgbClr val="7044BB"/>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V="1">
            <a:off x="10713110" y="1202071"/>
            <a:ext cx="60350" cy="56525"/>
          </a:xfrm>
          <a:prstGeom prst="line">
            <a:avLst/>
          </a:prstGeom>
          <a:ln w="30480">
            <a:solidFill>
              <a:srgbClr val="7044BB"/>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V="1">
            <a:off x="10773460" y="1163893"/>
            <a:ext cx="60351" cy="38178"/>
          </a:xfrm>
          <a:prstGeom prst="line">
            <a:avLst/>
          </a:prstGeom>
          <a:ln w="30480">
            <a:solidFill>
              <a:srgbClr val="7044BB"/>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V="1">
            <a:off x="10833811" y="1145035"/>
            <a:ext cx="60350" cy="18858"/>
          </a:xfrm>
          <a:prstGeom prst="line">
            <a:avLst/>
          </a:prstGeom>
          <a:ln w="30480">
            <a:solidFill>
              <a:srgbClr val="7044BB"/>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10894161" y="1145035"/>
            <a:ext cx="60351" cy="946"/>
          </a:xfrm>
          <a:prstGeom prst="line">
            <a:avLst/>
          </a:prstGeom>
          <a:ln w="30480">
            <a:solidFill>
              <a:srgbClr val="7044BB"/>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10954512" y="1145981"/>
            <a:ext cx="60350" cy="20724"/>
          </a:xfrm>
          <a:prstGeom prst="line">
            <a:avLst/>
          </a:prstGeom>
          <a:ln w="30480">
            <a:solidFill>
              <a:srgbClr val="7044BB"/>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11014862" y="1166705"/>
            <a:ext cx="60350" cy="39973"/>
          </a:xfrm>
          <a:prstGeom prst="line">
            <a:avLst/>
          </a:prstGeom>
          <a:ln w="30480">
            <a:solidFill>
              <a:srgbClr val="7044BB"/>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11075212" y="1206678"/>
            <a:ext cx="60351" cy="58202"/>
          </a:xfrm>
          <a:prstGeom prst="line">
            <a:avLst/>
          </a:prstGeom>
          <a:ln w="30480">
            <a:solidFill>
              <a:srgbClr val="7044BB"/>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11135563" y="1264880"/>
            <a:ext cx="60350" cy="74944"/>
          </a:xfrm>
          <a:prstGeom prst="line">
            <a:avLst/>
          </a:prstGeom>
          <a:ln w="30480">
            <a:solidFill>
              <a:srgbClr val="7044BB"/>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9144000" y="2728943"/>
            <a:ext cx="60350" cy="92569"/>
          </a:xfrm>
          <a:prstGeom prst="line">
            <a:avLst/>
          </a:prstGeom>
          <a:ln w="30480">
            <a:solidFill>
              <a:srgbClr val="2C62C9"/>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9204350" y="2821512"/>
            <a:ext cx="60350" cy="78190"/>
          </a:xfrm>
          <a:prstGeom prst="line">
            <a:avLst/>
          </a:prstGeom>
          <a:ln w="30480">
            <a:solidFill>
              <a:srgbClr val="2C62C9"/>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9264700" y="2899702"/>
            <a:ext cx="60351" cy="61811"/>
          </a:xfrm>
          <a:prstGeom prst="line">
            <a:avLst/>
          </a:prstGeom>
          <a:ln w="30480">
            <a:solidFill>
              <a:srgbClr val="2C62C9"/>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9325051" y="2961513"/>
            <a:ext cx="60350" cy="43854"/>
          </a:xfrm>
          <a:prstGeom prst="line">
            <a:avLst/>
          </a:prstGeom>
          <a:ln w="30480">
            <a:solidFill>
              <a:srgbClr val="2C62C9"/>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9385401" y="3005367"/>
            <a:ext cx="60351" cy="24777"/>
          </a:xfrm>
          <a:prstGeom prst="line">
            <a:avLst/>
          </a:prstGeom>
          <a:ln w="30480">
            <a:solidFill>
              <a:srgbClr val="2C62C9"/>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9445752" y="3030144"/>
            <a:ext cx="60350" cy="5066"/>
          </a:xfrm>
          <a:prstGeom prst="line">
            <a:avLst/>
          </a:prstGeom>
          <a:ln w="30480">
            <a:solidFill>
              <a:srgbClr val="2C62C9"/>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V="1">
            <a:off x="9506102" y="3020437"/>
            <a:ext cx="60350" cy="14773"/>
          </a:xfrm>
          <a:prstGeom prst="line">
            <a:avLst/>
          </a:prstGeom>
          <a:ln w="30480">
            <a:solidFill>
              <a:srgbClr val="2C62C9"/>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V="1">
            <a:off x="9566452" y="2986202"/>
            <a:ext cx="60351" cy="34235"/>
          </a:xfrm>
          <a:prstGeom prst="line">
            <a:avLst/>
          </a:prstGeom>
          <a:ln w="30480">
            <a:solidFill>
              <a:srgbClr val="2C62C9"/>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V="1">
            <a:off x="9626803" y="2933379"/>
            <a:ext cx="60350" cy="52823"/>
          </a:xfrm>
          <a:prstGeom prst="line">
            <a:avLst/>
          </a:prstGeom>
          <a:ln w="30480">
            <a:solidFill>
              <a:srgbClr val="2C62C9"/>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V="1">
            <a:off x="9687153" y="2863317"/>
            <a:ext cx="60351" cy="70062"/>
          </a:xfrm>
          <a:prstGeom prst="line">
            <a:avLst/>
          </a:prstGeom>
          <a:ln w="30480">
            <a:solidFill>
              <a:srgbClr val="2C62C9"/>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V="1">
            <a:off x="9747504" y="2777807"/>
            <a:ext cx="60350" cy="85510"/>
          </a:xfrm>
          <a:prstGeom prst="line">
            <a:avLst/>
          </a:prstGeom>
          <a:ln w="30480">
            <a:solidFill>
              <a:srgbClr val="2C62C9"/>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V="1">
            <a:off x="9807854" y="2679033"/>
            <a:ext cx="60350" cy="98774"/>
          </a:xfrm>
          <a:prstGeom prst="line">
            <a:avLst/>
          </a:prstGeom>
          <a:ln w="30480">
            <a:solidFill>
              <a:srgbClr val="2C62C9"/>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V="1">
            <a:off x="9868204" y="2569518"/>
            <a:ext cx="60351" cy="109515"/>
          </a:xfrm>
          <a:prstGeom prst="line">
            <a:avLst/>
          </a:prstGeom>
          <a:ln w="30480">
            <a:solidFill>
              <a:srgbClr val="2C62C9"/>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V="1">
            <a:off x="9928555" y="2452059"/>
            <a:ext cx="60350" cy="117459"/>
          </a:xfrm>
          <a:prstGeom prst="line">
            <a:avLst/>
          </a:prstGeom>
          <a:ln w="30480">
            <a:solidFill>
              <a:srgbClr val="2C62C9"/>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V="1">
            <a:off x="9988905" y="2329657"/>
            <a:ext cx="60351" cy="122402"/>
          </a:xfrm>
          <a:prstGeom prst="line">
            <a:avLst/>
          </a:prstGeom>
          <a:ln w="30480">
            <a:solidFill>
              <a:srgbClr val="2C62C9"/>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V="1">
            <a:off x="10049256" y="2205440"/>
            <a:ext cx="60350" cy="124217"/>
          </a:xfrm>
          <a:prstGeom prst="line">
            <a:avLst/>
          </a:prstGeom>
          <a:ln w="30480">
            <a:solidFill>
              <a:srgbClr val="2C62C9"/>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V="1">
            <a:off x="10109606" y="2082580"/>
            <a:ext cx="60350" cy="122860"/>
          </a:xfrm>
          <a:prstGeom prst="line">
            <a:avLst/>
          </a:prstGeom>
          <a:ln w="30480">
            <a:solidFill>
              <a:srgbClr val="2C62C9"/>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V="1">
            <a:off x="10169956" y="1964215"/>
            <a:ext cx="60351" cy="118365"/>
          </a:xfrm>
          <a:prstGeom prst="line">
            <a:avLst/>
          </a:prstGeom>
          <a:ln w="30480">
            <a:solidFill>
              <a:srgbClr val="2C62C9"/>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V="1">
            <a:off x="10230307" y="1853370"/>
            <a:ext cx="60350" cy="110845"/>
          </a:xfrm>
          <a:prstGeom prst="line">
            <a:avLst/>
          </a:prstGeom>
          <a:ln w="30480">
            <a:solidFill>
              <a:srgbClr val="2C62C9"/>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V="1">
            <a:off x="10290657" y="1752876"/>
            <a:ext cx="60351" cy="100494"/>
          </a:xfrm>
          <a:prstGeom prst="line">
            <a:avLst/>
          </a:prstGeom>
          <a:ln w="30480">
            <a:solidFill>
              <a:srgbClr val="2C62C9"/>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V="1">
            <a:off x="10351008" y="1665299"/>
            <a:ext cx="60350" cy="87577"/>
          </a:xfrm>
          <a:prstGeom prst="line">
            <a:avLst/>
          </a:prstGeom>
          <a:ln w="30480">
            <a:solidFill>
              <a:srgbClr val="2C62C9"/>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V="1">
            <a:off x="10411358" y="1592879"/>
            <a:ext cx="60350" cy="72420"/>
          </a:xfrm>
          <a:prstGeom prst="line">
            <a:avLst/>
          </a:prstGeom>
          <a:ln w="30480">
            <a:solidFill>
              <a:srgbClr val="2C62C9"/>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V="1">
            <a:off x="10471708" y="1537463"/>
            <a:ext cx="60351" cy="55416"/>
          </a:xfrm>
          <a:prstGeom prst="line">
            <a:avLst/>
          </a:prstGeom>
          <a:ln w="30480">
            <a:solidFill>
              <a:srgbClr val="2C62C9"/>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V="1">
            <a:off x="10532059" y="1500468"/>
            <a:ext cx="60350" cy="36995"/>
          </a:xfrm>
          <a:prstGeom prst="line">
            <a:avLst/>
          </a:prstGeom>
          <a:ln w="30480">
            <a:solidFill>
              <a:srgbClr val="2C62C9"/>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V="1">
            <a:off x="10592409" y="1482840"/>
            <a:ext cx="60351" cy="17628"/>
          </a:xfrm>
          <a:prstGeom prst="line">
            <a:avLst/>
          </a:prstGeom>
          <a:ln w="30480">
            <a:solidFill>
              <a:srgbClr val="2C62C9"/>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a:off x="10652760" y="1482840"/>
            <a:ext cx="60350" cy="2187"/>
          </a:xfrm>
          <a:prstGeom prst="line">
            <a:avLst/>
          </a:prstGeom>
          <a:ln w="30480">
            <a:solidFill>
              <a:srgbClr val="2C62C9"/>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a:off x="10713110" y="1485027"/>
            <a:ext cx="60350" cy="21948"/>
          </a:xfrm>
          <a:prstGeom prst="line">
            <a:avLst/>
          </a:prstGeom>
          <a:ln w="30480">
            <a:solidFill>
              <a:srgbClr val="2C62C9"/>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a:off x="10773460" y="1506975"/>
            <a:ext cx="60351" cy="41148"/>
          </a:xfrm>
          <a:prstGeom prst="line">
            <a:avLst/>
          </a:prstGeom>
          <a:ln w="30480">
            <a:solidFill>
              <a:srgbClr val="2C62C9"/>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a:off x="10833811" y="1548123"/>
            <a:ext cx="60350" cy="59297"/>
          </a:xfrm>
          <a:prstGeom prst="line">
            <a:avLst/>
          </a:prstGeom>
          <a:ln w="30480">
            <a:solidFill>
              <a:srgbClr val="2C62C9"/>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a:off x="10894161" y="1607420"/>
            <a:ext cx="60351" cy="75930"/>
          </a:xfrm>
          <a:prstGeom prst="line">
            <a:avLst/>
          </a:prstGeom>
          <a:ln w="30480">
            <a:solidFill>
              <a:srgbClr val="2C62C9"/>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a:off x="10954512" y="1683350"/>
            <a:ext cx="60350" cy="90624"/>
          </a:xfrm>
          <a:prstGeom prst="line">
            <a:avLst/>
          </a:prstGeom>
          <a:ln w="30480">
            <a:solidFill>
              <a:srgbClr val="2C62C9"/>
            </a:solidFill>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a:off x="11014862" y="1773974"/>
            <a:ext cx="60350" cy="103004"/>
          </a:xfrm>
          <a:prstGeom prst="line">
            <a:avLst/>
          </a:prstGeom>
          <a:ln w="30480">
            <a:solidFill>
              <a:srgbClr val="2C62C9"/>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a:off x="11075212" y="1876978"/>
            <a:ext cx="60351" cy="112751"/>
          </a:xfrm>
          <a:prstGeom prst="line">
            <a:avLst/>
          </a:prstGeom>
          <a:ln w="30480">
            <a:solidFill>
              <a:srgbClr val="2C62C9"/>
            </a:solidFill>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a:off x="11135563" y="1989729"/>
            <a:ext cx="60350" cy="119619"/>
          </a:xfrm>
          <a:prstGeom prst="line">
            <a:avLst/>
          </a:prstGeom>
          <a:ln w="30480">
            <a:solidFill>
              <a:srgbClr val="2C62C9"/>
            </a:solidFill>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a:off x="9144000" y="3345811"/>
            <a:ext cx="60350" cy="23559"/>
          </a:xfrm>
          <a:prstGeom prst="line">
            <a:avLst/>
          </a:prstGeom>
          <a:ln w="30480">
            <a:solidFill>
              <a:srgbClr val="087F8C"/>
            </a:solidFill>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a:off x="9204350" y="3369370"/>
            <a:ext cx="60350" cy="3825"/>
          </a:xfrm>
          <a:prstGeom prst="line">
            <a:avLst/>
          </a:prstGeom>
          <a:ln w="30480">
            <a:solidFill>
              <a:srgbClr val="087F8C"/>
            </a:solidFill>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flipV="1">
            <a:off x="9264700" y="3357189"/>
            <a:ext cx="60351" cy="16006"/>
          </a:xfrm>
          <a:prstGeom prst="line">
            <a:avLst/>
          </a:prstGeom>
          <a:ln w="30480">
            <a:solidFill>
              <a:srgbClr val="087F8C"/>
            </a:solidFill>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flipV="1">
            <a:off x="9325051" y="3321761"/>
            <a:ext cx="60350" cy="35428"/>
          </a:xfrm>
          <a:prstGeom prst="line">
            <a:avLst/>
          </a:prstGeom>
          <a:ln w="30480">
            <a:solidFill>
              <a:srgbClr val="087F8C"/>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flipV="1">
            <a:off x="9385401" y="3267816"/>
            <a:ext cx="60351" cy="53945"/>
          </a:xfrm>
          <a:prstGeom prst="line">
            <a:avLst/>
          </a:prstGeom>
          <a:ln w="30480">
            <a:solidFill>
              <a:srgbClr val="087F8C"/>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flipV="1">
            <a:off x="9445752" y="3196733"/>
            <a:ext cx="60350" cy="71083"/>
          </a:xfrm>
          <a:prstGeom prst="line">
            <a:avLst/>
          </a:prstGeom>
          <a:ln w="30480">
            <a:solidFill>
              <a:srgbClr val="087F8C"/>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flipV="1">
            <a:off x="9506102" y="3110326"/>
            <a:ext cx="60350" cy="86407"/>
          </a:xfrm>
          <a:prstGeom prst="line">
            <a:avLst/>
          </a:prstGeom>
          <a:ln w="30480">
            <a:solidFill>
              <a:srgbClr val="087F8C"/>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V="1">
            <a:off x="9566452" y="3010803"/>
            <a:ext cx="60351" cy="99523"/>
          </a:xfrm>
          <a:prstGeom prst="line">
            <a:avLst/>
          </a:prstGeom>
          <a:ln w="30480">
            <a:solidFill>
              <a:srgbClr val="087F8C"/>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V="1">
            <a:off x="9626803" y="2900707"/>
            <a:ext cx="60350" cy="110096"/>
          </a:xfrm>
          <a:prstGeom prst="line">
            <a:avLst/>
          </a:prstGeom>
          <a:ln w="30480">
            <a:solidFill>
              <a:srgbClr val="087F8C"/>
            </a:solidFill>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V="1">
            <a:off x="9687153" y="2782850"/>
            <a:ext cx="60351" cy="117857"/>
          </a:xfrm>
          <a:prstGeom prst="line">
            <a:avLst/>
          </a:prstGeom>
          <a:ln w="30480">
            <a:solidFill>
              <a:srgbClr val="087F8C"/>
            </a:solidFill>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V="1">
            <a:off x="9747504" y="2660242"/>
            <a:ext cx="60350" cy="122608"/>
          </a:xfrm>
          <a:prstGeom prst="line">
            <a:avLst/>
          </a:prstGeom>
          <a:ln w="30480">
            <a:solidFill>
              <a:srgbClr val="087F8C"/>
            </a:solidFill>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V="1">
            <a:off x="9807854" y="2536017"/>
            <a:ext cx="60350" cy="124225"/>
          </a:xfrm>
          <a:prstGeom prst="line">
            <a:avLst/>
          </a:prstGeom>
          <a:ln w="30480">
            <a:solidFill>
              <a:srgbClr val="087F8C"/>
            </a:solidFill>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V="1">
            <a:off x="9868204" y="2413346"/>
            <a:ext cx="60351" cy="122671"/>
          </a:xfrm>
          <a:prstGeom prst="line">
            <a:avLst/>
          </a:prstGeom>
          <a:ln w="30480">
            <a:solidFill>
              <a:srgbClr val="087F8C"/>
            </a:solidFill>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V="1">
            <a:off x="9928555" y="2295365"/>
            <a:ext cx="60350" cy="117981"/>
          </a:xfrm>
          <a:prstGeom prst="line">
            <a:avLst/>
          </a:prstGeom>
          <a:ln w="30480">
            <a:solidFill>
              <a:srgbClr val="087F8C"/>
            </a:solidFill>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flipV="1">
            <a:off x="9988905" y="2185086"/>
            <a:ext cx="60351" cy="110279"/>
          </a:xfrm>
          <a:prstGeom prst="line">
            <a:avLst/>
          </a:prstGeom>
          <a:ln w="30480">
            <a:solidFill>
              <a:srgbClr val="087F8C"/>
            </a:solidFill>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flipV="1">
            <a:off x="10049256" y="2085327"/>
            <a:ext cx="60350" cy="99759"/>
          </a:xfrm>
          <a:prstGeom prst="line">
            <a:avLst/>
          </a:prstGeom>
          <a:ln w="30480">
            <a:solidFill>
              <a:srgbClr val="087F8C"/>
            </a:solidFill>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flipV="1">
            <a:off x="10109606" y="1998636"/>
            <a:ext cx="60350" cy="86691"/>
          </a:xfrm>
          <a:prstGeom prst="line">
            <a:avLst/>
          </a:prstGeom>
          <a:ln w="30480">
            <a:solidFill>
              <a:srgbClr val="087F8C"/>
            </a:solidFill>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flipV="1">
            <a:off x="10169956" y="1927228"/>
            <a:ext cx="60351" cy="71408"/>
          </a:xfrm>
          <a:prstGeom prst="line">
            <a:avLst/>
          </a:prstGeom>
          <a:ln w="30480">
            <a:solidFill>
              <a:srgbClr val="087F8C"/>
            </a:solidFill>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flipV="1">
            <a:off x="10230307" y="1872927"/>
            <a:ext cx="60350" cy="54301"/>
          </a:xfrm>
          <a:prstGeom prst="line">
            <a:avLst/>
          </a:prstGeom>
          <a:ln w="30480">
            <a:solidFill>
              <a:srgbClr val="087F8C"/>
            </a:solidFill>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flipV="1">
            <a:off x="10290657" y="1837120"/>
            <a:ext cx="60351" cy="35807"/>
          </a:xfrm>
          <a:prstGeom prst="line">
            <a:avLst/>
          </a:prstGeom>
          <a:ln w="30480">
            <a:solidFill>
              <a:srgbClr val="087F8C"/>
            </a:solidFill>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flipV="1">
            <a:off x="10351008" y="1820722"/>
            <a:ext cx="60350" cy="16398"/>
          </a:xfrm>
          <a:prstGeom prst="line">
            <a:avLst/>
          </a:prstGeom>
          <a:ln w="30480">
            <a:solidFill>
              <a:srgbClr val="087F8C"/>
            </a:solidFill>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a:off x="10411358" y="1820722"/>
            <a:ext cx="60350" cy="3429"/>
          </a:xfrm>
          <a:prstGeom prst="line">
            <a:avLst/>
          </a:prstGeom>
          <a:ln w="30480">
            <a:solidFill>
              <a:srgbClr val="087F8C"/>
            </a:solidFill>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a:off x="10471708" y="1824151"/>
            <a:ext cx="60351" cy="23170"/>
          </a:xfrm>
          <a:prstGeom prst="line">
            <a:avLst/>
          </a:prstGeom>
          <a:ln w="30480">
            <a:solidFill>
              <a:srgbClr val="087F8C"/>
            </a:solidFill>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a:off x="10532059" y="1847321"/>
            <a:ext cx="60350" cy="42318"/>
          </a:xfrm>
          <a:prstGeom prst="line">
            <a:avLst/>
          </a:prstGeom>
          <a:ln w="30480">
            <a:solidFill>
              <a:srgbClr val="087F8C"/>
            </a:solidFill>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a:off x="10592409" y="1889639"/>
            <a:ext cx="60351" cy="60385"/>
          </a:xfrm>
          <a:prstGeom prst="line">
            <a:avLst/>
          </a:prstGeom>
          <a:ln w="30480">
            <a:solidFill>
              <a:srgbClr val="087F8C"/>
            </a:solidFill>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a:off x="10652760" y="1950024"/>
            <a:ext cx="60350" cy="76910"/>
          </a:xfrm>
          <a:prstGeom prst="line">
            <a:avLst/>
          </a:prstGeom>
          <a:ln w="30480">
            <a:solidFill>
              <a:srgbClr val="087F8C"/>
            </a:solidFill>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a:off x="10713110" y="2026934"/>
            <a:ext cx="60350" cy="91469"/>
          </a:xfrm>
          <a:prstGeom prst="line">
            <a:avLst/>
          </a:prstGeom>
          <a:ln w="30480">
            <a:solidFill>
              <a:srgbClr val="087F8C"/>
            </a:solidFill>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a:off x="10773460" y="2118403"/>
            <a:ext cx="60351" cy="103693"/>
          </a:xfrm>
          <a:prstGeom prst="line">
            <a:avLst/>
          </a:prstGeom>
          <a:ln w="30480">
            <a:solidFill>
              <a:srgbClr val="087F8C"/>
            </a:solidFill>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a:off x="10833811" y="2222096"/>
            <a:ext cx="60350" cy="113267"/>
          </a:xfrm>
          <a:prstGeom prst="line">
            <a:avLst/>
          </a:prstGeom>
          <a:ln w="30480">
            <a:solidFill>
              <a:srgbClr val="087F8C"/>
            </a:solidFill>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a:off x="10894161" y="2335363"/>
            <a:ext cx="60351" cy="119949"/>
          </a:xfrm>
          <a:prstGeom prst="line">
            <a:avLst/>
          </a:prstGeom>
          <a:ln w="30480">
            <a:solidFill>
              <a:srgbClr val="087F8C"/>
            </a:solidFill>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a:off x="10954512" y="2455312"/>
            <a:ext cx="60350" cy="123565"/>
          </a:xfrm>
          <a:prstGeom prst="line">
            <a:avLst/>
          </a:prstGeom>
          <a:ln w="30480">
            <a:solidFill>
              <a:srgbClr val="087F8C"/>
            </a:solidFill>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a:off x="11014862" y="2578877"/>
            <a:ext cx="60350" cy="124025"/>
          </a:xfrm>
          <a:prstGeom prst="line">
            <a:avLst/>
          </a:prstGeom>
          <a:ln w="30480">
            <a:solidFill>
              <a:srgbClr val="087F8C"/>
            </a:solidFill>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a:off x="11075212" y="2702902"/>
            <a:ext cx="60351" cy="121317"/>
          </a:xfrm>
          <a:prstGeom prst="line">
            <a:avLst/>
          </a:prstGeom>
          <a:ln w="30480">
            <a:solidFill>
              <a:srgbClr val="087F8C"/>
            </a:solidFill>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a:off x="11135563" y="2824219"/>
            <a:ext cx="60350" cy="115511"/>
          </a:xfrm>
          <a:prstGeom prst="line">
            <a:avLst/>
          </a:prstGeom>
          <a:ln w="30480">
            <a:solidFill>
              <a:srgbClr val="087F8C"/>
            </a:solidFill>
          </a:ln>
        </p:spPr>
        <p:style>
          <a:lnRef idx="2">
            <a:schemeClr val="accent1"/>
          </a:lnRef>
          <a:fillRef idx="0">
            <a:schemeClr val="accent1"/>
          </a:fillRef>
          <a:effectRef idx="1">
            <a:schemeClr val="accent1"/>
          </a:effectRef>
          <a:fontRef idx="minor">
            <a:schemeClr val="tx1"/>
          </a:fontRef>
        </p:style>
      </p:cxnSp>
      <p:sp>
        <p:nvSpPr>
          <p:cNvPr id="123" name="TextBox 122"/>
          <p:cNvSpPr txBox="1"/>
          <p:nvPr/>
        </p:nvSpPr>
        <p:spPr>
          <a:xfrm>
            <a:off x="713232" y="5349240"/>
            <a:ext cx="10698480" cy="219456"/>
          </a:xfrm>
          <a:prstGeom prst="rect">
            <a:avLst/>
          </a:prstGeom>
          <a:noFill/>
        </p:spPr>
        <p:txBody>
          <a:bodyPr wrap="square" lIns="0" rIns="0" tIns="0" bIns="0">
            <a:spAutoFit/>
          </a:bodyPr>
          <a:lstStyle/>
          <a:p>
            <a:pPr>
              <a:lnSpc>
                <a:spcPct val="107000"/>
              </a:lnSpc>
              <a:spcBef>
                <a:spcPts val="0"/>
              </a:spcBef>
              <a:spcAft>
                <a:spcPts val="240"/>
              </a:spcAft>
              <a:defRPr sz="1000" b="1">
                <a:solidFill>
                  <a:srgbClr val="C8DBE5"/>
                </a:solidFill>
                <a:latin typeface="Arial"/>
              </a:defRPr>
            </a:pPr>
            <a:r>
              <a:t>PROJECT TEAM</a:t>
            </a:r>
          </a:p>
        </p:txBody>
      </p:sp>
      <p:sp>
        <p:nvSpPr>
          <p:cNvPr id="124" name="TextBox 123"/>
          <p:cNvSpPr txBox="1"/>
          <p:nvPr/>
        </p:nvSpPr>
        <p:spPr>
          <a:xfrm>
            <a:off x="713232" y="5650992"/>
            <a:ext cx="10698480" cy="283464"/>
          </a:xfrm>
          <a:prstGeom prst="rect">
            <a:avLst/>
          </a:prstGeom>
          <a:noFill/>
        </p:spPr>
        <p:txBody>
          <a:bodyPr wrap="square" lIns="0" rIns="0" tIns="0" bIns="0">
            <a:spAutoFit/>
          </a:bodyPr>
          <a:lstStyle/>
          <a:p>
            <a:pPr>
              <a:lnSpc>
                <a:spcPct val="107000"/>
              </a:lnSpc>
              <a:spcBef>
                <a:spcPts val="0"/>
              </a:spcBef>
              <a:spcAft>
                <a:spcPts val="384"/>
              </a:spcAft>
              <a:defRPr sz="1600" b="1">
                <a:solidFill>
                  <a:srgbClr val="FFFFFF"/>
                </a:solidFill>
                <a:latin typeface="Arial"/>
              </a:defRPr>
            </a:pPr>
            <a:r>
              <a:t>Eisa Atif  •  Marie Habermann  •  Atfan Deshmukh  •  Akshdeep Singh</a:t>
            </a:r>
          </a:p>
        </p:txBody>
      </p:sp>
      <p:sp>
        <p:nvSpPr>
          <p:cNvPr id="125" name="TextBox 124"/>
          <p:cNvSpPr txBox="1"/>
          <p:nvPr/>
        </p:nvSpPr>
        <p:spPr>
          <a:xfrm>
            <a:off x="713232" y="6007608"/>
            <a:ext cx="10698480" cy="292608"/>
          </a:xfrm>
          <a:prstGeom prst="rect">
            <a:avLst/>
          </a:prstGeom>
          <a:noFill/>
        </p:spPr>
        <p:txBody>
          <a:bodyPr wrap="square" lIns="0" rIns="0" tIns="0" bIns="0">
            <a:spAutoFit/>
          </a:bodyPr>
          <a:lstStyle/>
          <a:p>
            <a:pPr>
              <a:lnSpc>
                <a:spcPct val="107000"/>
              </a:lnSpc>
              <a:spcBef>
                <a:spcPts val="0"/>
              </a:spcBef>
              <a:spcAft>
                <a:spcPts val="384"/>
              </a:spcAft>
              <a:defRPr sz="1600" b="1">
                <a:solidFill>
                  <a:srgbClr val="FFFFFF"/>
                </a:solidFill>
                <a:latin typeface="Arial"/>
              </a:defRPr>
            </a:pPr>
            <a:r>
              <a:t>Naumanurrahman Shaikmujeeburrahman</a:t>
            </a:r>
          </a:p>
        </p:txBody>
      </p:sp>
      <p:sp>
        <p:nvSpPr>
          <p:cNvPr id="126" name="TextBox 125"/>
          <p:cNvSpPr txBox="1"/>
          <p:nvPr/>
        </p:nvSpPr>
        <p:spPr>
          <a:xfrm>
            <a:off x="713232" y="6464808"/>
            <a:ext cx="9875520" cy="173736"/>
          </a:xfrm>
          <a:prstGeom prst="rect">
            <a:avLst/>
          </a:prstGeom>
          <a:noFill/>
        </p:spPr>
        <p:txBody>
          <a:bodyPr wrap="square" lIns="0" rIns="0" tIns="0" bIns="0">
            <a:spAutoFit/>
          </a:bodyPr>
          <a:lstStyle/>
          <a:p>
            <a:pPr>
              <a:lnSpc>
                <a:spcPct val="107000"/>
              </a:lnSpc>
              <a:spcBef>
                <a:spcPts val="0"/>
              </a:spcBef>
              <a:spcAft>
                <a:spcPts val="216"/>
              </a:spcAft>
              <a:defRPr sz="900" b="0">
                <a:solidFill>
                  <a:srgbClr val="C8DBE5"/>
                </a:solidFill>
                <a:latin typeface="Arial"/>
              </a:defRPr>
            </a:pPr>
            <a:r>
              <a:rPr u="none">
                <a:solidFill>
                  <a:srgbClr val="C8DBE5"/>
                </a:solidFill>
                <a:hlinkClick r:id="rId3"/>
              </a:rPr>
              <a:t>github.com/ght007/SchubKI  •  18 October 2026</a:t>
            </a:r>
          </a:p>
        </p:txBody>
      </p:sp>
      <p:sp>
        <p:nvSpPr>
          <p:cNvPr id="127" name="TextBox 126"/>
          <p:cNvSpPr txBox="1"/>
          <p:nvPr/>
        </p:nvSpPr>
        <p:spPr>
          <a:xfrm>
            <a:off x="10881360" y="6437376"/>
            <a:ext cx="658368" cy="201168"/>
          </a:xfrm>
          <a:prstGeom prst="rect">
            <a:avLst/>
          </a:prstGeom>
          <a:noFill/>
        </p:spPr>
        <p:txBody>
          <a:bodyPr wrap="square" lIns="0" rIns="0" tIns="0" bIns="0">
            <a:spAutoFit/>
          </a:bodyPr>
          <a:lstStyle/>
          <a:p>
            <a:pPr algn="r">
              <a:lnSpc>
                <a:spcPct val="107000"/>
              </a:lnSpc>
              <a:spcBef>
                <a:spcPts val="0"/>
              </a:spcBef>
              <a:spcAft>
                <a:spcPts val="216"/>
              </a:spcAft>
              <a:defRPr sz="900" b="0">
                <a:solidFill>
                  <a:srgbClr val="C8DBE5"/>
                </a:solidFill>
                <a:latin typeface="Arial"/>
              </a:defRPr>
            </a:pPr>
            <a:r>
              <a:t>01 / 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3F6FA"/>
        </a:solidFill>
        <a:effectLst/>
      </p:bgPr>
    </p:bg>
    <p:spTree>
      <p:nvGrpSpPr>
        <p:cNvPr id="1" name=""/>
        <p:cNvGrpSpPr/>
        <p:nvPr/>
      </p:nvGrpSpPr>
      <p:grpSpPr/>
      <p:sp>
        <p:nvSpPr>
          <p:cNvPr id="2" name="Rectangle 1"/>
          <p:cNvSpPr/>
          <p:nvPr/>
        </p:nvSpPr>
        <p:spPr>
          <a:xfrm>
            <a:off x="0" y="0"/>
            <a:ext cx="1223771" cy="50292"/>
          </a:xfrm>
          <a:prstGeom prst="rect">
            <a:avLst/>
          </a:prstGeom>
          <a:solidFill>
            <a:srgbClr val="7044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19199" y="0"/>
            <a:ext cx="1223771" cy="50292"/>
          </a:xfrm>
          <a:prstGeom prst="rect">
            <a:avLst/>
          </a:prstGeom>
          <a:solidFill>
            <a:srgbClr val="5E4D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438399" y="0"/>
            <a:ext cx="1223771" cy="50292"/>
          </a:xfrm>
          <a:prstGeom prst="rect">
            <a:avLst/>
          </a:prstGeom>
          <a:solidFill>
            <a:srgbClr val="426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57599" y="0"/>
            <a:ext cx="1223771" cy="50292"/>
          </a:xfrm>
          <a:prstGeom prst="rect">
            <a:avLst/>
          </a:prstGeom>
          <a:solidFill>
            <a:srgbClr val="2886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876799" y="0"/>
            <a:ext cx="1223771" cy="50292"/>
          </a:xfrm>
          <a:prstGeom prst="rect">
            <a:avLst/>
          </a:prstGeom>
          <a:solidFill>
            <a:srgbClr val="1591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095999" y="0"/>
            <a:ext cx="1223771" cy="50292"/>
          </a:xfrm>
          <a:prstGeom prst="rect">
            <a:avLst/>
          </a:prstGeom>
          <a:solidFill>
            <a:srgbClr val="2999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199" y="0"/>
            <a:ext cx="1223771" cy="50292"/>
          </a:xfrm>
          <a:prstGeom prst="rect">
            <a:avLst/>
          </a:prstGeom>
          <a:solidFill>
            <a:srgbClr val="7DAD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534399" y="0"/>
            <a:ext cx="1223771" cy="50292"/>
          </a:xfrm>
          <a:prstGeom prst="rect">
            <a:avLst/>
          </a:prstGeom>
          <a:solidFill>
            <a:srgbClr val="C6A6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753599" y="0"/>
            <a:ext cx="1223771" cy="50292"/>
          </a:xfrm>
          <a:prstGeom prst="rect">
            <a:avLst/>
          </a:prstGeom>
          <a:solidFill>
            <a:srgbClr val="CC7B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0972799" y="0"/>
            <a:ext cx="1223771" cy="50292"/>
          </a:xfrm>
          <a:prstGeom prst="rect">
            <a:avLst/>
          </a:prstGeom>
          <a:solidFill>
            <a:srgbClr val="B84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1792" y="365760"/>
            <a:ext cx="10972800" cy="246888"/>
          </a:xfrm>
          <a:prstGeom prst="rect">
            <a:avLst/>
          </a:prstGeom>
          <a:noFill/>
        </p:spPr>
        <p:txBody>
          <a:bodyPr wrap="square" lIns="0" rIns="0" tIns="0" bIns="0">
            <a:spAutoFit/>
          </a:bodyPr>
          <a:lstStyle/>
          <a:p>
            <a:pPr>
              <a:lnSpc>
                <a:spcPct val="107000"/>
              </a:lnSpc>
              <a:spcBef>
                <a:spcPts val="0"/>
              </a:spcBef>
              <a:spcAft>
                <a:spcPts val="252"/>
              </a:spcAft>
              <a:defRPr sz="1050" b="1">
                <a:solidFill>
                  <a:srgbClr val="087F8C"/>
                </a:solidFill>
                <a:latin typeface="Arial"/>
              </a:defRPr>
            </a:pPr>
            <a:r>
              <a:t>01 / CUSTOMER PROBLEM</a:t>
            </a:r>
          </a:p>
        </p:txBody>
      </p:sp>
      <p:sp>
        <p:nvSpPr>
          <p:cNvPr id="13" name="TextBox 12"/>
          <p:cNvSpPr txBox="1"/>
          <p:nvPr/>
        </p:nvSpPr>
        <p:spPr>
          <a:xfrm>
            <a:off x="621792" y="841248"/>
            <a:ext cx="10972800" cy="941832"/>
          </a:xfrm>
          <a:prstGeom prst="rect">
            <a:avLst/>
          </a:prstGeom>
          <a:noFill/>
        </p:spPr>
        <p:txBody>
          <a:bodyPr wrap="square" lIns="0" rIns="0" tIns="0" bIns="0">
            <a:spAutoFit/>
          </a:bodyPr>
          <a:lstStyle/>
          <a:p>
            <a:pPr>
              <a:lnSpc>
                <a:spcPct val="107000"/>
              </a:lnSpc>
              <a:spcBef>
                <a:spcPts val="0"/>
              </a:spcBef>
              <a:spcAft>
                <a:spcPts val="744"/>
              </a:spcAft>
              <a:defRPr sz="3100" b="1">
                <a:solidFill>
                  <a:srgbClr val="102A3A"/>
                </a:solidFill>
                <a:latin typeface="Arial"/>
              </a:defRPr>
            </a:pPr>
            <a:r>
              <a:t>The first decision is what to test.</a:t>
            </a:r>
          </a:p>
        </p:txBody>
      </p:sp>
      <p:sp>
        <p:nvSpPr>
          <p:cNvPr id="14" name="TextBox 13"/>
          <p:cNvSpPr txBox="1"/>
          <p:nvPr/>
        </p:nvSpPr>
        <p:spPr>
          <a:xfrm>
            <a:off x="640080" y="1417320"/>
            <a:ext cx="10927080" cy="475488"/>
          </a:xfrm>
          <a:prstGeom prst="rect">
            <a:avLst/>
          </a:prstGeom>
          <a:noFill/>
        </p:spPr>
        <p:txBody>
          <a:bodyPr wrap="square" lIns="0" rIns="0" tIns="0" bIns="0">
            <a:spAutoFit/>
          </a:bodyPr>
          <a:lstStyle/>
          <a:p>
            <a:pPr>
              <a:lnSpc>
                <a:spcPct val="107000"/>
              </a:lnSpc>
              <a:spcBef>
                <a:spcPts val="0"/>
              </a:spcBef>
              <a:spcAft>
                <a:spcPts val="359"/>
              </a:spcAft>
              <a:defRPr sz="1500" b="0">
                <a:solidFill>
                  <a:srgbClr val="587080"/>
                </a:solidFill>
                <a:latin typeface="Arial"/>
              </a:defRPr>
            </a:pPr>
            <a:r>
              <a:t>A process goal is not yet a spectroscopy specification.</a:t>
            </a:r>
          </a:p>
        </p:txBody>
      </p:sp>
      <p:cxnSp>
        <p:nvCxnSpPr>
          <p:cNvPr id="15" name="Connector 14"/>
          <p:cNvCxnSpPr/>
          <p:nvPr/>
        </p:nvCxnSpPr>
        <p:spPr>
          <a:xfrm>
            <a:off x="621792" y="6318504"/>
            <a:ext cx="10945368" cy="0"/>
          </a:xfrm>
          <a:prstGeom prst="line">
            <a:avLst/>
          </a:prstGeom>
          <a:ln w="8890">
            <a:solidFill>
              <a:srgbClr val="DCE5ED"/>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40080" y="6428232"/>
            <a:ext cx="9875520" cy="182880"/>
          </a:xfrm>
          <a:prstGeom prst="rect">
            <a:avLst/>
          </a:prstGeom>
          <a:noFill/>
        </p:spPr>
        <p:txBody>
          <a:bodyPr wrap="square" lIns="0" rIns="0" tIns="0" bIns="0">
            <a:spAutoFit/>
          </a:bodyPr>
          <a:lstStyle/>
          <a:p>
            <a:pPr>
              <a:lnSpc>
                <a:spcPct val="107000"/>
              </a:lnSpc>
              <a:spcBef>
                <a:spcPts val="0"/>
              </a:spcBef>
              <a:spcAft>
                <a:spcPts val="204"/>
              </a:spcAft>
              <a:defRPr sz="850" b="0">
                <a:solidFill>
                  <a:srgbClr val="587080"/>
                </a:solidFill>
                <a:latin typeface="Arial"/>
              </a:defRPr>
            </a:pPr>
            <a:r>
              <a:t>Challenge brief pp.1–2; README §§1–2</a:t>
            </a:r>
          </a:p>
        </p:txBody>
      </p:sp>
      <p:sp>
        <p:nvSpPr>
          <p:cNvPr id="17" name="TextBox 16"/>
          <p:cNvSpPr txBox="1"/>
          <p:nvPr/>
        </p:nvSpPr>
        <p:spPr>
          <a:xfrm>
            <a:off x="10881360" y="6409944"/>
            <a:ext cx="658368" cy="228600"/>
          </a:xfrm>
          <a:prstGeom prst="rect">
            <a:avLst/>
          </a:prstGeom>
          <a:noFill/>
        </p:spPr>
        <p:txBody>
          <a:bodyPr wrap="square" lIns="0" rIns="0" tIns="0" bIns="0">
            <a:spAutoFit/>
          </a:bodyPr>
          <a:lstStyle/>
          <a:p>
            <a:pPr algn="r">
              <a:lnSpc>
                <a:spcPct val="107000"/>
              </a:lnSpc>
              <a:spcBef>
                <a:spcPts val="0"/>
              </a:spcBef>
              <a:spcAft>
                <a:spcPts val="216"/>
              </a:spcAft>
              <a:defRPr sz="900" b="0">
                <a:solidFill>
                  <a:srgbClr val="587080"/>
                </a:solidFill>
                <a:latin typeface="Arial"/>
              </a:defRPr>
            </a:pPr>
            <a:r>
              <a:t>02 / 14</a:t>
            </a:r>
          </a:p>
        </p:txBody>
      </p:sp>
      <p:sp>
        <p:nvSpPr>
          <p:cNvPr id="18" name="Rounded Rectangle 17"/>
          <p:cNvSpPr/>
          <p:nvPr/>
        </p:nvSpPr>
        <p:spPr>
          <a:xfrm>
            <a:off x="640080" y="2057400"/>
            <a:ext cx="3703320" cy="3639312"/>
          </a:xfrm>
          <a:prstGeom prst="roundRect">
            <a:avLst>
              <a:gd name="adj" fmla="val 3768"/>
            </a:avLst>
          </a:prstGeom>
          <a:solidFill>
            <a:srgbClr val="10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96112" y="2350008"/>
            <a:ext cx="3200400" cy="274320"/>
          </a:xfrm>
          <a:prstGeom prst="rect">
            <a:avLst/>
          </a:prstGeom>
          <a:noFill/>
        </p:spPr>
        <p:txBody>
          <a:bodyPr wrap="square" lIns="0" rIns="0" tIns="0" bIns="0">
            <a:spAutoFit/>
          </a:bodyPr>
          <a:lstStyle/>
          <a:p>
            <a:pPr>
              <a:lnSpc>
                <a:spcPct val="107000"/>
              </a:lnSpc>
              <a:spcBef>
                <a:spcPts val="0"/>
              </a:spcBef>
              <a:spcAft>
                <a:spcPts val="263"/>
              </a:spcAft>
              <a:defRPr sz="1100" b="1">
                <a:solidFill>
                  <a:srgbClr val="C8DBE5"/>
                </a:solidFill>
                <a:latin typeface="Arial"/>
              </a:defRPr>
            </a:pPr>
            <a:r>
              <a:t>THE CUSTOMER KNOWS</a:t>
            </a:r>
          </a:p>
        </p:txBody>
      </p:sp>
      <p:sp>
        <p:nvSpPr>
          <p:cNvPr id="20" name="TextBox 19"/>
          <p:cNvSpPr txBox="1"/>
          <p:nvPr/>
        </p:nvSpPr>
        <p:spPr>
          <a:xfrm>
            <a:off x="896112" y="2852928"/>
            <a:ext cx="3200400" cy="1234440"/>
          </a:xfrm>
          <a:prstGeom prst="rect">
            <a:avLst/>
          </a:prstGeom>
          <a:noFill/>
        </p:spPr>
        <p:txBody>
          <a:bodyPr wrap="square" lIns="0" rIns="0" tIns="0" bIns="0">
            <a:spAutoFit/>
          </a:bodyPr>
          <a:lstStyle/>
          <a:p>
            <a:pPr>
              <a:lnSpc>
                <a:spcPct val="107000"/>
              </a:lnSpc>
              <a:spcBef>
                <a:spcPts val="0"/>
              </a:spcBef>
              <a:spcAft>
                <a:spcPts val="576"/>
              </a:spcAft>
              <a:defRPr sz="2400" b="1">
                <a:solidFill>
                  <a:srgbClr val="FFFFFF"/>
                </a:solidFill>
                <a:latin typeface="Arial"/>
              </a:defRPr>
            </a:pPr>
            <a:r>
              <a:t>“We need to monitor</a:t>
            </a:r>
          </a:p>
          <a:p>
            <a:pPr>
              <a:lnSpc>
                <a:spcPct val="107000"/>
              </a:lnSpc>
              <a:spcBef>
                <a:spcPts val="0"/>
              </a:spcBef>
              <a:spcAft>
                <a:spcPts val="576"/>
              </a:spcAft>
              <a:defRPr sz="2400" b="1">
                <a:solidFill>
                  <a:srgbClr val="FFFFFF"/>
                </a:solidFill>
                <a:latin typeface="Arial"/>
              </a:defRPr>
            </a:pPr>
            <a:r>
              <a:t>moisture or</a:t>
            </a:r>
          </a:p>
          <a:p>
            <a:pPr>
              <a:lnSpc>
                <a:spcPct val="107000"/>
              </a:lnSpc>
              <a:spcBef>
                <a:spcPts val="0"/>
              </a:spcBef>
              <a:spcAft>
                <a:spcPts val="576"/>
              </a:spcAft>
              <a:defRPr sz="2400" b="1">
                <a:solidFill>
                  <a:srgbClr val="FFFFFF"/>
                </a:solidFill>
                <a:latin typeface="Arial"/>
              </a:defRPr>
            </a:pPr>
            <a:r>
              <a:t>contamination.”</a:t>
            </a:r>
          </a:p>
        </p:txBody>
      </p:sp>
      <p:sp>
        <p:nvSpPr>
          <p:cNvPr id="21" name="TextBox 20"/>
          <p:cNvSpPr txBox="1"/>
          <p:nvPr/>
        </p:nvSpPr>
        <p:spPr>
          <a:xfrm>
            <a:off x="896112" y="4434840"/>
            <a:ext cx="3172968" cy="868680"/>
          </a:xfrm>
          <a:prstGeom prst="rect">
            <a:avLst/>
          </a:prstGeom>
          <a:noFill/>
        </p:spPr>
        <p:txBody>
          <a:bodyPr wrap="square" lIns="0" rIns="0" tIns="0" bIns="0">
            <a:spAutoFit/>
          </a:bodyPr>
          <a:lstStyle/>
          <a:p>
            <a:pPr>
              <a:lnSpc>
                <a:spcPct val="107000"/>
              </a:lnSpc>
              <a:spcBef>
                <a:spcPts val="0"/>
              </a:spcBef>
              <a:spcAft>
                <a:spcPts val="408"/>
              </a:spcAft>
              <a:defRPr sz="1700" b="0">
                <a:solidFill>
                  <a:srgbClr val="C8DBE5"/>
                </a:solidFill>
                <a:latin typeface="Arial"/>
              </a:defRPr>
            </a:pPr>
            <a:r>
              <a:t>Still unknown: target range, sample optics, references, installation and success criteria.</a:t>
            </a:r>
          </a:p>
        </p:txBody>
      </p:sp>
      <p:sp>
        <p:nvSpPr>
          <p:cNvPr id="22" name="Rounded Rectangle 21"/>
          <p:cNvSpPr/>
          <p:nvPr/>
        </p:nvSpPr>
        <p:spPr>
          <a:xfrm>
            <a:off x="4599432" y="2057400"/>
            <a:ext cx="6949440" cy="1051560"/>
          </a:xfrm>
          <a:prstGeom prst="roundRect">
            <a:avLst>
              <a:gd name="adj" fmla="val 13043"/>
            </a:avLst>
          </a:prstGeom>
          <a:solidFill>
            <a:srgbClr val="FFFFFF"/>
          </a:solidFill>
          <a:ln w="8890">
            <a:solidFill>
              <a:srgbClr val="DC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599432" y="2057400"/>
            <a:ext cx="50292" cy="1051560"/>
          </a:xfrm>
          <a:prstGeom prst="rect">
            <a:avLst/>
          </a:prstGeom>
          <a:solidFill>
            <a:srgbClr val="7044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00600" y="2185416"/>
            <a:ext cx="6547104" cy="292608"/>
          </a:xfrm>
          <a:prstGeom prst="rect">
            <a:avLst/>
          </a:prstGeom>
          <a:noFill/>
        </p:spPr>
        <p:txBody>
          <a:bodyPr wrap="square" lIns="0" rIns="0" tIns="0" bIns="0">
            <a:spAutoFit/>
          </a:bodyPr>
          <a:lstStyle/>
          <a:p>
            <a:pPr>
              <a:lnSpc>
                <a:spcPct val="107000"/>
              </a:lnSpc>
              <a:spcBef>
                <a:spcPts val="0"/>
              </a:spcBef>
              <a:spcAft>
                <a:spcPts val="432"/>
              </a:spcAft>
              <a:defRPr sz="1800" b="1">
                <a:solidFill>
                  <a:srgbClr val="7044BB"/>
                </a:solidFill>
                <a:latin typeface="Arial"/>
              </a:defRPr>
            </a:pPr>
            <a:r>
              <a:t>Clarify the problem</a:t>
            </a:r>
          </a:p>
        </p:txBody>
      </p:sp>
      <p:sp>
        <p:nvSpPr>
          <p:cNvPr id="25" name="TextBox 24"/>
          <p:cNvSpPr txBox="1"/>
          <p:nvPr/>
        </p:nvSpPr>
        <p:spPr>
          <a:xfrm>
            <a:off x="4800600" y="2560320"/>
            <a:ext cx="6547104" cy="484632"/>
          </a:xfrm>
          <a:prstGeom prst="rect">
            <a:avLst/>
          </a:prstGeom>
          <a:noFill/>
        </p:spPr>
        <p:txBody>
          <a:bodyPr wrap="square" lIns="0" rIns="0" tIns="0" bIns="0">
            <a:spAutoFit/>
          </a:bodyPr>
          <a:lstStyle/>
          <a:p>
            <a:pPr>
              <a:lnSpc>
                <a:spcPct val="107000"/>
              </a:lnSpc>
              <a:spcBef>
                <a:spcPts val="0"/>
              </a:spcBef>
              <a:spcAft>
                <a:spcPts val="384"/>
              </a:spcAft>
              <a:defRPr sz="1600" b="0">
                <a:solidFill>
                  <a:srgbClr val="102A3A"/>
                </a:solidFill>
                <a:latin typeface="Arial"/>
              </a:defRPr>
            </a:pPr>
            <a:r>
              <a:t>Extract requirements and ask the missing questions that change the decision.</a:t>
            </a:r>
          </a:p>
        </p:txBody>
      </p:sp>
      <p:sp>
        <p:nvSpPr>
          <p:cNvPr id="26" name="Rounded Rectangle 25"/>
          <p:cNvSpPr/>
          <p:nvPr/>
        </p:nvSpPr>
        <p:spPr>
          <a:xfrm>
            <a:off x="4599432" y="3273552"/>
            <a:ext cx="6949440" cy="1051560"/>
          </a:xfrm>
          <a:prstGeom prst="roundRect">
            <a:avLst>
              <a:gd name="adj" fmla="val 13043"/>
            </a:avLst>
          </a:prstGeom>
          <a:solidFill>
            <a:srgbClr val="FFFFFF"/>
          </a:solidFill>
          <a:ln w="8890">
            <a:solidFill>
              <a:srgbClr val="DC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599432" y="3273552"/>
            <a:ext cx="50292" cy="1051560"/>
          </a:xfrm>
          <a:prstGeom prst="rect">
            <a:avLst/>
          </a:prstGeom>
          <a:solidFill>
            <a:srgbClr val="2C62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800600" y="3401568"/>
            <a:ext cx="6547104" cy="292608"/>
          </a:xfrm>
          <a:prstGeom prst="rect">
            <a:avLst/>
          </a:prstGeom>
          <a:noFill/>
        </p:spPr>
        <p:txBody>
          <a:bodyPr wrap="square" lIns="0" rIns="0" tIns="0" bIns="0">
            <a:spAutoFit/>
          </a:bodyPr>
          <a:lstStyle/>
          <a:p>
            <a:pPr>
              <a:lnSpc>
                <a:spcPct val="107000"/>
              </a:lnSpc>
              <a:spcBef>
                <a:spcPts val="0"/>
              </a:spcBef>
              <a:spcAft>
                <a:spcPts val="432"/>
              </a:spcAft>
              <a:defRPr sz="1800" b="1">
                <a:solidFill>
                  <a:srgbClr val="2C62C9"/>
                </a:solidFill>
                <a:latin typeface="Arial"/>
              </a:defRPr>
            </a:pPr>
            <a:r>
              <a:t>Propose a sensing concept</a:t>
            </a:r>
          </a:p>
        </p:txBody>
      </p:sp>
      <p:sp>
        <p:nvSpPr>
          <p:cNvPr id="29" name="TextBox 28"/>
          <p:cNvSpPr txBox="1"/>
          <p:nvPr/>
        </p:nvSpPr>
        <p:spPr>
          <a:xfrm>
            <a:off x="4800600" y="3776472"/>
            <a:ext cx="6547104" cy="484632"/>
          </a:xfrm>
          <a:prstGeom prst="rect">
            <a:avLst/>
          </a:prstGeom>
          <a:noFill/>
        </p:spPr>
        <p:txBody>
          <a:bodyPr wrap="square" lIns="0" rIns="0" tIns="0" bIns="0">
            <a:spAutoFit/>
          </a:bodyPr>
          <a:lstStyle/>
          <a:p>
            <a:pPr>
              <a:lnSpc>
                <a:spcPct val="107000"/>
              </a:lnSpc>
              <a:spcBef>
                <a:spcPts val="0"/>
              </a:spcBef>
              <a:spcAft>
                <a:spcPts val="384"/>
              </a:spcAft>
              <a:defRPr sz="1600" b="0">
                <a:solidFill>
                  <a:srgbClr val="102A3A"/>
                </a:solidFill>
                <a:latin typeface="Arial"/>
              </a:defRPr>
            </a:pPr>
            <a:r>
              <a:t>Recommend methods, spectral range and a high-level probe concept, with sources.</a:t>
            </a:r>
          </a:p>
        </p:txBody>
      </p:sp>
      <p:sp>
        <p:nvSpPr>
          <p:cNvPr id="30" name="Rounded Rectangle 29"/>
          <p:cNvSpPr/>
          <p:nvPr/>
        </p:nvSpPr>
        <p:spPr>
          <a:xfrm>
            <a:off x="4599432" y="4489704"/>
            <a:ext cx="6949440" cy="1051560"/>
          </a:xfrm>
          <a:prstGeom prst="roundRect">
            <a:avLst>
              <a:gd name="adj" fmla="val 13043"/>
            </a:avLst>
          </a:prstGeom>
          <a:solidFill>
            <a:srgbClr val="FFFFFF"/>
          </a:solidFill>
          <a:ln w="8890">
            <a:solidFill>
              <a:srgbClr val="DC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599432" y="4489704"/>
            <a:ext cx="50292" cy="105156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800600" y="4617720"/>
            <a:ext cx="6547104" cy="292608"/>
          </a:xfrm>
          <a:prstGeom prst="rect">
            <a:avLst/>
          </a:prstGeom>
          <a:noFill/>
        </p:spPr>
        <p:txBody>
          <a:bodyPr wrap="square" lIns="0" rIns="0" tIns="0" bIns="0">
            <a:spAutoFit/>
          </a:bodyPr>
          <a:lstStyle/>
          <a:p>
            <a:pPr>
              <a:lnSpc>
                <a:spcPct val="107000"/>
              </a:lnSpc>
              <a:spcBef>
                <a:spcPts val="0"/>
              </a:spcBef>
              <a:spcAft>
                <a:spcPts val="432"/>
              </a:spcAft>
              <a:defRPr sz="1800" b="1">
                <a:solidFill>
                  <a:srgbClr val="087F8C"/>
                </a:solidFill>
                <a:latin typeface="Arial"/>
              </a:defRPr>
            </a:pPr>
            <a:r>
              <a:t>Plan the first experiment</a:t>
            </a:r>
          </a:p>
        </p:txBody>
      </p:sp>
      <p:sp>
        <p:nvSpPr>
          <p:cNvPr id="33" name="TextBox 32"/>
          <p:cNvSpPr txBox="1"/>
          <p:nvPr/>
        </p:nvSpPr>
        <p:spPr>
          <a:xfrm>
            <a:off x="4800600" y="4992624"/>
            <a:ext cx="6547104" cy="484632"/>
          </a:xfrm>
          <a:prstGeom prst="rect">
            <a:avLst/>
          </a:prstGeom>
          <a:noFill/>
        </p:spPr>
        <p:txBody>
          <a:bodyPr wrap="square" lIns="0" rIns="0" tIns="0" bIns="0">
            <a:spAutoFit/>
          </a:bodyPr>
          <a:lstStyle/>
          <a:p>
            <a:pPr>
              <a:lnSpc>
                <a:spcPct val="107000"/>
              </a:lnSpc>
              <a:spcBef>
                <a:spcPts val="0"/>
              </a:spcBef>
              <a:spcAft>
                <a:spcPts val="384"/>
              </a:spcAft>
              <a:defRPr sz="1600" b="0">
                <a:solidFill>
                  <a:srgbClr val="102A3A"/>
                </a:solidFill>
                <a:latin typeface="Arial"/>
              </a:defRPr>
            </a:pPr>
            <a:r>
              <a:t>Make uncertainty, practical comparisons and the decision basis explicit.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3F6FA"/>
        </a:solidFill>
        <a:effectLst/>
      </p:bgPr>
    </p:bg>
    <p:spTree>
      <p:nvGrpSpPr>
        <p:cNvPr id="1" name=""/>
        <p:cNvGrpSpPr/>
        <p:nvPr/>
      </p:nvGrpSpPr>
      <p:grpSpPr/>
      <p:sp>
        <p:nvSpPr>
          <p:cNvPr id="2" name="Rectangle 1"/>
          <p:cNvSpPr/>
          <p:nvPr/>
        </p:nvSpPr>
        <p:spPr>
          <a:xfrm>
            <a:off x="0" y="0"/>
            <a:ext cx="1223771" cy="50292"/>
          </a:xfrm>
          <a:prstGeom prst="rect">
            <a:avLst/>
          </a:prstGeom>
          <a:solidFill>
            <a:srgbClr val="7044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19199" y="0"/>
            <a:ext cx="1223771" cy="50292"/>
          </a:xfrm>
          <a:prstGeom prst="rect">
            <a:avLst/>
          </a:prstGeom>
          <a:solidFill>
            <a:srgbClr val="5E4D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438399" y="0"/>
            <a:ext cx="1223771" cy="50292"/>
          </a:xfrm>
          <a:prstGeom prst="rect">
            <a:avLst/>
          </a:prstGeom>
          <a:solidFill>
            <a:srgbClr val="426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57599" y="0"/>
            <a:ext cx="1223771" cy="50292"/>
          </a:xfrm>
          <a:prstGeom prst="rect">
            <a:avLst/>
          </a:prstGeom>
          <a:solidFill>
            <a:srgbClr val="2886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876799" y="0"/>
            <a:ext cx="1223771" cy="50292"/>
          </a:xfrm>
          <a:prstGeom prst="rect">
            <a:avLst/>
          </a:prstGeom>
          <a:solidFill>
            <a:srgbClr val="1591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095999" y="0"/>
            <a:ext cx="1223771" cy="50292"/>
          </a:xfrm>
          <a:prstGeom prst="rect">
            <a:avLst/>
          </a:prstGeom>
          <a:solidFill>
            <a:srgbClr val="2999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199" y="0"/>
            <a:ext cx="1223771" cy="50292"/>
          </a:xfrm>
          <a:prstGeom prst="rect">
            <a:avLst/>
          </a:prstGeom>
          <a:solidFill>
            <a:srgbClr val="7DAD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534399" y="0"/>
            <a:ext cx="1223771" cy="50292"/>
          </a:xfrm>
          <a:prstGeom prst="rect">
            <a:avLst/>
          </a:prstGeom>
          <a:solidFill>
            <a:srgbClr val="C6A6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753599" y="0"/>
            <a:ext cx="1223771" cy="50292"/>
          </a:xfrm>
          <a:prstGeom prst="rect">
            <a:avLst/>
          </a:prstGeom>
          <a:solidFill>
            <a:srgbClr val="CC7B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0972799" y="0"/>
            <a:ext cx="1223771" cy="50292"/>
          </a:xfrm>
          <a:prstGeom prst="rect">
            <a:avLst/>
          </a:prstGeom>
          <a:solidFill>
            <a:srgbClr val="B84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1792" y="365760"/>
            <a:ext cx="10972800" cy="246888"/>
          </a:xfrm>
          <a:prstGeom prst="rect">
            <a:avLst/>
          </a:prstGeom>
          <a:noFill/>
        </p:spPr>
        <p:txBody>
          <a:bodyPr wrap="square" lIns="0" rIns="0" tIns="0" bIns="0">
            <a:spAutoFit/>
          </a:bodyPr>
          <a:lstStyle/>
          <a:p>
            <a:pPr>
              <a:lnSpc>
                <a:spcPct val="107000"/>
              </a:lnSpc>
              <a:spcBef>
                <a:spcPts val="0"/>
              </a:spcBef>
              <a:spcAft>
                <a:spcPts val="252"/>
              </a:spcAft>
              <a:defRPr sz="1050" b="1">
                <a:solidFill>
                  <a:srgbClr val="087F8C"/>
                </a:solidFill>
                <a:latin typeface="Arial"/>
              </a:defRPr>
            </a:pPr>
            <a:r>
              <a:t>02 / SYSTEM ARCHITECTURE</a:t>
            </a:r>
          </a:p>
        </p:txBody>
      </p:sp>
      <p:sp>
        <p:nvSpPr>
          <p:cNvPr id="13" name="TextBox 12"/>
          <p:cNvSpPr txBox="1"/>
          <p:nvPr/>
        </p:nvSpPr>
        <p:spPr>
          <a:xfrm>
            <a:off x="621792" y="841248"/>
            <a:ext cx="10972800" cy="941832"/>
          </a:xfrm>
          <a:prstGeom prst="rect">
            <a:avLst/>
          </a:prstGeom>
          <a:noFill/>
        </p:spPr>
        <p:txBody>
          <a:bodyPr wrap="square" lIns="0" rIns="0" tIns="0" bIns="0">
            <a:spAutoFit/>
          </a:bodyPr>
          <a:lstStyle/>
          <a:p>
            <a:pPr>
              <a:lnSpc>
                <a:spcPct val="107000"/>
              </a:lnSpc>
              <a:spcBef>
                <a:spcPts val="0"/>
              </a:spcBef>
              <a:spcAft>
                <a:spcPts val="744"/>
              </a:spcAft>
              <a:defRPr sz="3100" b="1">
                <a:solidFill>
                  <a:srgbClr val="102A3A"/>
                </a:solidFill>
                <a:latin typeface="Arial"/>
              </a:defRPr>
            </a:pPr>
            <a:r>
              <a:t>A fixed pipeline keeps reasoning reviewable.</a:t>
            </a:r>
          </a:p>
        </p:txBody>
      </p:sp>
      <p:sp>
        <p:nvSpPr>
          <p:cNvPr id="14" name="TextBox 13"/>
          <p:cNvSpPr txBox="1"/>
          <p:nvPr/>
        </p:nvSpPr>
        <p:spPr>
          <a:xfrm>
            <a:off x="640080" y="1417320"/>
            <a:ext cx="10927080" cy="475488"/>
          </a:xfrm>
          <a:prstGeom prst="rect">
            <a:avLst/>
          </a:prstGeom>
          <a:noFill/>
        </p:spPr>
        <p:txBody>
          <a:bodyPr wrap="square" lIns="0" rIns="0" tIns="0" bIns="0">
            <a:spAutoFit/>
          </a:bodyPr>
          <a:lstStyle/>
          <a:p>
            <a:pPr>
              <a:lnSpc>
                <a:spcPct val="107000"/>
              </a:lnSpc>
              <a:spcBef>
                <a:spcPts val="0"/>
              </a:spcBef>
              <a:spcAft>
                <a:spcPts val="359"/>
              </a:spcAft>
              <a:defRPr sz="1500" b="0">
                <a:solidFill>
                  <a:srgbClr val="587080"/>
                </a:solidFill>
                <a:latin typeface="Arial"/>
              </a:defRPr>
            </a:pPr>
            <a:r>
              <a:t>Language models read and explain; explicit code checks constraints, evidence and confidence.</a:t>
            </a:r>
          </a:p>
        </p:txBody>
      </p:sp>
      <p:cxnSp>
        <p:nvCxnSpPr>
          <p:cNvPr id="15" name="Connector 14"/>
          <p:cNvCxnSpPr/>
          <p:nvPr/>
        </p:nvCxnSpPr>
        <p:spPr>
          <a:xfrm>
            <a:off x="621792" y="6318504"/>
            <a:ext cx="10945368" cy="0"/>
          </a:xfrm>
          <a:prstGeom prst="line">
            <a:avLst/>
          </a:prstGeom>
          <a:ln w="8890">
            <a:solidFill>
              <a:srgbClr val="DCE5ED"/>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40080" y="6428232"/>
            <a:ext cx="9875520" cy="182880"/>
          </a:xfrm>
          <a:prstGeom prst="rect">
            <a:avLst/>
          </a:prstGeom>
          <a:noFill/>
        </p:spPr>
        <p:txBody>
          <a:bodyPr wrap="square" lIns="0" rIns="0" tIns="0" bIns="0">
            <a:spAutoFit/>
          </a:bodyPr>
          <a:lstStyle/>
          <a:p>
            <a:pPr>
              <a:lnSpc>
                <a:spcPct val="107000"/>
              </a:lnSpc>
              <a:spcBef>
                <a:spcPts val="0"/>
              </a:spcBef>
              <a:spcAft>
                <a:spcPts val="204"/>
              </a:spcAft>
              <a:defRPr sz="850" b="0">
                <a:solidFill>
                  <a:srgbClr val="587080"/>
                </a:solidFill>
                <a:latin typeface="Arial"/>
              </a:defRPr>
            </a:pPr>
            <a:r>
              <a:t>README §§3–8, 21; backend/app/engine/pipeline.py</a:t>
            </a:r>
          </a:p>
        </p:txBody>
      </p:sp>
      <p:sp>
        <p:nvSpPr>
          <p:cNvPr id="17" name="TextBox 16"/>
          <p:cNvSpPr txBox="1"/>
          <p:nvPr/>
        </p:nvSpPr>
        <p:spPr>
          <a:xfrm>
            <a:off x="10881360" y="6409944"/>
            <a:ext cx="658368" cy="228600"/>
          </a:xfrm>
          <a:prstGeom prst="rect">
            <a:avLst/>
          </a:prstGeom>
          <a:noFill/>
        </p:spPr>
        <p:txBody>
          <a:bodyPr wrap="square" lIns="0" rIns="0" tIns="0" bIns="0">
            <a:spAutoFit/>
          </a:bodyPr>
          <a:lstStyle/>
          <a:p>
            <a:pPr algn="r">
              <a:lnSpc>
                <a:spcPct val="107000"/>
              </a:lnSpc>
              <a:spcBef>
                <a:spcPts val="0"/>
              </a:spcBef>
              <a:spcAft>
                <a:spcPts val="216"/>
              </a:spcAft>
              <a:defRPr sz="900" b="0">
                <a:solidFill>
                  <a:srgbClr val="587080"/>
                </a:solidFill>
                <a:latin typeface="Arial"/>
              </a:defRPr>
            </a:pPr>
            <a:r>
              <a:t>03 / 14</a:t>
            </a:r>
          </a:p>
        </p:txBody>
      </p:sp>
      <p:sp>
        <p:nvSpPr>
          <p:cNvPr id="18" name="Rounded Rectangle 17"/>
          <p:cNvSpPr/>
          <p:nvPr/>
        </p:nvSpPr>
        <p:spPr>
          <a:xfrm>
            <a:off x="658368" y="1901952"/>
            <a:ext cx="2057400" cy="310896"/>
          </a:xfrm>
          <a:prstGeom prst="roundRect">
            <a:avLst>
              <a:gd name="adj" fmla="val 18000"/>
            </a:avLst>
          </a:prstGeom>
          <a:solidFill>
            <a:srgbClr val="ECF1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9808" y="1961388"/>
            <a:ext cx="1874519" cy="192024"/>
          </a:xfrm>
          <a:prstGeom prst="rect">
            <a:avLst/>
          </a:prstGeom>
          <a:noFill/>
        </p:spPr>
        <p:txBody>
          <a:bodyPr wrap="square" lIns="0" rIns="0" tIns="0" bIns="0">
            <a:spAutoFit/>
          </a:bodyPr>
          <a:lstStyle/>
          <a:p>
            <a:pPr algn="ctr">
              <a:lnSpc>
                <a:spcPct val="107000"/>
              </a:lnSpc>
              <a:spcBef>
                <a:spcPts val="0"/>
              </a:spcBef>
              <a:spcAft>
                <a:spcPts val="263"/>
              </a:spcAft>
              <a:defRPr sz="1100" b="1">
                <a:solidFill>
                  <a:srgbClr val="2C62C9"/>
                </a:solidFill>
                <a:latin typeface="Arial"/>
              </a:defRPr>
            </a:pPr>
            <a:r>
              <a:t>LLM language</a:t>
            </a:r>
          </a:p>
        </p:txBody>
      </p:sp>
      <p:sp>
        <p:nvSpPr>
          <p:cNvPr id="20" name="Rounded Rectangle 19"/>
          <p:cNvSpPr/>
          <p:nvPr/>
        </p:nvSpPr>
        <p:spPr>
          <a:xfrm>
            <a:off x="2880360" y="1901952"/>
            <a:ext cx="2057400" cy="310896"/>
          </a:xfrm>
          <a:prstGeom prst="roundRect">
            <a:avLst>
              <a:gd name="adj" fmla="val 18000"/>
            </a:avLst>
          </a:prstGeom>
          <a:solidFill>
            <a:srgbClr val="E8F4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971800" y="1961388"/>
            <a:ext cx="1874519" cy="192024"/>
          </a:xfrm>
          <a:prstGeom prst="rect">
            <a:avLst/>
          </a:prstGeom>
          <a:noFill/>
        </p:spPr>
        <p:txBody>
          <a:bodyPr wrap="square" lIns="0" rIns="0" tIns="0" bIns="0">
            <a:spAutoFit/>
          </a:bodyPr>
          <a:lstStyle/>
          <a:p>
            <a:pPr algn="ctr">
              <a:lnSpc>
                <a:spcPct val="107000"/>
              </a:lnSpc>
              <a:spcBef>
                <a:spcPts val="0"/>
              </a:spcBef>
              <a:spcAft>
                <a:spcPts val="263"/>
              </a:spcAft>
              <a:defRPr sz="1100" b="1">
                <a:solidFill>
                  <a:srgbClr val="087F8C"/>
                </a:solidFill>
                <a:latin typeface="Arial"/>
              </a:defRPr>
            </a:pPr>
            <a:r>
              <a:t>Deterministic code</a:t>
            </a:r>
          </a:p>
        </p:txBody>
      </p:sp>
      <p:sp>
        <p:nvSpPr>
          <p:cNvPr id="22" name="Rounded Rectangle 21"/>
          <p:cNvSpPr/>
          <p:nvPr/>
        </p:nvSpPr>
        <p:spPr>
          <a:xfrm>
            <a:off x="5102352" y="1901952"/>
            <a:ext cx="2057400" cy="310896"/>
          </a:xfrm>
          <a:prstGeom prst="roundRect">
            <a:avLst>
              <a:gd name="adj" fmla="val 18000"/>
            </a:avLst>
          </a:prstGeom>
          <a:solidFill>
            <a:srgbClr val="FFF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193792" y="1961388"/>
            <a:ext cx="1874519" cy="192024"/>
          </a:xfrm>
          <a:prstGeom prst="rect">
            <a:avLst/>
          </a:prstGeom>
          <a:noFill/>
        </p:spPr>
        <p:txBody>
          <a:bodyPr wrap="square" lIns="0" rIns="0" tIns="0" bIns="0">
            <a:spAutoFit/>
          </a:bodyPr>
          <a:lstStyle/>
          <a:p>
            <a:pPr algn="ctr">
              <a:lnSpc>
                <a:spcPct val="107000"/>
              </a:lnSpc>
              <a:spcBef>
                <a:spcPts val="0"/>
              </a:spcBef>
              <a:spcAft>
                <a:spcPts val="263"/>
              </a:spcAft>
              <a:defRPr sz="1100" b="1">
                <a:solidFill>
                  <a:srgbClr val="B06A16"/>
                </a:solidFill>
                <a:latin typeface="Arial"/>
              </a:defRPr>
            </a:pPr>
            <a:r>
              <a:t>Checks + one repair</a:t>
            </a:r>
          </a:p>
        </p:txBody>
      </p:sp>
      <p:sp>
        <p:nvSpPr>
          <p:cNvPr id="24" name="Rounded Rectangle 23"/>
          <p:cNvSpPr/>
          <p:nvPr/>
        </p:nvSpPr>
        <p:spPr>
          <a:xfrm>
            <a:off x="658368" y="2487168"/>
            <a:ext cx="2624328" cy="1179576"/>
          </a:xfrm>
          <a:prstGeom prst="roundRect">
            <a:avLst>
              <a:gd name="adj" fmla="val 11627"/>
            </a:avLst>
          </a:prstGeom>
          <a:solidFill>
            <a:srgbClr val="FFFFFF"/>
          </a:solidFill>
          <a:ln w="8890">
            <a:solidFill>
              <a:srgbClr val="DC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04672" y="2615184"/>
            <a:ext cx="393192" cy="256032"/>
          </a:xfrm>
          <a:prstGeom prst="rect">
            <a:avLst/>
          </a:prstGeom>
          <a:noFill/>
        </p:spPr>
        <p:txBody>
          <a:bodyPr wrap="square" lIns="0" rIns="0" tIns="0" bIns="0">
            <a:spAutoFit/>
          </a:bodyPr>
          <a:lstStyle/>
          <a:p>
            <a:pPr>
              <a:lnSpc>
                <a:spcPct val="107000"/>
              </a:lnSpc>
              <a:spcBef>
                <a:spcPts val="0"/>
              </a:spcBef>
              <a:spcAft>
                <a:spcPts val="288"/>
              </a:spcAft>
              <a:defRPr sz="1200" b="1">
                <a:solidFill>
                  <a:srgbClr val="2C62C9"/>
                </a:solidFill>
                <a:latin typeface="Arial"/>
              </a:defRPr>
            </a:pPr>
            <a:r>
              <a:t>01</a:t>
            </a:r>
          </a:p>
        </p:txBody>
      </p:sp>
      <p:sp>
        <p:nvSpPr>
          <p:cNvPr id="26" name="TextBox 25"/>
          <p:cNvSpPr txBox="1"/>
          <p:nvPr/>
        </p:nvSpPr>
        <p:spPr>
          <a:xfrm>
            <a:off x="804672" y="2953512"/>
            <a:ext cx="2340864" cy="338328"/>
          </a:xfrm>
          <a:prstGeom prst="rect">
            <a:avLst/>
          </a:prstGeom>
          <a:noFill/>
        </p:spPr>
        <p:txBody>
          <a:bodyPr wrap="square" lIns="0" rIns="0" tIns="0" bIns="0">
            <a:spAutoFit/>
          </a:bodyPr>
          <a:lstStyle/>
          <a:p>
            <a:pPr>
              <a:lnSpc>
                <a:spcPct val="107000"/>
              </a:lnSpc>
              <a:spcBef>
                <a:spcPts val="0"/>
              </a:spcBef>
              <a:spcAft>
                <a:spcPts val="432"/>
              </a:spcAft>
              <a:defRPr sz="1800" b="1">
                <a:solidFill>
                  <a:srgbClr val="102A3A"/>
                </a:solidFill>
                <a:latin typeface="Arial"/>
              </a:defRPr>
            </a:pPr>
            <a:r>
              <a:t>Read the enquiry</a:t>
            </a:r>
          </a:p>
        </p:txBody>
      </p:sp>
      <p:sp>
        <p:nvSpPr>
          <p:cNvPr id="27" name="TextBox 26"/>
          <p:cNvSpPr txBox="1"/>
          <p:nvPr/>
        </p:nvSpPr>
        <p:spPr>
          <a:xfrm>
            <a:off x="804672" y="3291840"/>
            <a:ext cx="2340864" cy="338328"/>
          </a:xfrm>
          <a:prstGeom prst="rect">
            <a:avLst/>
          </a:prstGeom>
          <a:noFill/>
        </p:spPr>
        <p:txBody>
          <a:bodyPr wrap="square" lIns="0" rIns="0" tIns="0" bIns="0">
            <a:spAutoFit/>
          </a:bodyPr>
          <a:lstStyle/>
          <a:p>
            <a:pPr>
              <a:lnSpc>
                <a:spcPct val="107000"/>
              </a:lnSpc>
              <a:spcBef>
                <a:spcPts val="0"/>
              </a:spcBef>
              <a:spcAft>
                <a:spcPts val="276"/>
              </a:spcAft>
              <a:defRPr sz="1150" b="0">
                <a:solidFill>
                  <a:srgbClr val="587080"/>
                </a:solidFill>
                <a:latin typeface="Arial"/>
              </a:defRPr>
            </a:pPr>
            <a:r>
              <a:t>Facts, unknowns and premises</a:t>
            </a:r>
          </a:p>
        </p:txBody>
      </p:sp>
      <p:cxnSp>
        <p:nvCxnSpPr>
          <p:cNvPr id="28" name="Connector 27"/>
          <p:cNvCxnSpPr/>
          <p:nvPr/>
        </p:nvCxnSpPr>
        <p:spPr>
          <a:xfrm>
            <a:off x="3291839" y="3090672"/>
            <a:ext cx="109729" cy="0"/>
          </a:xfrm>
          <a:prstGeom prst="line">
            <a:avLst/>
          </a:prstGeom>
          <a:ln w="12700">
            <a:solidFill>
              <a:srgbClr val="587080"/>
            </a:solidFill>
            <a:tailEnd type="triangle"/>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3429000" y="2487168"/>
            <a:ext cx="2624328" cy="1179576"/>
          </a:xfrm>
          <a:prstGeom prst="roundRect">
            <a:avLst>
              <a:gd name="adj" fmla="val 11627"/>
            </a:avLst>
          </a:prstGeom>
          <a:solidFill>
            <a:srgbClr val="FFFFFF"/>
          </a:solidFill>
          <a:ln w="8890">
            <a:solidFill>
              <a:srgbClr val="DC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575304" y="2615184"/>
            <a:ext cx="393192" cy="256032"/>
          </a:xfrm>
          <a:prstGeom prst="rect">
            <a:avLst/>
          </a:prstGeom>
          <a:noFill/>
        </p:spPr>
        <p:txBody>
          <a:bodyPr wrap="square" lIns="0" rIns="0" tIns="0" bIns="0">
            <a:spAutoFit/>
          </a:bodyPr>
          <a:lstStyle/>
          <a:p>
            <a:pPr>
              <a:lnSpc>
                <a:spcPct val="107000"/>
              </a:lnSpc>
              <a:spcBef>
                <a:spcPts val="0"/>
              </a:spcBef>
              <a:spcAft>
                <a:spcPts val="288"/>
              </a:spcAft>
              <a:defRPr sz="1200" b="1">
                <a:solidFill>
                  <a:srgbClr val="087F8C"/>
                </a:solidFill>
                <a:latin typeface="Arial"/>
              </a:defRPr>
            </a:pPr>
            <a:r>
              <a:t>02</a:t>
            </a:r>
          </a:p>
        </p:txBody>
      </p:sp>
      <p:sp>
        <p:nvSpPr>
          <p:cNvPr id="31" name="TextBox 30"/>
          <p:cNvSpPr txBox="1"/>
          <p:nvPr/>
        </p:nvSpPr>
        <p:spPr>
          <a:xfrm>
            <a:off x="3575304" y="2953512"/>
            <a:ext cx="2340864" cy="338328"/>
          </a:xfrm>
          <a:prstGeom prst="rect">
            <a:avLst/>
          </a:prstGeom>
          <a:noFill/>
        </p:spPr>
        <p:txBody>
          <a:bodyPr wrap="square" lIns="0" rIns="0" tIns="0" bIns="0">
            <a:spAutoFit/>
          </a:bodyPr>
          <a:lstStyle/>
          <a:p>
            <a:pPr>
              <a:lnSpc>
                <a:spcPct val="107000"/>
              </a:lnSpc>
              <a:spcBef>
                <a:spcPts val="0"/>
              </a:spcBef>
              <a:spcAft>
                <a:spcPts val="432"/>
              </a:spcAft>
              <a:defRPr sz="1800" b="1">
                <a:solidFill>
                  <a:srgbClr val="102A3A"/>
                </a:solidFill>
                <a:latin typeface="Arial"/>
              </a:defRPr>
            </a:pPr>
            <a:r>
              <a:t>Rules + coverage</a:t>
            </a:r>
          </a:p>
        </p:txBody>
      </p:sp>
      <p:sp>
        <p:nvSpPr>
          <p:cNvPr id="32" name="TextBox 31"/>
          <p:cNvSpPr txBox="1"/>
          <p:nvPr/>
        </p:nvSpPr>
        <p:spPr>
          <a:xfrm>
            <a:off x="3575304" y="3291840"/>
            <a:ext cx="2340864" cy="338328"/>
          </a:xfrm>
          <a:prstGeom prst="rect">
            <a:avLst/>
          </a:prstGeom>
          <a:noFill/>
        </p:spPr>
        <p:txBody>
          <a:bodyPr wrap="square" lIns="0" rIns="0" tIns="0" bIns="0">
            <a:spAutoFit/>
          </a:bodyPr>
          <a:lstStyle/>
          <a:p>
            <a:pPr>
              <a:lnSpc>
                <a:spcPct val="107000"/>
              </a:lnSpc>
              <a:spcBef>
                <a:spcPts val="0"/>
              </a:spcBef>
              <a:spcAft>
                <a:spcPts val="276"/>
              </a:spcAft>
              <a:defRPr sz="1150" b="0">
                <a:solidFill>
                  <a:srgbClr val="587080"/>
                </a:solidFill>
                <a:latin typeface="Arial"/>
              </a:defRPr>
            </a:pPr>
            <a:r>
              <a:t>Method, fiber and scope checks</a:t>
            </a:r>
          </a:p>
        </p:txBody>
      </p:sp>
      <p:cxnSp>
        <p:nvCxnSpPr>
          <p:cNvPr id="33" name="Connector 32"/>
          <p:cNvCxnSpPr/>
          <p:nvPr/>
        </p:nvCxnSpPr>
        <p:spPr>
          <a:xfrm>
            <a:off x="6062472" y="3090672"/>
            <a:ext cx="109728" cy="0"/>
          </a:xfrm>
          <a:prstGeom prst="line">
            <a:avLst/>
          </a:prstGeom>
          <a:ln w="12700">
            <a:solidFill>
              <a:srgbClr val="587080"/>
            </a:solidFill>
            <a:tailEnd type="triangle"/>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6199631" y="2487168"/>
            <a:ext cx="2624328" cy="1179576"/>
          </a:xfrm>
          <a:prstGeom prst="roundRect">
            <a:avLst>
              <a:gd name="adj" fmla="val 11627"/>
            </a:avLst>
          </a:prstGeom>
          <a:solidFill>
            <a:srgbClr val="FFFFFF"/>
          </a:solidFill>
          <a:ln w="8890">
            <a:solidFill>
              <a:srgbClr val="DC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345936" y="2615184"/>
            <a:ext cx="393192" cy="256032"/>
          </a:xfrm>
          <a:prstGeom prst="rect">
            <a:avLst/>
          </a:prstGeom>
          <a:noFill/>
        </p:spPr>
        <p:txBody>
          <a:bodyPr wrap="square" lIns="0" rIns="0" tIns="0" bIns="0">
            <a:spAutoFit/>
          </a:bodyPr>
          <a:lstStyle/>
          <a:p>
            <a:pPr>
              <a:lnSpc>
                <a:spcPct val="107000"/>
              </a:lnSpc>
              <a:spcBef>
                <a:spcPts val="0"/>
              </a:spcBef>
              <a:spcAft>
                <a:spcPts val="288"/>
              </a:spcAft>
              <a:defRPr sz="1200" b="1">
                <a:solidFill>
                  <a:srgbClr val="087F8C"/>
                </a:solidFill>
                <a:latin typeface="Arial"/>
              </a:defRPr>
            </a:pPr>
            <a:r>
              <a:t>03</a:t>
            </a:r>
          </a:p>
        </p:txBody>
      </p:sp>
      <p:sp>
        <p:nvSpPr>
          <p:cNvPr id="36" name="TextBox 35"/>
          <p:cNvSpPr txBox="1"/>
          <p:nvPr/>
        </p:nvSpPr>
        <p:spPr>
          <a:xfrm>
            <a:off x="6345936" y="2953512"/>
            <a:ext cx="2340864" cy="338328"/>
          </a:xfrm>
          <a:prstGeom prst="rect">
            <a:avLst/>
          </a:prstGeom>
          <a:noFill/>
        </p:spPr>
        <p:txBody>
          <a:bodyPr wrap="square" lIns="0" rIns="0" tIns="0" bIns="0">
            <a:spAutoFit/>
          </a:bodyPr>
          <a:lstStyle/>
          <a:p>
            <a:pPr>
              <a:lnSpc>
                <a:spcPct val="107000"/>
              </a:lnSpc>
              <a:spcBef>
                <a:spcPts val="0"/>
              </a:spcBef>
              <a:spcAft>
                <a:spcPts val="432"/>
              </a:spcAft>
              <a:defRPr sz="1800" b="1">
                <a:solidFill>
                  <a:srgbClr val="102A3A"/>
                </a:solidFill>
                <a:latin typeface="Arial"/>
              </a:defRPr>
            </a:pPr>
            <a:r>
              <a:t>Retrieve evidence</a:t>
            </a:r>
          </a:p>
        </p:txBody>
      </p:sp>
      <p:sp>
        <p:nvSpPr>
          <p:cNvPr id="37" name="TextBox 36"/>
          <p:cNvSpPr txBox="1"/>
          <p:nvPr/>
        </p:nvSpPr>
        <p:spPr>
          <a:xfrm>
            <a:off x="6345936" y="3291840"/>
            <a:ext cx="2340864" cy="338328"/>
          </a:xfrm>
          <a:prstGeom prst="rect">
            <a:avLst/>
          </a:prstGeom>
          <a:noFill/>
        </p:spPr>
        <p:txBody>
          <a:bodyPr wrap="square" lIns="0" rIns="0" tIns="0" bIns="0">
            <a:spAutoFit/>
          </a:bodyPr>
          <a:lstStyle/>
          <a:p>
            <a:pPr>
              <a:lnSpc>
                <a:spcPct val="107000"/>
              </a:lnSpc>
              <a:spcBef>
                <a:spcPts val="0"/>
              </a:spcBef>
              <a:spcAft>
                <a:spcPts val="276"/>
              </a:spcAft>
              <a:defRPr sz="1150" b="0">
                <a:solidFill>
                  <a:srgbClr val="587080"/>
                </a:solidFill>
                <a:latin typeface="Arial"/>
              </a:defRPr>
            </a:pPr>
            <a:r>
              <a:t>BM25 + dense → RRF → MMR</a:t>
            </a:r>
          </a:p>
        </p:txBody>
      </p:sp>
      <p:cxnSp>
        <p:nvCxnSpPr>
          <p:cNvPr id="38" name="Connector 37"/>
          <p:cNvCxnSpPr/>
          <p:nvPr/>
        </p:nvCxnSpPr>
        <p:spPr>
          <a:xfrm>
            <a:off x="8833104" y="3090672"/>
            <a:ext cx="109728" cy="0"/>
          </a:xfrm>
          <a:prstGeom prst="line">
            <a:avLst/>
          </a:prstGeom>
          <a:ln w="12700">
            <a:solidFill>
              <a:srgbClr val="587080"/>
            </a:solidFill>
            <a:tailEnd type="triangle"/>
          </a:ln>
        </p:spPr>
        <p:style>
          <a:lnRef idx="2">
            <a:schemeClr val="accent1"/>
          </a:lnRef>
          <a:fillRef idx="0">
            <a:schemeClr val="accent1"/>
          </a:fillRef>
          <a:effectRef idx="1">
            <a:schemeClr val="accent1"/>
          </a:effectRef>
          <a:fontRef idx="minor">
            <a:schemeClr val="tx1"/>
          </a:fontRef>
        </p:style>
      </p:cxnSp>
      <p:sp>
        <p:nvSpPr>
          <p:cNvPr id="39" name="Rounded Rectangle 38"/>
          <p:cNvSpPr/>
          <p:nvPr/>
        </p:nvSpPr>
        <p:spPr>
          <a:xfrm>
            <a:off x="8970264" y="2487168"/>
            <a:ext cx="2624328" cy="1179576"/>
          </a:xfrm>
          <a:prstGeom prst="roundRect">
            <a:avLst>
              <a:gd name="adj" fmla="val 11627"/>
            </a:avLst>
          </a:prstGeom>
          <a:solidFill>
            <a:srgbClr val="FFFFFF"/>
          </a:solidFill>
          <a:ln w="8890">
            <a:solidFill>
              <a:srgbClr val="DC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116568" y="2615184"/>
            <a:ext cx="393192" cy="256032"/>
          </a:xfrm>
          <a:prstGeom prst="rect">
            <a:avLst/>
          </a:prstGeom>
          <a:noFill/>
        </p:spPr>
        <p:txBody>
          <a:bodyPr wrap="square" lIns="0" rIns="0" tIns="0" bIns="0">
            <a:spAutoFit/>
          </a:bodyPr>
          <a:lstStyle/>
          <a:p>
            <a:pPr>
              <a:lnSpc>
                <a:spcPct val="107000"/>
              </a:lnSpc>
              <a:spcBef>
                <a:spcPts val="0"/>
              </a:spcBef>
              <a:spcAft>
                <a:spcPts val="288"/>
              </a:spcAft>
              <a:defRPr sz="1200" b="1">
                <a:solidFill>
                  <a:srgbClr val="2C62C9"/>
                </a:solidFill>
                <a:latin typeface="Arial"/>
              </a:defRPr>
            </a:pPr>
            <a:r>
              <a:t>04</a:t>
            </a:r>
          </a:p>
        </p:txBody>
      </p:sp>
      <p:sp>
        <p:nvSpPr>
          <p:cNvPr id="41" name="TextBox 40"/>
          <p:cNvSpPr txBox="1"/>
          <p:nvPr/>
        </p:nvSpPr>
        <p:spPr>
          <a:xfrm>
            <a:off x="9116568" y="2953512"/>
            <a:ext cx="2340864" cy="338328"/>
          </a:xfrm>
          <a:prstGeom prst="rect">
            <a:avLst/>
          </a:prstGeom>
          <a:noFill/>
        </p:spPr>
        <p:txBody>
          <a:bodyPr wrap="square" lIns="0" rIns="0" tIns="0" bIns="0">
            <a:spAutoFit/>
          </a:bodyPr>
          <a:lstStyle/>
          <a:p>
            <a:pPr>
              <a:lnSpc>
                <a:spcPct val="107000"/>
              </a:lnSpc>
              <a:spcBef>
                <a:spcPts val="0"/>
              </a:spcBef>
              <a:spcAft>
                <a:spcPts val="432"/>
              </a:spcAft>
              <a:defRPr sz="1800" b="1">
                <a:solidFill>
                  <a:srgbClr val="102A3A"/>
                </a:solidFill>
                <a:latin typeface="Arial"/>
              </a:defRPr>
            </a:pPr>
            <a:r>
              <a:t>Test premises</a:t>
            </a:r>
          </a:p>
        </p:txBody>
      </p:sp>
      <p:sp>
        <p:nvSpPr>
          <p:cNvPr id="42" name="TextBox 41"/>
          <p:cNvSpPr txBox="1"/>
          <p:nvPr/>
        </p:nvSpPr>
        <p:spPr>
          <a:xfrm>
            <a:off x="9116568" y="3291840"/>
            <a:ext cx="2340864" cy="338328"/>
          </a:xfrm>
          <a:prstGeom prst="rect">
            <a:avLst/>
          </a:prstGeom>
          <a:noFill/>
        </p:spPr>
        <p:txBody>
          <a:bodyPr wrap="square" lIns="0" rIns="0" tIns="0" bIns="0">
            <a:spAutoFit/>
          </a:bodyPr>
          <a:lstStyle/>
          <a:p>
            <a:pPr>
              <a:lnSpc>
                <a:spcPct val="107000"/>
              </a:lnSpc>
              <a:spcBef>
                <a:spcPts val="0"/>
              </a:spcBef>
              <a:spcAft>
                <a:spcPts val="276"/>
              </a:spcAft>
              <a:defRPr sz="1150" b="0">
                <a:solidFill>
                  <a:srgbClr val="587080"/>
                </a:solidFill>
                <a:latin typeface="Arial"/>
              </a:defRPr>
            </a:pPr>
            <a:r>
              <a:t>Supported, contradicted or unknown</a:t>
            </a:r>
          </a:p>
        </p:txBody>
      </p:sp>
      <p:sp>
        <p:nvSpPr>
          <p:cNvPr id="43" name="Rounded Rectangle 42"/>
          <p:cNvSpPr/>
          <p:nvPr/>
        </p:nvSpPr>
        <p:spPr>
          <a:xfrm>
            <a:off x="658368" y="3858768"/>
            <a:ext cx="2624328" cy="1179576"/>
          </a:xfrm>
          <a:prstGeom prst="roundRect">
            <a:avLst>
              <a:gd name="adj" fmla="val 11627"/>
            </a:avLst>
          </a:prstGeom>
          <a:solidFill>
            <a:srgbClr val="FFFFFF"/>
          </a:solidFill>
          <a:ln w="8890">
            <a:solidFill>
              <a:srgbClr val="DC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04672" y="3986784"/>
            <a:ext cx="393192" cy="256032"/>
          </a:xfrm>
          <a:prstGeom prst="rect">
            <a:avLst/>
          </a:prstGeom>
          <a:noFill/>
        </p:spPr>
        <p:txBody>
          <a:bodyPr wrap="square" lIns="0" rIns="0" tIns="0" bIns="0">
            <a:spAutoFit/>
          </a:bodyPr>
          <a:lstStyle/>
          <a:p>
            <a:pPr>
              <a:lnSpc>
                <a:spcPct val="107000"/>
              </a:lnSpc>
              <a:spcBef>
                <a:spcPts val="0"/>
              </a:spcBef>
              <a:spcAft>
                <a:spcPts val="288"/>
              </a:spcAft>
              <a:defRPr sz="1200" b="1">
                <a:solidFill>
                  <a:srgbClr val="2C62C9"/>
                </a:solidFill>
                <a:latin typeface="Arial"/>
              </a:defRPr>
            </a:pPr>
            <a:r>
              <a:t>05</a:t>
            </a:r>
          </a:p>
        </p:txBody>
      </p:sp>
      <p:sp>
        <p:nvSpPr>
          <p:cNvPr id="45" name="TextBox 44"/>
          <p:cNvSpPr txBox="1"/>
          <p:nvPr/>
        </p:nvSpPr>
        <p:spPr>
          <a:xfrm>
            <a:off x="804672" y="4325112"/>
            <a:ext cx="2340864" cy="338328"/>
          </a:xfrm>
          <a:prstGeom prst="rect">
            <a:avLst/>
          </a:prstGeom>
          <a:noFill/>
        </p:spPr>
        <p:txBody>
          <a:bodyPr wrap="square" lIns="0" rIns="0" tIns="0" bIns="0">
            <a:spAutoFit/>
          </a:bodyPr>
          <a:lstStyle/>
          <a:p>
            <a:pPr>
              <a:lnSpc>
                <a:spcPct val="107000"/>
              </a:lnSpc>
              <a:spcBef>
                <a:spcPts val="0"/>
              </a:spcBef>
              <a:spcAft>
                <a:spcPts val="432"/>
              </a:spcAft>
              <a:defRPr sz="1800" b="1">
                <a:solidFill>
                  <a:srgbClr val="102A3A"/>
                </a:solidFill>
                <a:latin typeface="Arial"/>
              </a:defRPr>
            </a:pPr>
            <a:r>
              <a:t>Draft the report</a:t>
            </a:r>
          </a:p>
        </p:txBody>
      </p:sp>
      <p:sp>
        <p:nvSpPr>
          <p:cNvPr id="46" name="TextBox 45"/>
          <p:cNvSpPr txBox="1"/>
          <p:nvPr/>
        </p:nvSpPr>
        <p:spPr>
          <a:xfrm>
            <a:off x="804672" y="4663440"/>
            <a:ext cx="2340864" cy="338328"/>
          </a:xfrm>
          <a:prstGeom prst="rect">
            <a:avLst/>
          </a:prstGeom>
          <a:noFill/>
        </p:spPr>
        <p:txBody>
          <a:bodyPr wrap="square" lIns="0" rIns="0" tIns="0" bIns="0">
            <a:spAutoFit/>
          </a:bodyPr>
          <a:lstStyle/>
          <a:p>
            <a:pPr>
              <a:lnSpc>
                <a:spcPct val="107000"/>
              </a:lnSpc>
              <a:spcBef>
                <a:spcPts val="0"/>
              </a:spcBef>
              <a:spcAft>
                <a:spcPts val="276"/>
              </a:spcAft>
              <a:defRPr sz="1150" b="0">
                <a:solidFill>
                  <a:srgbClr val="587080"/>
                </a:solidFill>
                <a:latin typeface="Arial"/>
              </a:defRPr>
            </a:pPr>
            <a:r>
              <a:t>Fast model or Council drafts</a:t>
            </a:r>
          </a:p>
        </p:txBody>
      </p:sp>
      <p:cxnSp>
        <p:nvCxnSpPr>
          <p:cNvPr id="47" name="Connector 46"/>
          <p:cNvCxnSpPr/>
          <p:nvPr/>
        </p:nvCxnSpPr>
        <p:spPr>
          <a:xfrm>
            <a:off x="3291839" y="4462272"/>
            <a:ext cx="109729" cy="0"/>
          </a:xfrm>
          <a:prstGeom prst="line">
            <a:avLst/>
          </a:prstGeom>
          <a:ln w="12700">
            <a:solidFill>
              <a:srgbClr val="587080"/>
            </a:solidFill>
            <a:tailEnd type="triangle"/>
          </a:ln>
        </p:spPr>
        <p:style>
          <a:lnRef idx="2">
            <a:schemeClr val="accent1"/>
          </a:lnRef>
          <a:fillRef idx="0">
            <a:schemeClr val="accent1"/>
          </a:fillRef>
          <a:effectRef idx="1">
            <a:schemeClr val="accent1"/>
          </a:effectRef>
          <a:fontRef idx="minor">
            <a:schemeClr val="tx1"/>
          </a:fontRef>
        </p:style>
      </p:cxnSp>
      <p:sp>
        <p:nvSpPr>
          <p:cNvPr id="48" name="Rounded Rectangle 47"/>
          <p:cNvSpPr/>
          <p:nvPr/>
        </p:nvSpPr>
        <p:spPr>
          <a:xfrm>
            <a:off x="3429000" y="3858768"/>
            <a:ext cx="2624328" cy="1179576"/>
          </a:xfrm>
          <a:prstGeom prst="roundRect">
            <a:avLst>
              <a:gd name="adj" fmla="val 11627"/>
            </a:avLst>
          </a:prstGeom>
          <a:solidFill>
            <a:srgbClr val="FFFFFF"/>
          </a:solidFill>
          <a:ln w="8890">
            <a:solidFill>
              <a:srgbClr val="DC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3575304" y="3986784"/>
            <a:ext cx="393192" cy="256032"/>
          </a:xfrm>
          <a:prstGeom prst="rect">
            <a:avLst/>
          </a:prstGeom>
          <a:noFill/>
        </p:spPr>
        <p:txBody>
          <a:bodyPr wrap="square" lIns="0" rIns="0" tIns="0" bIns="0">
            <a:spAutoFit/>
          </a:bodyPr>
          <a:lstStyle/>
          <a:p>
            <a:pPr>
              <a:lnSpc>
                <a:spcPct val="107000"/>
              </a:lnSpc>
              <a:spcBef>
                <a:spcPts val="0"/>
              </a:spcBef>
              <a:spcAft>
                <a:spcPts val="288"/>
              </a:spcAft>
              <a:defRPr sz="1200" b="1">
                <a:solidFill>
                  <a:srgbClr val="087F8C"/>
                </a:solidFill>
                <a:latin typeface="Arial"/>
              </a:defRPr>
            </a:pPr>
            <a:r>
              <a:t>06</a:t>
            </a:r>
          </a:p>
        </p:txBody>
      </p:sp>
      <p:sp>
        <p:nvSpPr>
          <p:cNvPr id="50" name="TextBox 49"/>
          <p:cNvSpPr txBox="1"/>
          <p:nvPr/>
        </p:nvSpPr>
        <p:spPr>
          <a:xfrm>
            <a:off x="3575304" y="4325112"/>
            <a:ext cx="2340864" cy="338328"/>
          </a:xfrm>
          <a:prstGeom prst="rect">
            <a:avLst/>
          </a:prstGeom>
          <a:noFill/>
        </p:spPr>
        <p:txBody>
          <a:bodyPr wrap="square" lIns="0" rIns="0" tIns="0" bIns="0">
            <a:spAutoFit/>
          </a:bodyPr>
          <a:lstStyle/>
          <a:p>
            <a:pPr>
              <a:lnSpc>
                <a:spcPct val="107000"/>
              </a:lnSpc>
              <a:spcBef>
                <a:spcPts val="0"/>
              </a:spcBef>
              <a:spcAft>
                <a:spcPts val="432"/>
              </a:spcAft>
              <a:defRPr sz="1800" b="1">
                <a:solidFill>
                  <a:srgbClr val="102A3A"/>
                </a:solidFill>
                <a:latin typeface="Arial"/>
              </a:defRPr>
            </a:pPr>
            <a:r>
              <a:t>Verify claims</a:t>
            </a:r>
          </a:p>
        </p:txBody>
      </p:sp>
      <p:sp>
        <p:nvSpPr>
          <p:cNvPr id="51" name="TextBox 50"/>
          <p:cNvSpPr txBox="1"/>
          <p:nvPr/>
        </p:nvSpPr>
        <p:spPr>
          <a:xfrm>
            <a:off x="3575304" y="4663440"/>
            <a:ext cx="2340864" cy="338328"/>
          </a:xfrm>
          <a:prstGeom prst="rect">
            <a:avLst/>
          </a:prstGeom>
          <a:noFill/>
        </p:spPr>
        <p:txBody>
          <a:bodyPr wrap="square" lIns="0" rIns="0" tIns="0" bIns="0">
            <a:spAutoFit/>
          </a:bodyPr>
          <a:lstStyle/>
          <a:p>
            <a:pPr>
              <a:lnSpc>
                <a:spcPct val="107000"/>
              </a:lnSpc>
              <a:spcBef>
                <a:spcPts val="0"/>
              </a:spcBef>
              <a:spcAft>
                <a:spcPts val="276"/>
              </a:spcAft>
              <a:defRPr sz="1150" b="0">
                <a:solidFill>
                  <a:srgbClr val="587080"/>
                </a:solidFill>
                <a:latin typeface="Arial"/>
              </a:defRPr>
            </a:pPr>
            <a:r>
              <a:t>Quotes, numbers and client facts</a:t>
            </a:r>
          </a:p>
        </p:txBody>
      </p:sp>
      <p:cxnSp>
        <p:nvCxnSpPr>
          <p:cNvPr id="52" name="Connector 51"/>
          <p:cNvCxnSpPr/>
          <p:nvPr/>
        </p:nvCxnSpPr>
        <p:spPr>
          <a:xfrm>
            <a:off x="6062472" y="4462272"/>
            <a:ext cx="109728" cy="0"/>
          </a:xfrm>
          <a:prstGeom prst="line">
            <a:avLst/>
          </a:prstGeom>
          <a:ln w="12700">
            <a:solidFill>
              <a:srgbClr val="587080"/>
            </a:solidFill>
            <a:tailEnd type="triangle"/>
          </a:ln>
        </p:spPr>
        <p:style>
          <a:lnRef idx="2">
            <a:schemeClr val="accent1"/>
          </a:lnRef>
          <a:fillRef idx="0">
            <a:schemeClr val="accent1"/>
          </a:fillRef>
          <a:effectRef idx="1">
            <a:schemeClr val="accent1"/>
          </a:effectRef>
          <a:fontRef idx="minor">
            <a:schemeClr val="tx1"/>
          </a:fontRef>
        </p:style>
      </p:cxnSp>
      <p:sp>
        <p:nvSpPr>
          <p:cNvPr id="53" name="Rounded Rectangle 52"/>
          <p:cNvSpPr/>
          <p:nvPr/>
        </p:nvSpPr>
        <p:spPr>
          <a:xfrm>
            <a:off x="6199631" y="3858768"/>
            <a:ext cx="2624328" cy="1179576"/>
          </a:xfrm>
          <a:prstGeom prst="roundRect">
            <a:avLst>
              <a:gd name="adj" fmla="val 11627"/>
            </a:avLst>
          </a:prstGeom>
          <a:solidFill>
            <a:srgbClr val="FFFFFF"/>
          </a:solidFill>
          <a:ln w="8890">
            <a:solidFill>
              <a:srgbClr val="DC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6345936" y="3986784"/>
            <a:ext cx="393192" cy="256032"/>
          </a:xfrm>
          <a:prstGeom prst="rect">
            <a:avLst/>
          </a:prstGeom>
          <a:noFill/>
        </p:spPr>
        <p:txBody>
          <a:bodyPr wrap="square" lIns="0" rIns="0" tIns="0" bIns="0">
            <a:spAutoFit/>
          </a:bodyPr>
          <a:lstStyle/>
          <a:p>
            <a:pPr>
              <a:lnSpc>
                <a:spcPct val="107000"/>
              </a:lnSpc>
              <a:spcBef>
                <a:spcPts val="0"/>
              </a:spcBef>
              <a:spcAft>
                <a:spcPts val="288"/>
              </a:spcAft>
              <a:defRPr sz="1200" b="1">
                <a:solidFill>
                  <a:srgbClr val="B06A16"/>
                </a:solidFill>
                <a:latin typeface="Arial"/>
              </a:defRPr>
            </a:pPr>
            <a:r>
              <a:t>07</a:t>
            </a:r>
          </a:p>
        </p:txBody>
      </p:sp>
      <p:sp>
        <p:nvSpPr>
          <p:cNvPr id="55" name="TextBox 54"/>
          <p:cNvSpPr txBox="1"/>
          <p:nvPr/>
        </p:nvSpPr>
        <p:spPr>
          <a:xfrm>
            <a:off x="6345936" y="4325112"/>
            <a:ext cx="2340864" cy="338328"/>
          </a:xfrm>
          <a:prstGeom prst="rect">
            <a:avLst/>
          </a:prstGeom>
          <a:noFill/>
        </p:spPr>
        <p:txBody>
          <a:bodyPr wrap="square" lIns="0" rIns="0" tIns="0" bIns="0">
            <a:spAutoFit/>
          </a:bodyPr>
          <a:lstStyle/>
          <a:p>
            <a:pPr>
              <a:lnSpc>
                <a:spcPct val="107000"/>
              </a:lnSpc>
              <a:spcBef>
                <a:spcPts val="0"/>
              </a:spcBef>
              <a:spcAft>
                <a:spcPts val="432"/>
              </a:spcAft>
              <a:defRPr sz="1800" b="1">
                <a:solidFill>
                  <a:srgbClr val="102A3A"/>
                </a:solidFill>
                <a:latin typeface="Arial"/>
              </a:defRPr>
            </a:pPr>
            <a:r>
              <a:t>Quality gate</a:t>
            </a:r>
          </a:p>
        </p:txBody>
      </p:sp>
      <p:sp>
        <p:nvSpPr>
          <p:cNvPr id="56" name="TextBox 55"/>
          <p:cNvSpPr txBox="1"/>
          <p:nvPr/>
        </p:nvSpPr>
        <p:spPr>
          <a:xfrm>
            <a:off x="6345936" y="4663440"/>
            <a:ext cx="2340864" cy="338328"/>
          </a:xfrm>
          <a:prstGeom prst="rect">
            <a:avLst/>
          </a:prstGeom>
          <a:noFill/>
        </p:spPr>
        <p:txBody>
          <a:bodyPr wrap="square" lIns="0" rIns="0" tIns="0" bIns="0">
            <a:spAutoFit/>
          </a:bodyPr>
          <a:lstStyle/>
          <a:p>
            <a:pPr>
              <a:lnSpc>
                <a:spcPct val="107000"/>
              </a:lnSpc>
              <a:spcBef>
                <a:spcPts val="0"/>
              </a:spcBef>
              <a:spcAft>
                <a:spcPts val="276"/>
              </a:spcAft>
              <a:defRPr sz="1150" b="0">
                <a:solidFill>
                  <a:srgbClr val="587080"/>
                </a:solidFill>
                <a:latin typeface="Arial"/>
              </a:defRPr>
            </a:pPr>
            <a:r>
              <a:t>16 checks; at most one repair</a:t>
            </a:r>
          </a:p>
        </p:txBody>
      </p:sp>
      <p:cxnSp>
        <p:nvCxnSpPr>
          <p:cNvPr id="57" name="Connector 56"/>
          <p:cNvCxnSpPr/>
          <p:nvPr/>
        </p:nvCxnSpPr>
        <p:spPr>
          <a:xfrm>
            <a:off x="8833104" y="4462272"/>
            <a:ext cx="109728" cy="0"/>
          </a:xfrm>
          <a:prstGeom prst="line">
            <a:avLst/>
          </a:prstGeom>
          <a:ln w="12700">
            <a:solidFill>
              <a:srgbClr val="587080"/>
            </a:solidFill>
            <a:tailEnd type="triangle"/>
          </a:ln>
        </p:spPr>
        <p:style>
          <a:lnRef idx="2">
            <a:schemeClr val="accent1"/>
          </a:lnRef>
          <a:fillRef idx="0">
            <a:schemeClr val="accent1"/>
          </a:fillRef>
          <a:effectRef idx="1">
            <a:schemeClr val="accent1"/>
          </a:effectRef>
          <a:fontRef idx="minor">
            <a:schemeClr val="tx1"/>
          </a:fontRef>
        </p:style>
      </p:cxnSp>
      <p:sp>
        <p:nvSpPr>
          <p:cNvPr id="58" name="Rounded Rectangle 57"/>
          <p:cNvSpPr/>
          <p:nvPr/>
        </p:nvSpPr>
        <p:spPr>
          <a:xfrm>
            <a:off x="8970264" y="3858768"/>
            <a:ext cx="2624328" cy="1179576"/>
          </a:xfrm>
          <a:prstGeom prst="roundRect">
            <a:avLst>
              <a:gd name="adj" fmla="val 11627"/>
            </a:avLst>
          </a:prstGeom>
          <a:solidFill>
            <a:srgbClr val="FFFFFF"/>
          </a:solidFill>
          <a:ln w="8890">
            <a:solidFill>
              <a:srgbClr val="DC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9116568" y="3986784"/>
            <a:ext cx="393192" cy="256032"/>
          </a:xfrm>
          <a:prstGeom prst="rect">
            <a:avLst/>
          </a:prstGeom>
          <a:noFill/>
        </p:spPr>
        <p:txBody>
          <a:bodyPr wrap="square" lIns="0" rIns="0" tIns="0" bIns="0">
            <a:spAutoFit/>
          </a:bodyPr>
          <a:lstStyle/>
          <a:p>
            <a:pPr>
              <a:lnSpc>
                <a:spcPct val="107000"/>
              </a:lnSpc>
              <a:spcBef>
                <a:spcPts val="0"/>
              </a:spcBef>
              <a:spcAft>
                <a:spcPts val="288"/>
              </a:spcAft>
              <a:defRPr sz="1200" b="1">
                <a:solidFill>
                  <a:srgbClr val="087F8C"/>
                </a:solidFill>
                <a:latin typeface="Arial"/>
              </a:defRPr>
            </a:pPr>
            <a:r>
              <a:t>08</a:t>
            </a:r>
          </a:p>
        </p:txBody>
      </p:sp>
      <p:sp>
        <p:nvSpPr>
          <p:cNvPr id="60" name="TextBox 59"/>
          <p:cNvSpPr txBox="1"/>
          <p:nvPr/>
        </p:nvSpPr>
        <p:spPr>
          <a:xfrm>
            <a:off x="9116568" y="4325112"/>
            <a:ext cx="2340864" cy="338328"/>
          </a:xfrm>
          <a:prstGeom prst="rect">
            <a:avLst/>
          </a:prstGeom>
          <a:noFill/>
        </p:spPr>
        <p:txBody>
          <a:bodyPr wrap="square" lIns="0" rIns="0" tIns="0" bIns="0">
            <a:spAutoFit/>
          </a:bodyPr>
          <a:lstStyle/>
          <a:p>
            <a:pPr>
              <a:lnSpc>
                <a:spcPct val="107000"/>
              </a:lnSpc>
              <a:spcBef>
                <a:spcPts val="0"/>
              </a:spcBef>
              <a:spcAft>
                <a:spcPts val="432"/>
              </a:spcAft>
              <a:defRPr sz="1800" b="1">
                <a:solidFill>
                  <a:srgbClr val="102A3A"/>
                </a:solidFill>
                <a:latin typeface="Arial"/>
              </a:defRPr>
            </a:pPr>
            <a:r>
              <a:t>Confidence + coach</a:t>
            </a:r>
          </a:p>
        </p:txBody>
      </p:sp>
      <p:sp>
        <p:nvSpPr>
          <p:cNvPr id="61" name="TextBox 60"/>
          <p:cNvSpPr txBox="1"/>
          <p:nvPr/>
        </p:nvSpPr>
        <p:spPr>
          <a:xfrm>
            <a:off x="9116568" y="4663440"/>
            <a:ext cx="2340864" cy="338328"/>
          </a:xfrm>
          <a:prstGeom prst="rect">
            <a:avLst/>
          </a:prstGeom>
          <a:noFill/>
        </p:spPr>
        <p:txBody>
          <a:bodyPr wrap="square" lIns="0" rIns="0" tIns="0" bIns="0">
            <a:spAutoFit/>
          </a:bodyPr>
          <a:lstStyle/>
          <a:p>
            <a:pPr>
              <a:lnSpc>
                <a:spcPct val="107000"/>
              </a:lnSpc>
              <a:spcBef>
                <a:spcPts val="0"/>
              </a:spcBef>
              <a:spcAft>
                <a:spcPts val="276"/>
              </a:spcAft>
              <a:defRPr sz="1150" b="0">
                <a:solidFill>
                  <a:srgbClr val="587080"/>
                </a:solidFill>
                <a:latin typeface="Arial"/>
              </a:defRPr>
            </a:pPr>
            <a:r>
              <a:t>Signals, caps and follow-up needs</a:t>
            </a:r>
          </a:p>
        </p:txBody>
      </p:sp>
      <p:sp>
        <p:nvSpPr>
          <p:cNvPr id="62" name="TextBox 61"/>
          <p:cNvSpPr txBox="1"/>
          <p:nvPr/>
        </p:nvSpPr>
        <p:spPr>
          <a:xfrm>
            <a:off x="685800" y="5513832"/>
            <a:ext cx="10972800" cy="310896"/>
          </a:xfrm>
          <a:prstGeom prst="rect">
            <a:avLst/>
          </a:prstGeom>
          <a:noFill/>
        </p:spPr>
        <p:txBody>
          <a:bodyPr wrap="square" lIns="0" rIns="0" tIns="0" bIns="0">
            <a:spAutoFit/>
          </a:bodyPr>
          <a:lstStyle/>
          <a:p>
            <a:pPr>
              <a:lnSpc>
                <a:spcPct val="107000"/>
              </a:lnSpc>
              <a:spcBef>
                <a:spcPts val="0"/>
              </a:spcBef>
              <a:spcAft>
                <a:spcPts val="359"/>
              </a:spcAft>
              <a:defRPr sz="1500" b="0">
                <a:solidFill>
                  <a:srgbClr val="587080"/>
                </a:solidFill>
                <a:latin typeface="Arial"/>
              </a:defRPr>
            </a:pPr>
            <a:r>
              <a:t>Browser + live SSE   •   Python / FastAPI / Pydantic   •   Groq   •   Supabase + local SQLite fallback</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3F6FA"/>
        </a:solidFill>
        <a:effectLst/>
      </p:bgPr>
    </p:bg>
    <p:spTree>
      <p:nvGrpSpPr>
        <p:cNvPr id="1" name=""/>
        <p:cNvGrpSpPr/>
        <p:nvPr/>
      </p:nvGrpSpPr>
      <p:grpSpPr/>
      <p:sp>
        <p:nvSpPr>
          <p:cNvPr id="2" name="Rectangle 1"/>
          <p:cNvSpPr/>
          <p:nvPr/>
        </p:nvSpPr>
        <p:spPr>
          <a:xfrm>
            <a:off x="0" y="0"/>
            <a:ext cx="1223771" cy="50292"/>
          </a:xfrm>
          <a:prstGeom prst="rect">
            <a:avLst/>
          </a:prstGeom>
          <a:solidFill>
            <a:srgbClr val="7044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19199" y="0"/>
            <a:ext cx="1223771" cy="50292"/>
          </a:xfrm>
          <a:prstGeom prst="rect">
            <a:avLst/>
          </a:prstGeom>
          <a:solidFill>
            <a:srgbClr val="5E4D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438399" y="0"/>
            <a:ext cx="1223771" cy="50292"/>
          </a:xfrm>
          <a:prstGeom prst="rect">
            <a:avLst/>
          </a:prstGeom>
          <a:solidFill>
            <a:srgbClr val="426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57599" y="0"/>
            <a:ext cx="1223771" cy="50292"/>
          </a:xfrm>
          <a:prstGeom prst="rect">
            <a:avLst/>
          </a:prstGeom>
          <a:solidFill>
            <a:srgbClr val="2886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876799" y="0"/>
            <a:ext cx="1223771" cy="50292"/>
          </a:xfrm>
          <a:prstGeom prst="rect">
            <a:avLst/>
          </a:prstGeom>
          <a:solidFill>
            <a:srgbClr val="1591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095999" y="0"/>
            <a:ext cx="1223771" cy="50292"/>
          </a:xfrm>
          <a:prstGeom prst="rect">
            <a:avLst/>
          </a:prstGeom>
          <a:solidFill>
            <a:srgbClr val="2999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199" y="0"/>
            <a:ext cx="1223771" cy="50292"/>
          </a:xfrm>
          <a:prstGeom prst="rect">
            <a:avLst/>
          </a:prstGeom>
          <a:solidFill>
            <a:srgbClr val="7DAD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534399" y="0"/>
            <a:ext cx="1223771" cy="50292"/>
          </a:xfrm>
          <a:prstGeom prst="rect">
            <a:avLst/>
          </a:prstGeom>
          <a:solidFill>
            <a:srgbClr val="C6A6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753599" y="0"/>
            <a:ext cx="1223771" cy="50292"/>
          </a:xfrm>
          <a:prstGeom prst="rect">
            <a:avLst/>
          </a:prstGeom>
          <a:solidFill>
            <a:srgbClr val="CC7B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0972799" y="0"/>
            <a:ext cx="1223771" cy="50292"/>
          </a:xfrm>
          <a:prstGeom prst="rect">
            <a:avLst/>
          </a:prstGeom>
          <a:solidFill>
            <a:srgbClr val="B84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1792" y="365760"/>
            <a:ext cx="10972800" cy="246888"/>
          </a:xfrm>
          <a:prstGeom prst="rect">
            <a:avLst/>
          </a:prstGeom>
          <a:noFill/>
        </p:spPr>
        <p:txBody>
          <a:bodyPr wrap="square" lIns="0" rIns="0" tIns="0" bIns="0">
            <a:spAutoFit/>
          </a:bodyPr>
          <a:lstStyle/>
          <a:p>
            <a:pPr>
              <a:lnSpc>
                <a:spcPct val="107000"/>
              </a:lnSpc>
              <a:spcBef>
                <a:spcPts val="0"/>
              </a:spcBef>
              <a:spcAft>
                <a:spcPts val="252"/>
              </a:spcAft>
              <a:defRPr sz="1050" b="1">
                <a:solidFill>
                  <a:srgbClr val="087F8C"/>
                </a:solidFill>
                <a:latin typeface="Arial"/>
              </a:defRPr>
            </a:pPr>
            <a:r>
              <a:t>03 / USE OF AFS MATERIALS</a:t>
            </a:r>
          </a:p>
        </p:txBody>
      </p:sp>
      <p:sp>
        <p:nvSpPr>
          <p:cNvPr id="13" name="TextBox 12"/>
          <p:cNvSpPr txBox="1"/>
          <p:nvPr/>
        </p:nvSpPr>
        <p:spPr>
          <a:xfrm>
            <a:off x="621792" y="841248"/>
            <a:ext cx="10972800" cy="941832"/>
          </a:xfrm>
          <a:prstGeom prst="rect">
            <a:avLst/>
          </a:prstGeom>
          <a:noFill/>
        </p:spPr>
        <p:txBody>
          <a:bodyPr wrap="square" lIns="0" rIns="0" tIns="0" bIns="0">
            <a:spAutoFit/>
          </a:bodyPr>
          <a:lstStyle/>
          <a:p>
            <a:pPr>
              <a:lnSpc>
                <a:spcPct val="107000"/>
              </a:lnSpc>
              <a:spcBef>
                <a:spcPts val="0"/>
              </a:spcBef>
              <a:spcAft>
                <a:spcPts val="744"/>
              </a:spcAft>
              <a:defRPr sz="3100" b="1">
                <a:solidFill>
                  <a:srgbClr val="102A3A"/>
                </a:solidFill>
                <a:latin typeface="Arial"/>
              </a:defRPr>
            </a:pPr>
            <a:r>
              <a:t>AFS knowledge becomes checkable evidence.</a:t>
            </a:r>
          </a:p>
        </p:txBody>
      </p:sp>
      <p:sp>
        <p:nvSpPr>
          <p:cNvPr id="14" name="TextBox 13"/>
          <p:cNvSpPr txBox="1"/>
          <p:nvPr/>
        </p:nvSpPr>
        <p:spPr>
          <a:xfrm>
            <a:off x="640080" y="1417320"/>
            <a:ext cx="10927080" cy="475488"/>
          </a:xfrm>
          <a:prstGeom prst="rect">
            <a:avLst/>
          </a:prstGeom>
          <a:noFill/>
        </p:spPr>
        <p:txBody>
          <a:bodyPr wrap="square" lIns="0" rIns="0" tIns="0" bIns="0">
            <a:spAutoFit/>
          </a:bodyPr>
          <a:lstStyle/>
          <a:p>
            <a:pPr>
              <a:lnSpc>
                <a:spcPct val="107000"/>
              </a:lnSpc>
              <a:spcBef>
                <a:spcPts val="0"/>
              </a:spcBef>
              <a:spcAft>
                <a:spcPts val="359"/>
              </a:spcAft>
              <a:defRPr sz="1500" b="0">
                <a:solidFill>
                  <a:srgbClr val="587080"/>
                </a:solidFill>
                <a:latin typeface="Arial"/>
              </a:defRPr>
            </a:pPr>
            <a:r>
              <a:t>The source, page, quote and evidence scope travel with the recommendation.</a:t>
            </a:r>
          </a:p>
        </p:txBody>
      </p:sp>
      <p:cxnSp>
        <p:nvCxnSpPr>
          <p:cNvPr id="15" name="Connector 14"/>
          <p:cNvCxnSpPr/>
          <p:nvPr/>
        </p:nvCxnSpPr>
        <p:spPr>
          <a:xfrm>
            <a:off x="621792" y="6318504"/>
            <a:ext cx="10945368" cy="0"/>
          </a:xfrm>
          <a:prstGeom prst="line">
            <a:avLst/>
          </a:prstGeom>
          <a:ln w="8890">
            <a:solidFill>
              <a:srgbClr val="DCE5ED"/>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40080" y="6428232"/>
            <a:ext cx="9875520" cy="182880"/>
          </a:xfrm>
          <a:prstGeom prst="rect">
            <a:avLst/>
          </a:prstGeom>
          <a:noFill/>
        </p:spPr>
        <p:txBody>
          <a:bodyPr wrap="square" lIns="0" rIns="0" tIns="0" bIns="0">
            <a:spAutoFit/>
          </a:bodyPr>
          <a:lstStyle/>
          <a:p>
            <a:pPr>
              <a:lnSpc>
                <a:spcPct val="107000"/>
              </a:lnSpc>
              <a:spcBef>
                <a:spcPts val="0"/>
              </a:spcBef>
              <a:spcAft>
                <a:spcPts val="204"/>
              </a:spcAft>
              <a:defRPr sz="850" b="0">
                <a:solidFill>
                  <a:srgbClr val="587080"/>
                </a:solidFill>
                <a:latin typeface="Arial"/>
              </a:defRPr>
            </a:pPr>
            <a:r>
              <a:t>data/kb/claims.jsonl; rules.yaml; README §§5–7, 21</a:t>
            </a:r>
          </a:p>
        </p:txBody>
      </p:sp>
      <p:sp>
        <p:nvSpPr>
          <p:cNvPr id="17" name="TextBox 16"/>
          <p:cNvSpPr txBox="1"/>
          <p:nvPr/>
        </p:nvSpPr>
        <p:spPr>
          <a:xfrm>
            <a:off x="10881360" y="6409944"/>
            <a:ext cx="658368" cy="228600"/>
          </a:xfrm>
          <a:prstGeom prst="rect">
            <a:avLst/>
          </a:prstGeom>
          <a:noFill/>
        </p:spPr>
        <p:txBody>
          <a:bodyPr wrap="square" lIns="0" rIns="0" tIns="0" bIns="0">
            <a:spAutoFit/>
          </a:bodyPr>
          <a:lstStyle/>
          <a:p>
            <a:pPr algn="r">
              <a:lnSpc>
                <a:spcPct val="107000"/>
              </a:lnSpc>
              <a:spcBef>
                <a:spcPts val="0"/>
              </a:spcBef>
              <a:spcAft>
                <a:spcPts val="216"/>
              </a:spcAft>
              <a:defRPr sz="900" b="0">
                <a:solidFill>
                  <a:srgbClr val="587080"/>
                </a:solidFill>
                <a:latin typeface="Arial"/>
              </a:defRPr>
            </a:pPr>
            <a:r>
              <a:t>04 / 14</a:t>
            </a:r>
          </a:p>
        </p:txBody>
      </p:sp>
      <p:sp>
        <p:nvSpPr>
          <p:cNvPr id="18" name="Rounded Rectangle 17"/>
          <p:cNvSpPr/>
          <p:nvPr/>
        </p:nvSpPr>
        <p:spPr>
          <a:xfrm>
            <a:off x="658368" y="2011680"/>
            <a:ext cx="3410712" cy="1005840"/>
          </a:xfrm>
          <a:prstGeom prst="roundRect">
            <a:avLst>
              <a:gd name="adj" fmla="val 13636"/>
            </a:avLst>
          </a:prstGeom>
          <a:solidFill>
            <a:srgbClr val="FFFFFF"/>
          </a:solidFill>
          <a:ln w="8890">
            <a:solidFill>
              <a:srgbClr val="DC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41247" y="2157984"/>
            <a:ext cx="1005840" cy="548640"/>
          </a:xfrm>
          <a:prstGeom prst="rect">
            <a:avLst/>
          </a:prstGeom>
          <a:noFill/>
        </p:spPr>
        <p:txBody>
          <a:bodyPr wrap="square" lIns="0" rIns="0" tIns="0" bIns="0">
            <a:spAutoFit/>
          </a:bodyPr>
          <a:lstStyle/>
          <a:p>
            <a:pPr>
              <a:lnSpc>
                <a:spcPct val="107000"/>
              </a:lnSpc>
              <a:spcBef>
                <a:spcPts val="0"/>
              </a:spcBef>
              <a:spcAft>
                <a:spcPts val="816"/>
              </a:spcAft>
              <a:defRPr sz="3400" b="1">
                <a:solidFill>
                  <a:srgbClr val="7044BB"/>
                </a:solidFill>
                <a:latin typeface="Arial"/>
              </a:defRPr>
            </a:pPr>
            <a:r>
              <a:t>95</a:t>
            </a:r>
          </a:p>
        </p:txBody>
      </p:sp>
      <p:sp>
        <p:nvSpPr>
          <p:cNvPr id="20" name="TextBox 19"/>
          <p:cNvSpPr txBox="1"/>
          <p:nvPr/>
        </p:nvSpPr>
        <p:spPr>
          <a:xfrm>
            <a:off x="1901952" y="2267712"/>
            <a:ext cx="1975104" cy="457200"/>
          </a:xfrm>
          <a:prstGeom prst="rect">
            <a:avLst/>
          </a:prstGeom>
          <a:noFill/>
        </p:spPr>
        <p:txBody>
          <a:bodyPr wrap="square" lIns="0" rIns="0" tIns="0" bIns="0">
            <a:spAutoFit/>
          </a:bodyPr>
          <a:lstStyle/>
          <a:p>
            <a:pPr>
              <a:lnSpc>
                <a:spcPct val="107000"/>
              </a:lnSpc>
              <a:spcBef>
                <a:spcPts val="0"/>
              </a:spcBef>
              <a:spcAft>
                <a:spcPts val="384"/>
              </a:spcAft>
              <a:defRPr sz="1600" b="1">
                <a:solidFill>
                  <a:srgbClr val="102A3A"/>
                </a:solidFill>
                <a:latin typeface="Arial"/>
              </a:defRPr>
            </a:pPr>
            <a:r>
              <a:t>curated evidence cards</a:t>
            </a:r>
          </a:p>
        </p:txBody>
      </p:sp>
      <p:sp>
        <p:nvSpPr>
          <p:cNvPr id="21" name="Rounded Rectangle 20"/>
          <p:cNvSpPr/>
          <p:nvPr/>
        </p:nvSpPr>
        <p:spPr>
          <a:xfrm>
            <a:off x="4389120" y="2011680"/>
            <a:ext cx="3410712" cy="1005840"/>
          </a:xfrm>
          <a:prstGeom prst="roundRect">
            <a:avLst>
              <a:gd name="adj" fmla="val 13636"/>
            </a:avLst>
          </a:prstGeom>
          <a:solidFill>
            <a:srgbClr val="FFFFFF"/>
          </a:solidFill>
          <a:ln w="8890">
            <a:solidFill>
              <a:srgbClr val="DC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2000" y="2157984"/>
            <a:ext cx="1005840" cy="548640"/>
          </a:xfrm>
          <a:prstGeom prst="rect">
            <a:avLst/>
          </a:prstGeom>
          <a:noFill/>
        </p:spPr>
        <p:txBody>
          <a:bodyPr wrap="square" lIns="0" rIns="0" tIns="0" bIns="0">
            <a:spAutoFit/>
          </a:bodyPr>
          <a:lstStyle/>
          <a:p>
            <a:pPr>
              <a:lnSpc>
                <a:spcPct val="107000"/>
              </a:lnSpc>
              <a:spcBef>
                <a:spcPts val="0"/>
              </a:spcBef>
              <a:spcAft>
                <a:spcPts val="816"/>
              </a:spcAft>
              <a:defRPr sz="3400" b="1">
                <a:solidFill>
                  <a:srgbClr val="2C62C9"/>
                </a:solidFill>
                <a:latin typeface="Arial"/>
              </a:defRPr>
            </a:pPr>
            <a:r>
              <a:t>35</a:t>
            </a:r>
          </a:p>
        </p:txBody>
      </p:sp>
      <p:sp>
        <p:nvSpPr>
          <p:cNvPr id="23" name="TextBox 22"/>
          <p:cNvSpPr txBox="1"/>
          <p:nvPr/>
        </p:nvSpPr>
        <p:spPr>
          <a:xfrm>
            <a:off x="5632704" y="2267712"/>
            <a:ext cx="1975104" cy="457200"/>
          </a:xfrm>
          <a:prstGeom prst="rect">
            <a:avLst/>
          </a:prstGeom>
          <a:noFill/>
        </p:spPr>
        <p:txBody>
          <a:bodyPr wrap="square" lIns="0" rIns="0" tIns="0" bIns="0">
            <a:spAutoFit/>
          </a:bodyPr>
          <a:lstStyle/>
          <a:p>
            <a:pPr>
              <a:lnSpc>
                <a:spcPct val="107000"/>
              </a:lnSpc>
              <a:spcBef>
                <a:spcPts val="0"/>
              </a:spcBef>
              <a:spcAft>
                <a:spcPts val="384"/>
              </a:spcAft>
              <a:defRPr sz="1600" b="1">
                <a:solidFill>
                  <a:srgbClr val="102A3A"/>
                </a:solidFill>
                <a:latin typeface="Arial"/>
              </a:defRPr>
            </a:pPr>
            <a:r>
              <a:t>sourced screening rules</a:t>
            </a:r>
          </a:p>
        </p:txBody>
      </p:sp>
      <p:sp>
        <p:nvSpPr>
          <p:cNvPr id="24" name="Rounded Rectangle 23"/>
          <p:cNvSpPr/>
          <p:nvPr/>
        </p:nvSpPr>
        <p:spPr>
          <a:xfrm>
            <a:off x="8119872" y="2011680"/>
            <a:ext cx="3410712" cy="1005840"/>
          </a:xfrm>
          <a:prstGeom prst="roundRect">
            <a:avLst>
              <a:gd name="adj" fmla="val 13636"/>
            </a:avLst>
          </a:prstGeom>
          <a:solidFill>
            <a:srgbClr val="FFFFFF"/>
          </a:solidFill>
          <a:ln w="8890">
            <a:solidFill>
              <a:srgbClr val="DC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302752" y="2157984"/>
            <a:ext cx="1005840" cy="548640"/>
          </a:xfrm>
          <a:prstGeom prst="rect">
            <a:avLst/>
          </a:prstGeom>
          <a:noFill/>
        </p:spPr>
        <p:txBody>
          <a:bodyPr wrap="square" lIns="0" rIns="0" tIns="0" bIns="0">
            <a:spAutoFit/>
          </a:bodyPr>
          <a:lstStyle/>
          <a:p>
            <a:pPr>
              <a:lnSpc>
                <a:spcPct val="107000"/>
              </a:lnSpc>
              <a:spcBef>
                <a:spcPts val="0"/>
              </a:spcBef>
              <a:spcAft>
                <a:spcPts val="816"/>
              </a:spcAft>
              <a:defRPr sz="3400" b="1">
                <a:solidFill>
                  <a:srgbClr val="087F8C"/>
                </a:solidFill>
                <a:latin typeface="Arial"/>
              </a:defRPr>
            </a:pPr>
            <a:r>
              <a:t>16</a:t>
            </a:r>
          </a:p>
        </p:txBody>
      </p:sp>
      <p:sp>
        <p:nvSpPr>
          <p:cNvPr id="26" name="TextBox 25"/>
          <p:cNvSpPr txBox="1"/>
          <p:nvPr/>
        </p:nvSpPr>
        <p:spPr>
          <a:xfrm>
            <a:off x="9363456" y="2267712"/>
            <a:ext cx="1975104" cy="457200"/>
          </a:xfrm>
          <a:prstGeom prst="rect">
            <a:avLst/>
          </a:prstGeom>
          <a:noFill/>
        </p:spPr>
        <p:txBody>
          <a:bodyPr wrap="square" lIns="0" rIns="0" tIns="0" bIns="0">
            <a:spAutoFit/>
          </a:bodyPr>
          <a:lstStyle/>
          <a:p>
            <a:pPr>
              <a:lnSpc>
                <a:spcPct val="107000"/>
              </a:lnSpc>
              <a:spcBef>
                <a:spcPts val="0"/>
              </a:spcBef>
              <a:spcAft>
                <a:spcPts val="384"/>
              </a:spcAft>
              <a:defRPr sz="1600" b="1">
                <a:solidFill>
                  <a:srgbClr val="102A3A"/>
                </a:solidFill>
                <a:latin typeface="Arial"/>
              </a:defRPr>
            </a:pPr>
            <a:r>
              <a:t>report quality checks</a:t>
            </a:r>
          </a:p>
        </p:txBody>
      </p:sp>
      <p:sp>
        <p:nvSpPr>
          <p:cNvPr id="27" name="TextBox 26"/>
          <p:cNvSpPr txBox="1"/>
          <p:nvPr/>
        </p:nvSpPr>
        <p:spPr>
          <a:xfrm>
            <a:off x="685800" y="3337560"/>
            <a:ext cx="5212080" cy="356616"/>
          </a:xfrm>
          <a:prstGeom prst="rect">
            <a:avLst/>
          </a:prstGeom>
          <a:noFill/>
        </p:spPr>
        <p:txBody>
          <a:bodyPr wrap="square" lIns="0" rIns="0" tIns="0" bIns="0">
            <a:spAutoFit/>
          </a:bodyPr>
          <a:lstStyle/>
          <a:p>
            <a:pPr>
              <a:lnSpc>
                <a:spcPct val="107000"/>
              </a:lnSpc>
              <a:spcBef>
                <a:spcPts val="0"/>
              </a:spcBef>
              <a:spcAft>
                <a:spcPts val="527"/>
              </a:spcAft>
              <a:defRPr sz="2200" b="1">
                <a:solidFill>
                  <a:srgbClr val="102A3A"/>
                </a:solidFill>
                <a:latin typeface="Arial"/>
              </a:defRPr>
            </a:pPr>
            <a:r>
              <a:t>Evidence with different scopes</a:t>
            </a:r>
          </a:p>
        </p:txBody>
      </p:sp>
      <p:sp>
        <p:nvSpPr>
          <p:cNvPr id="28" name="TextBox 27"/>
          <p:cNvSpPr txBox="1"/>
          <p:nvPr/>
        </p:nvSpPr>
        <p:spPr>
          <a:xfrm>
            <a:off x="713232" y="3858768"/>
            <a:ext cx="1554480" cy="265176"/>
          </a:xfrm>
          <a:prstGeom prst="rect">
            <a:avLst/>
          </a:prstGeom>
          <a:noFill/>
        </p:spPr>
        <p:txBody>
          <a:bodyPr wrap="square" lIns="0" rIns="0" tIns="0" bIns="0">
            <a:spAutoFit/>
          </a:bodyPr>
          <a:lstStyle/>
          <a:p>
            <a:pPr>
              <a:lnSpc>
                <a:spcPct val="107000"/>
              </a:lnSpc>
              <a:spcBef>
                <a:spcPts val="0"/>
              </a:spcBef>
              <a:spcAft>
                <a:spcPts val="336"/>
              </a:spcAft>
              <a:defRPr sz="1400" b="1">
                <a:solidFill>
                  <a:srgbClr val="087F8C"/>
                </a:solidFill>
                <a:latin typeface="Arial"/>
              </a:defRPr>
            </a:pPr>
            <a:r>
              <a:t>S01 + table</a:t>
            </a:r>
          </a:p>
        </p:txBody>
      </p:sp>
      <p:sp>
        <p:nvSpPr>
          <p:cNvPr id="29" name="TextBox 28"/>
          <p:cNvSpPr txBox="1"/>
          <p:nvPr/>
        </p:nvSpPr>
        <p:spPr>
          <a:xfrm>
            <a:off x="2286000" y="3858768"/>
            <a:ext cx="3264408" cy="365760"/>
          </a:xfrm>
          <a:prstGeom prst="rect">
            <a:avLst/>
          </a:prstGeom>
          <a:noFill/>
        </p:spPr>
        <p:txBody>
          <a:bodyPr wrap="square" lIns="0" rIns="0" tIns="0" bIns="0">
            <a:spAutoFit/>
          </a:bodyPr>
          <a:lstStyle/>
          <a:p>
            <a:pPr>
              <a:lnSpc>
                <a:spcPct val="107000"/>
              </a:lnSpc>
              <a:spcBef>
                <a:spcPts val="0"/>
              </a:spcBef>
              <a:spcAft>
                <a:spcPts val="312"/>
              </a:spcAft>
              <a:defRPr sz="1300" b="0">
                <a:solidFill>
                  <a:srgbClr val="587080"/>
                </a:solidFill>
                <a:latin typeface="Arial"/>
              </a:defRPr>
            </a:pPr>
            <a:r>
              <a:t>Method principles, applications, limitations</a:t>
            </a:r>
          </a:p>
        </p:txBody>
      </p:sp>
      <p:sp>
        <p:nvSpPr>
          <p:cNvPr id="30" name="TextBox 29"/>
          <p:cNvSpPr txBox="1"/>
          <p:nvPr/>
        </p:nvSpPr>
        <p:spPr>
          <a:xfrm>
            <a:off x="713232" y="4306824"/>
            <a:ext cx="1554480" cy="265176"/>
          </a:xfrm>
          <a:prstGeom prst="rect">
            <a:avLst/>
          </a:prstGeom>
          <a:noFill/>
        </p:spPr>
        <p:txBody>
          <a:bodyPr wrap="square" lIns="0" rIns="0" tIns="0" bIns="0">
            <a:spAutoFit/>
          </a:bodyPr>
          <a:lstStyle/>
          <a:p>
            <a:pPr>
              <a:lnSpc>
                <a:spcPct val="107000"/>
              </a:lnSpc>
              <a:spcBef>
                <a:spcPts val="0"/>
              </a:spcBef>
              <a:spcAft>
                <a:spcPts val="336"/>
              </a:spcAft>
              <a:defRPr sz="1400" b="1">
                <a:solidFill>
                  <a:srgbClr val="087F8C"/>
                </a:solidFill>
                <a:latin typeface="Arial"/>
              </a:defRPr>
            </a:pPr>
            <a:r>
              <a:t>S02</a:t>
            </a:r>
          </a:p>
        </p:txBody>
      </p:sp>
      <p:sp>
        <p:nvSpPr>
          <p:cNvPr id="31" name="TextBox 30"/>
          <p:cNvSpPr txBox="1"/>
          <p:nvPr/>
        </p:nvSpPr>
        <p:spPr>
          <a:xfrm>
            <a:off x="2286000" y="4306824"/>
            <a:ext cx="3264408" cy="365760"/>
          </a:xfrm>
          <a:prstGeom prst="rect">
            <a:avLst/>
          </a:prstGeom>
          <a:noFill/>
        </p:spPr>
        <p:txBody>
          <a:bodyPr wrap="square" lIns="0" rIns="0" tIns="0" bIns="0">
            <a:spAutoFit/>
          </a:bodyPr>
          <a:lstStyle/>
          <a:p>
            <a:pPr>
              <a:lnSpc>
                <a:spcPct val="107000"/>
              </a:lnSpc>
              <a:spcBef>
                <a:spcPts val="0"/>
              </a:spcBef>
              <a:spcAft>
                <a:spcPts val="312"/>
              </a:spcAft>
              <a:defRPr sz="1300" b="0">
                <a:solidFill>
                  <a:srgbClr val="587080"/>
                </a:solidFill>
                <a:latin typeface="Arial"/>
              </a:defRPr>
            </a:pPr>
            <a:r>
              <a:t>Company slides, fibers, bands and AFS paths</a:t>
            </a:r>
          </a:p>
        </p:txBody>
      </p:sp>
      <p:sp>
        <p:nvSpPr>
          <p:cNvPr id="32" name="TextBox 31"/>
          <p:cNvSpPr txBox="1"/>
          <p:nvPr/>
        </p:nvSpPr>
        <p:spPr>
          <a:xfrm>
            <a:off x="713232" y="4754879"/>
            <a:ext cx="1554480" cy="265176"/>
          </a:xfrm>
          <a:prstGeom prst="rect">
            <a:avLst/>
          </a:prstGeom>
          <a:noFill/>
        </p:spPr>
        <p:txBody>
          <a:bodyPr wrap="square" lIns="0" rIns="0" tIns="0" bIns="0">
            <a:spAutoFit/>
          </a:bodyPr>
          <a:lstStyle/>
          <a:p>
            <a:pPr>
              <a:lnSpc>
                <a:spcPct val="107000"/>
              </a:lnSpc>
              <a:spcBef>
                <a:spcPts val="0"/>
              </a:spcBef>
              <a:spcAft>
                <a:spcPts val="336"/>
              </a:spcAft>
              <a:defRPr sz="1400" b="1">
                <a:solidFill>
                  <a:srgbClr val="087F8C"/>
                </a:solidFill>
                <a:latin typeface="Arial"/>
              </a:defRPr>
            </a:pPr>
            <a:r>
              <a:t>S03 / S04</a:t>
            </a:r>
          </a:p>
        </p:txBody>
      </p:sp>
      <p:sp>
        <p:nvSpPr>
          <p:cNvPr id="33" name="TextBox 32"/>
          <p:cNvSpPr txBox="1"/>
          <p:nvPr/>
        </p:nvSpPr>
        <p:spPr>
          <a:xfrm>
            <a:off x="2286000" y="4754879"/>
            <a:ext cx="3264408" cy="365760"/>
          </a:xfrm>
          <a:prstGeom prst="rect">
            <a:avLst/>
          </a:prstGeom>
          <a:noFill/>
        </p:spPr>
        <p:txBody>
          <a:bodyPr wrap="square" lIns="0" rIns="0" tIns="0" bIns="0">
            <a:spAutoFit/>
          </a:bodyPr>
          <a:lstStyle/>
          <a:p>
            <a:pPr>
              <a:lnSpc>
                <a:spcPct val="107000"/>
              </a:lnSpc>
              <a:spcBef>
                <a:spcPts val="0"/>
              </a:spcBef>
              <a:spcAft>
                <a:spcPts val="312"/>
              </a:spcAft>
              <a:defRPr sz="1300" b="0">
                <a:solidFill>
                  <a:srgbClr val="587080"/>
                </a:solidFill>
                <a:latin typeface="Arial"/>
              </a:defRPr>
            </a:pPr>
            <a:r>
              <a:t>In-vitro proof of concept / laboratory work</a:t>
            </a:r>
          </a:p>
        </p:txBody>
      </p:sp>
      <p:sp>
        <p:nvSpPr>
          <p:cNvPr id="34" name="TextBox 33"/>
          <p:cNvSpPr txBox="1"/>
          <p:nvPr/>
        </p:nvSpPr>
        <p:spPr>
          <a:xfrm>
            <a:off x="713232" y="5202936"/>
            <a:ext cx="1554480" cy="265176"/>
          </a:xfrm>
          <a:prstGeom prst="rect">
            <a:avLst/>
          </a:prstGeom>
          <a:noFill/>
        </p:spPr>
        <p:txBody>
          <a:bodyPr wrap="square" lIns="0" rIns="0" tIns="0" bIns="0">
            <a:spAutoFit/>
          </a:bodyPr>
          <a:lstStyle/>
          <a:p>
            <a:pPr>
              <a:lnSpc>
                <a:spcPct val="107000"/>
              </a:lnSpc>
              <a:spcBef>
                <a:spcPts val="0"/>
              </a:spcBef>
              <a:spcAft>
                <a:spcPts val="336"/>
              </a:spcAft>
              <a:defRPr sz="1400" b="1">
                <a:solidFill>
                  <a:srgbClr val="087F8C"/>
                </a:solidFill>
                <a:latin typeface="Arial"/>
              </a:defRPr>
            </a:pPr>
            <a:r>
              <a:t>S05 / S06</a:t>
            </a:r>
          </a:p>
        </p:txBody>
      </p:sp>
      <p:sp>
        <p:nvSpPr>
          <p:cNvPr id="35" name="TextBox 34"/>
          <p:cNvSpPr txBox="1"/>
          <p:nvPr/>
        </p:nvSpPr>
        <p:spPr>
          <a:xfrm>
            <a:off x="2286000" y="5202936"/>
            <a:ext cx="3264408" cy="365760"/>
          </a:xfrm>
          <a:prstGeom prst="rect">
            <a:avLst/>
          </a:prstGeom>
          <a:noFill/>
        </p:spPr>
        <p:txBody>
          <a:bodyPr wrap="square" lIns="0" rIns="0" tIns="0" bIns="0">
            <a:spAutoFit/>
          </a:bodyPr>
          <a:lstStyle/>
          <a:p>
            <a:pPr>
              <a:lnSpc>
                <a:spcPct val="107000"/>
              </a:lnSpc>
              <a:spcBef>
                <a:spcPts val="0"/>
              </a:spcBef>
              <a:spcAft>
                <a:spcPts val="312"/>
              </a:spcAft>
              <a:defRPr sz="1300" b="0">
                <a:solidFill>
                  <a:srgbClr val="587080"/>
                </a:solidFill>
                <a:latin typeface="Arial"/>
              </a:defRPr>
            </a:pPr>
            <a:r>
              <a:t>Business and laboratory context</a:t>
            </a:r>
          </a:p>
        </p:txBody>
      </p:sp>
      <p:sp>
        <p:nvSpPr>
          <p:cNvPr id="36" name="Rounded Rectangle 35"/>
          <p:cNvSpPr/>
          <p:nvPr/>
        </p:nvSpPr>
        <p:spPr>
          <a:xfrm>
            <a:off x="6080760" y="3337560"/>
            <a:ext cx="5440680" cy="2523744"/>
          </a:xfrm>
          <a:prstGeom prst="roundRect">
            <a:avLst>
              <a:gd name="adj" fmla="val 5434"/>
            </a:avLst>
          </a:prstGeom>
          <a:solidFill>
            <a:srgbClr val="10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336792" y="3566160"/>
            <a:ext cx="4892040" cy="338328"/>
          </a:xfrm>
          <a:prstGeom prst="rect">
            <a:avLst/>
          </a:prstGeom>
          <a:noFill/>
        </p:spPr>
        <p:txBody>
          <a:bodyPr wrap="square" lIns="0" rIns="0" tIns="0" bIns="0">
            <a:spAutoFit/>
          </a:bodyPr>
          <a:lstStyle/>
          <a:p>
            <a:pPr>
              <a:lnSpc>
                <a:spcPct val="107000"/>
              </a:lnSpc>
              <a:spcBef>
                <a:spcPts val="0"/>
              </a:spcBef>
              <a:spcAft>
                <a:spcPts val="480"/>
              </a:spcAft>
              <a:defRPr sz="2000" b="1">
                <a:solidFill>
                  <a:srgbClr val="FFFFFF"/>
                </a:solidFill>
                <a:latin typeface="Arial"/>
              </a:defRPr>
            </a:pPr>
            <a:r>
              <a:t>Page → quote → claim → verification</a:t>
            </a:r>
          </a:p>
        </p:txBody>
      </p:sp>
      <p:sp>
        <p:nvSpPr>
          <p:cNvPr id="38" name="TextBox 37"/>
          <p:cNvSpPr txBox="1"/>
          <p:nvPr/>
        </p:nvSpPr>
        <p:spPr>
          <a:xfrm>
            <a:off x="6336792" y="4187952"/>
            <a:ext cx="4892040" cy="658368"/>
          </a:xfrm>
          <a:prstGeom prst="rect">
            <a:avLst/>
          </a:prstGeom>
          <a:noFill/>
        </p:spPr>
        <p:txBody>
          <a:bodyPr wrap="square" lIns="0" rIns="0" tIns="0" bIns="0">
            <a:spAutoFit/>
          </a:bodyPr>
          <a:lstStyle/>
          <a:p>
            <a:pPr>
              <a:lnSpc>
                <a:spcPct val="107000"/>
              </a:lnSpc>
              <a:spcBef>
                <a:spcPts val="0"/>
              </a:spcBef>
              <a:spcAft>
                <a:spcPts val="432"/>
              </a:spcAft>
              <a:defRPr sz="1800" b="0">
                <a:solidFill>
                  <a:srgbClr val="C8DBE5"/>
                </a:solidFill>
                <a:latin typeface="Arial"/>
              </a:defRPr>
            </a:pPr>
            <a:r>
              <a:t>Ingest refuses evidence cards whose quotes cannot be found on their cited pages.</a:t>
            </a:r>
          </a:p>
        </p:txBody>
      </p:sp>
      <p:sp>
        <p:nvSpPr>
          <p:cNvPr id="39" name="TextBox 38"/>
          <p:cNvSpPr txBox="1"/>
          <p:nvPr/>
        </p:nvSpPr>
        <p:spPr>
          <a:xfrm>
            <a:off x="6336792" y="5120640"/>
            <a:ext cx="4892040" cy="475488"/>
          </a:xfrm>
          <a:prstGeom prst="rect">
            <a:avLst/>
          </a:prstGeom>
          <a:noFill/>
        </p:spPr>
        <p:txBody>
          <a:bodyPr wrap="square" lIns="0" rIns="0" tIns="0" bIns="0">
            <a:spAutoFit/>
          </a:bodyPr>
          <a:lstStyle/>
          <a:p>
            <a:pPr>
              <a:lnSpc>
                <a:spcPct val="107000"/>
              </a:lnSpc>
              <a:spcBef>
                <a:spcPts val="0"/>
              </a:spcBef>
              <a:spcAft>
                <a:spcPts val="384"/>
              </a:spcAft>
              <a:defRPr sz="1600" b="1">
                <a:solidFill>
                  <a:srgbClr val="C8DBE5"/>
                </a:solidFill>
                <a:latin typeface="Arial"/>
              </a:defRPr>
            </a:pPr>
            <a:r>
              <a:t>A laboratory or in-vitro result does not establish deployment or clinical readiness.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3F6FA"/>
        </a:solidFill>
        <a:effectLst/>
      </p:bgPr>
    </p:bg>
    <p:spTree>
      <p:nvGrpSpPr>
        <p:cNvPr id="1" name=""/>
        <p:cNvGrpSpPr/>
        <p:nvPr/>
      </p:nvGrpSpPr>
      <p:grpSpPr/>
      <p:sp>
        <p:nvSpPr>
          <p:cNvPr id="2" name="Rectangle 1"/>
          <p:cNvSpPr/>
          <p:nvPr/>
        </p:nvSpPr>
        <p:spPr>
          <a:xfrm>
            <a:off x="0" y="0"/>
            <a:ext cx="1223771" cy="50292"/>
          </a:xfrm>
          <a:prstGeom prst="rect">
            <a:avLst/>
          </a:prstGeom>
          <a:solidFill>
            <a:srgbClr val="7044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19199" y="0"/>
            <a:ext cx="1223771" cy="50292"/>
          </a:xfrm>
          <a:prstGeom prst="rect">
            <a:avLst/>
          </a:prstGeom>
          <a:solidFill>
            <a:srgbClr val="5E4D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438399" y="0"/>
            <a:ext cx="1223771" cy="50292"/>
          </a:xfrm>
          <a:prstGeom prst="rect">
            <a:avLst/>
          </a:prstGeom>
          <a:solidFill>
            <a:srgbClr val="426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57599" y="0"/>
            <a:ext cx="1223771" cy="50292"/>
          </a:xfrm>
          <a:prstGeom prst="rect">
            <a:avLst/>
          </a:prstGeom>
          <a:solidFill>
            <a:srgbClr val="2886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876799" y="0"/>
            <a:ext cx="1223771" cy="50292"/>
          </a:xfrm>
          <a:prstGeom prst="rect">
            <a:avLst/>
          </a:prstGeom>
          <a:solidFill>
            <a:srgbClr val="1591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095999" y="0"/>
            <a:ext cx="1223771" cy="50292"/>
          </a:xfrm>
          <a:prstGeom prst="rect">
            <a:avLst/>
          </a:prstGeom>
          <a:solidFill>
            <a:srgbClr val="2999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199" y="0"/>
            <a:ext cx="1223771" cy="50292"/>
          </a:xfrm>
          <a:prstGeom prst="rect">
            <a:avLst/>
          </a:prstGeom>
          <a:solidFill>
            <a:srgbClr val="7DAD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534399" y="0"/>
            <a:ext cx="1223771" cy="50292"/>
          </a:xfrm>
          <a:prstGeom prst="rect">
            <a:avLst/>
          </a:prstGeom>
          <a:solidFill>
            <a:srgbClr val="C6A6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753599" y="0"/>
            <a:ext cx="1223771" cy="50292"/>
          </a:xfrm>
          <a:prstGeom prst="rect">
            <a:avLst/>
          </a:prstGeom>
          <a:solidFill>
            <a:srgbClr val="CC7B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0972799" y="0"/>
            <a:ext cx="1223771" cy="50292"/>
          </a:xfrm>
          <a:prstGeom prst="rect">
            <a:avLst/>
          </a:prstGeom>
          <a:solidFill>
            <a:srgbClr val="B84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1792" y="365760"/>
            <a:ext cx="10972800" cy="246888"/>
          </a:xfrm>
          <a:prstGeom prst="rect">
            <a:avLst/>
          </a:prstGeom>
          <a:noFill/>
        </p:spPr>
        <p:txBody>
          <a:bodyPr wrap="square" lIns="0" rIns="0" tIns="0" bIns="0">
            <a:spAutoFit/>
          </a:bodyPr>
          <a:lstStyle/>
          <a:p>
            <a:pPr>
              <a:lnSpc>
                <a:spcPct val="107000"/>
              </a:lnSpc>
              <a:spcBef>
                <a:spcPts val="0"/>
              </a:spcBef>
              <a:spcAft>
                <a:spcPts val="252"/>
              </a:spcAft>
              <a:defRPr sz="1050" b="1">
                <a:solidFill>
                  <a:srgbClr val="087F8C"/>
                </a:solidFill>
                <a:latin typeface="Arial"/>
              </a:defRPr>
            </a:pPr>
            <a:r>
              <a:t>04 / PRODUCT EXPERIENCE • DEMO</a:t>
            </a:r>
          </a:p>
        </p:txBody>
      </p:sp>
      <p:sp>
        <p:nvSpPr>
          <p:cNvPr id="13" name="TextBox 12"/>
          <p:cNvSpPr txBox="1"/>
          <p:nvPr/>
        </p:nvSpPr>
        <p:spPr>
          <a:xfrm>
            <a:off x="621792" y="841248"/>
            <a:ext cx="10972800" cy="941832"/>
          </a:xfrm>
          <a:prstGeom prst="rect">
            <a:avLst/>
          </a:prstGeom>
          <a:noFill/>
        </p:spPr>
        <p:txBody>
          <a:bodyPr wrap="square" lIns="0" rIns="0" tIns="0" bIns="0">
            <a:spAutoFit/>
          </a:bodyPr>
          <a:lstStyle/>
          <a:p>
            <a:pPr>
              <a:lnSpc>
                <a:spcPct val="107000"/>
              </a:lnSpc>
              <a:spcBef>
                <a:spcPts val="0"/>
              </a:spcBef>
              <a:spcAft>
                <a:spcPts val="744"/>
              </a:spcAft>
              <a:defRPr sz="3100" b="1">
                <a:solidFill>
                  <a:srgbClr val="102A3A"/>
                </a:solidFill>
                <a:latin typeface="Arial"/>
              </a:defRPr>
            </a:pPr>
            <a:r>
              <a:t>Review once. Assess with the expert in control.</a:t>
            </a:r>
          </a:p>
        </p:txBody>
      </p:sp>
      <p:sp>
        <p:nvSpPr>
          <p:cNvPr id="14" name="TextBox 13"/>
          <p:cNvSpPr txBox="1"/>
          <p:nvPr/>
        </p:nvSpPr>
        <p:spPr>
          <a:xfrm>
            <a:off x="640080" y="1417320"/>
            <a:ext cx="10927080" cy="475488"/>
          </a:xfrm>
          <a:prstGeom prst="rect">
            <a:avLst/>
          </a:prstGeom>
          <a:noFill/>
        </p:spPr>
        <p:txBody>
          <a:bodyPr wrap="square" lIns="0" rIns="0" tIns="0" bIns="0">
            <a:spAutoFit/>
          </a:bodyPr>
          <a:lstStyle/>
          <a:p>
            <a:pPr>
              <a:lnSpc>
                <a:spcPct val="107000"/>
              </a:lnSpc>
              <a:spcBef>
                <a:spcPts val="0"/>
              </a:spcBef>
              <a:spcAft>
                <a:spcPts val="359"/>
              </a:spcAft>
              <a:defRPr sz="1500" b="0">
                <a:solidFill>
                  <a:srgbClr val="587080"/>
                </a:solidFill>
                <a:latin typeface="Arial"/>
              </a:defRPr>
            </a:pPr>
            <a:r>
              <a:t>General: Customer Enquiry → Result Assessment → Confidence and Verification</a:t>
            </a:r>
          </a:p>
        </p:txBody>
      </p:sp>
      <p:cxnSp>
        <p:nvCxnSpPr>
          <p:cNvPr id="15" name="Connector 14"/>
          <p:cNvCxnSpPr/>
          <p:nvPr/>
        </p:nvCxnSpPr>
        <p:spPr>
          <a:xfrm>
            <a:off x="621792" y="6318504"/>
            <a:ext cx="10945368" cy="0"/>
          </a:xfrm>
          <a:prstGeom prst="line">
            <a:avLst/>
          </a:prstGeom>
          <a:ln w="8890">
            <a:solidFill>
              <a:srgbClr val="DCE5ED"/>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40080" y="6428232"/>
            <a:ext cx="9875520" cy="182880"/>
          </a:xfrm>
          <a:prstGeom prst="rect">
            <a:avLst/>
          </a:prstGeom>
          <a:noFill/>
        </p:spPr>
        <p:txBody>
          <a:bodyPr wrap="square" lIns="0" rIns="0" tIns="0" bIns="0">
            <a:spAutoFit/>
          </a:bodyPr>
          <a:lstStyle/>
          <a:p>
            <a:pPr>
              <a:lnSpc>
                <a:spcPct val="107000"/>
              </a:lnSpc>
              <a:spcBef>
                <a:spcPts val="0"/>
              </a:spcBef>
              <a:spcAft>
                <a:spcPts val="204"/>
              </a:spcAft>
              <a:defRPr sz="850" b="0">
                <a:solidFill>
                  <a:srgbClr val="587080"/>
                </a:solidFill>
                <a:latin typeface="Arial"/>
              </a:defRPr>
            </a:pPr>
            <a:r>
              <a:t>Current feature_dialog UI; docs/frontend-integration.md; illustrated replay using stored H04</a:t>
            </a:r>
          </a:p>
        </p:txBody>
      </p:sp>
      <p:sp>
        <p:nvSpPr>
          <p:cNvPr id="17" name="TextBox 16"/>
          <p:cNvSpPr txBox="1"/>
          <p:nvPr/>
        </p:nvSpPr>
        <p:spPr>
          <a:xfrm>
            <a:off x="10881360" y="6409944"/>
            <a:ext cx="658368" cy="228600"/>
          </a:xfrm>
          <a:prstGeom prst="rect">
            <a:avLst/>
          </a:prstGeom>
          <a:noFill/>
        </p:spPr>
        <p:txBody>
          <a:bodyPr wrap="square" lIns="0" rIns="0" tIns="0" bIns="0">
            <a:spAutoFit/>
          </a:bodyPr>
          <a:lstStyle/>
          <a:p>
            <a:pPr algn="r">
              <a:lnSpc>
                <a:spcPct val="107000"/>
              </a:lnSpc>
              <a:spcBef>
                <a:spcPts val="0"/>
              </a:spcBef>
              <a:spcAft>
                <a:spcPts val="216"/>
              </a:spcAft>
              <a:defRPr sz="900" b="0">
                <a:solidFill>
                  <a:srgbClr val="587080"/>
                </a:solidFill>
                <a:latin typeface="Arial"/>
              </a:defRPr>
            </a:pPr>
            <a:r>
              <a:t>05 / 14</a:t>
            </a:r>
          </a:p>
        </p:txBody>
      </p:sp>
      <p:sp>
        <p:nvSpPr>
          <p:cNvPr id="18" name="Rounded Rectangle 17"/>
          <p:cNvSpPr/>
          <p:nvPr/>
        </p:nvSpPr>
        <p:spPr>
          <a:xfrm>
            <a:off x="644652" y="2071115"/>
            <a:ext cx="6179515" cy="3886200"/>
          </a:xfrm>
          <a:prstGeom prst="roundRect">
            <a:avLst>
              <a:gd name="adj" fmla="val 2487"/>
            </a:avLst>
          </a:prstGeom>
          <a:solidFill>
            <a:srgbClr val="FFFFFF"/>
          </a:solidFill>
          <a:ln w="8890">
            <a:solidFill>
              <a:srgbClr val="DC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review-dialog.png"/>
          <p:cNvPicPr>
            <a:picLocks noChangeAspect="1"/>
          </p:cNvPicPr>
          <p:nvPr/>
        </p:nvPicPr>
        <p:blipFill>
          <a:blip r:embed="rId2"/>
          <a:stretch>
            <a:fillRect/>
          </a:stretch>
        </p:blipFill>
        <p:spPr>
          <a:xfrm>
            <a:off x="676656" y="2103120"/>
            <a:ext cx="6115507" cy="3822191"/>
          </a:xfrm>
          <a:prstGeom prst="rect">
            <a:avLst/>
          </a:prstGeom>
        </p:spPr>
      </p:pic>
      <p:sp>
        <p:nvSpPr>
          <p:cNvPr id="20" name="TextBox 19"/>
          <p:cNvSpPr txBox="1"/>
          <p:nvPr/>
        </p:nvSpPr>
        <p:spPr>
          <a:xfrm>
            <a:off x="7187184" y="2221992"/>
            <a:ext cx="4251960" cy="393192"/>
          </a:xfrm>
          <a:prstGeom prst="rect">
            <a:avLst/>
          </a:prstGeom>
          <a:noFill/>
        </p:spPr>
        <p:txBody>
          <a:bodyPr wrap="square" lIns="0" rIns="0" tIns="0" bIns="0">
            <a:spAutoFit/>
          </a:bodyPr>
          <a:lstStyle/>
          <a:p>
            <a:pPr>
              <a:lnSpc>
                <a:spcPct val="107000"/>
              </a:lnSpc>
              <a:spcBef>
                <a:spcPts val="0"/>
              </a:spcBef>
              <a:spcAft>
                <a:spcPts val="527"/>
              </a:spcAft>
              <a:defRPr sz="2200" b="1">
                <a:solidFill>
                  <a:srgbClr val="7044BB"/>
                </a:solidFill>
                <a:latin typeface="Arial"/>
              </a:defRPr>
            </a:pPr>
            <a:r>
              <a:t>1  Enter the enquiry</a:t>
            </a:r>
          </a:p>
        </p:txBody>
      </p:sp>
      <p:sp>
        <p:nvSpPr>
          <p:cNvPr id="21" name="TextBox 20"/>
          <p:cNvSpPr txBox="1"/>
          <p:nvPr/>
        </p:nvSpPr>
        <p:spPr>
          <a:xfrm>
            <a:off x="7187184" y="2743200"/>
            <a:ext cx="4224528" cy="557784"/>
          </a:xfrm>
          <a:prstGeom prst="rect">
            <a:avLst/>
          </a:prstGeom>
          <a:noFill/>
        </p:spPr>
        <p:txBody>
          <a:bodyPr wrap="square" lIns="0" rIns="0" tIns="0" bIns="0">
            <a:spAutoFit/>
          </a:bodyPr>
          <a:lstStyle/>
          <a:p>
            <a:pPr>
              <a:lnSpc>
                <a:spcPct val="107000"/>
              </a:lnSpc>
              <a:spcBef>
                <a:spcPts val="0"/>
              </a:spcBef>
              <a:spcAft>
                <a:spcPts val="432"/>
              </a:spcAft>
              <a:defRPr sz="1800" b="0">
                <a:solidFill>
                  <a:srgbClr val="587080"/>
                </a:solidFill>
                <a:latin typeface="Arial"/>
              </a:defRPr>
            </a:pPr>
            <a:r>
              <a:t>Instant pre-check highlights vague facts and early constraints.</a:t>
            </a:r>
          </a:p>
        </p:txBody>
      </p:sp>
      <p:sp>
        <p:nvSpPr>
          <p:cNvPr id="22" name="TextBox 21"/>
          <p:cNvSpPr txBox="1"/>
          <p:nvPr/>
        </p:nvSpPr>
        <p:spPr>
          <a:xfrm>
            <a:off x="7187184" y="3529584"/>
            <a:ext cx="4251960" cy="393192"/>
          </a:xfrm>
          <a:prstGeom prst="rect">
            <a:avLst/>
          </a:prstGeom>
          <a:noFill/>
        </p:spPr>
        <p:txBody>
          <a:bodyPr wrap="square" lIns="0" rIns="0" tIns="0" bIns="0">
            <a:spAutoFit/>
          </a:bodyPr>
          <a:lstStyle/>
          <a:p>
            <a:pPr>
              <a:lnSpc>
                <a:spcPct val="107000"/>
              </a:lnSpc>
              <a:spcBef>
                <a:spcPts val="0"/>
              </a:spcBef>
              <a:spcAft>
                <a:spcPts val="527"/>
              </a:spcAft>
              <a:defRPr sz="2200" b="1">
                <a:solidFill>
                  <a:srgbClr val="2C62C9"/>
                </a:solidFill>
                <a:latin typeface="Arial"/>
              </a:defRPr>
            </a:pPr>
            <a:r>
              <a:t>2  Confirm the reading</a:t>
            </a:r>
          </a:p>
        </p:txBody>
      </p:sp>
      <p:sp>
        <p:nvSpPr>
          <p:cNvPr id="23" name="TextBox 22"/>
          <p:cNvSpPr txBox="1"/>
          <p:nvPr/>
        </p:nvSpPr>
        <p:spPr>
          <a:xfrm>
            <a:off x="7187184" y="4050791"/>
            <a:ext cx="4224528" cy="594360"/>
          </a:xfrm>
          <a:prstGeom prst="rect">
            <a:avLst/>
          </a:prstGeom>
          <a:noFill/>
        </p:spPr>
        <p:txBody>
          <a:bodyPr wrap="square" lIns="0" rIns="0" tIns="0" bIns="0">
            <a:spAutoFit/>
          </a:bodyPr>
          <a:lstStyle/>
          <a:p>
            <a:pPr>
              <a:lnSpc>
                <a:spcPct val="107000"/>
              </a:lnSpc>
              <a:spcBef>
                <a:spcPts val="0"/>
              </a:spcBef>
              <a:spcAft>
                <a:spcPts val="432"/>
              </a:spcAft>
              <a:defRPr sz="1800" b="0">
                <a:solidFill>
                  <a:srgbClr val="587080"/>
                </a:solidFill>
                <a:latin typeface="Arial"/>
              </a:defRPr>
            </a:pPr>
            <a:r>
              <a:t>A dialog contains optional follow-ups. “Yes, assess” submits the answers.</a:t>
            </a:r>
          </a:p>
        </p:txBody>
      </p:sp>
      <p:sp>
        <p:nvSpPr>
          <p:cNvPr id="24" name="TextBox 23"/>
          <p:cNvSpPr txBox="1"/>
          <p:nvPr/>
        </p:nvSpPr>
        <p:spPr>
          <a:xfrm>
            <a:off x="7187184" y="4873752"/>
            <a:ext cx="4251960" cy="393192"/>
          </a:xfrm>
          <a:prstGeom prst="rect">
            <a:avLst/>
          </a:prstGeom>
          <a:noFill/>
        </p:spPr>
        <p:txBody>
          <a:bodyPr wrap="square" lIns="0" rIns="0" tIns="0" bIns="0">
            <a:spAutoFit/>
          </a:bodyPr>
          <a:lstStyle/>
          <a:p>
            <a:pPr>
              <a:lnSpc>
                <a:spcPct val="107000"/>
              </a:lnSpc>
              <a:spcBef>
                <a:spcPts val="0"/>
              </a:spcBef>
              <a:spcAft>
                <a:spcPts val="527"/>
              </a:spcAft>
              <a:defRPr sz="2200" b="1">
                <a:solidFill>
                  <a:srgbClr val="087F8C"/>
                </a:solidFill>
                <a:latin typeface="Arial"/>
              </a:defRPr>
            </a:pPr>
            <a:r>
              <a:t>3  Inspect the result</a:t>
            </a:r>
          </a:p>
        </p:txBody>
      </p:sp>
      <p:sp>
        <p:nvSpPr>
          <p:cNvPr id="25" name="TextBox 24"/>
          <p:cNvSpPr txBox="1"/>
          <p:nvPr/>
        </p:nvSpPr>
        <p:spPr>
          <a:xfrm>
            <a:off x="7187184" y="5394960"/>
            <a:ext cx="4224528" cy="576072"/>
          </a:xfrm>
          <a:prstGeom prst="rect">
            <a:avLst/>
          </a:prstGeom>
          <a:noFill/>
        </p:spPr>
        <p:txBody>
          <a:bodyPr wrap="square" lIns="0" rIns="0" tIns="0" bIns="0">
            <a:spAutoFit/>
          </a:bodyPr>
          <a:lstStyle/>
          <a:p>
            <a:pPr>
              <a:lnSpc>
                <a:spcPct val="107000"/>
              </a:lnSpc>
              <a:spcBef>
                <a:spcPts val="0"/>
              </a:spcBef>
              <a:spcAft>
                <a:spcPts val="432"/>
              </a:spcAft>
              <a:defRPr sz="1800" b="0">
                <a:solidFill>
                  <a:srgbClr val="587080"/>
                </a:solidFill>
                <a:latin typeface="Arial"/>
              </a:defRPr>
            </a:pPr>
            <a:r>
              <a:t>Review the 11-section report, citations, confidence and exported plan.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3F6FA"/>
        </a:solidFill>
        <a:effectLst/>
      </p:bgPr>
    </p:bg>
    <p:spTree>
      <p:nvGrpSpPr>
        <p:cNvPr id="1" name=""/>
        <p:cNvGrpSpPr/>
        <p:nvPr/>
      </p:nvGrpSpPr>
      <p:grpSpPr/>
      <p:sp>
        <p:nvSpPr>
          <p:cNvPr id="2" name="Rectangle 1"/>
          <p:cNvSpPr/>
          <p:nvPr/>
        </p:nvSpPr>
        <p:spPr>
          <a:xfrm>
            <a:off x="0" y="0"/>
            <a:ext cx="1223771" cy="50292"/>
          </a:xfrm>
          <a:prstGeom prst="rect">
            <a:avLst/>
          </a:prstGeom>
          <a:solidFill>
            <a:srgbClr val="7044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19199" y="0"/>
            <a:ext cx="1223771" cy="50292"/>
          </a:xfrm>
          <a:prstGeom prst="rect">
            <a:avLst/>
          </a:prstGeom>
          <a:solidFill>
            <a:srgbClr val="5E4D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438399" y="0"/>
            <a:ext cx="1223771" cy="50292"/>
          </a:xfrm>
          <a:prstGeom prst="rect">
            <a:avLst/>
          </a:prstGeom>
          <a:solidFill>
            <a:srgbClr val="426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57599" y="0"/>
            <a:ext cx="1223771" cy="50292"/>
          </a:xfrm>
          <a:prstGeom prst="rect">
            <a:avLst/>
          </a:prstGeom>
          <a:solidFill>
            <a:srgbClr val="2886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876799" y="0"/>
            <a:ext cx="1223771" cy="50292"/>
          </a:xfrm>
          <a:prstGeom prst="rect">
            <a:avLst/>
          </a:prstGeom>
          <a:solidFill>
            <a:srgbClr val="1591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095999" y="0"/>
            <a:ext cx="1223771" cy="50292"/>
          </a:xfrm>
          <a:prstGeom prst="rect">
            <a:avLst/>
          </a:prstGeom>
          <a:solidFill>
            <a:srgbClr val="2999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199" y="0"/>
            <a:ext cx="1223771" cy="50292"/>
          </a:xfrm>
          <a:prstGeom prst="rect">
            <a:avLst/>
          </a:prstGeom>
          <a:solidFill>
            <a:srgbClr val="7DAD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534399" y="0"/>
            <a:ext cx="1223771" cy="50292"/>
          </a:xfrm>
          <a:prstGeom prst="rect">
            <a:avLst/>
          </a:prstGeom>
          <a:solidFill>
            <a:srgbClr val="C6A6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753599" y="0"/>
            <a:ext cx="1223771" cy="50292"/>
          </a:xfrm>
          <a:prstGeom prst="rect">
            <a:avLst/>
          </a:prstGeom>
          <a:solidFill>
            <a:srgbClr val="CC7B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0972799" y="0"/>
            <a:ext cx="1223771" cy="50292"/>
          </a:xfrm>
          <a:prstGeom prst="rect">
            <a:avLst/>
          </a:prstGeom>
          <a:solidFill>
            <a:srgbClr val="B84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1792" y="365760"/>
            <a:ext cx="10972800" cy="246888"/>
          </a:xfrm>
          <a:prstGeom prst="rect">
            <a:avLst/>
          </a:prstGeom>
          <a:noFill/>
        </p:spPr>
        <p:txBody>
          <a:bodyPr wrap="square" lIns="0" rIns="0" tIns="0" bIns="0">
            <a:spAutoFit/>
          </a:bodyPr>
          <a:lstStyle/>
          <a:p>
            <a:pPr>
              <a:lnSpc>
                <a:spcPct val="107000"/>
              </a:lnSpc>
              <a:spcBef>
                <a:spcPts val="0"/>
              </a:spcBef>
              <a:spcAft>
                <a:spcPts val="252"/>
              </a:spcAft>
              <a:defRPr sz="1050" b="1">
                <a:solidFill>
                  <a:srgbClr val="087F8C"/>
                </a:solidFill>
                <a:latin typeface="Arial"/>
              </a:defRPr>
            </a:pPr>
            <a:r>
              <a:t>05 / EXAMPLE RECOMMENDATION</a:t>
            </a:r>
          </a:p>
        </p:txBody>
      </p:sp>
      <p:sp>
        <p:nvSpPr>
          <p:cNvPr id="13" name="TextBox 12"/>
          <p:cNvSpPr txBox="1"/>
          <p:nvPr/>
        </p:nvSpPr>
        <p:spPr>
          <a:xfrm>
            <a:off x="621792" y="841248"/>
            <a:ext cx="10972800" cy="941832"/>
          </a:xfrm>
          <a:prstGeom prst="rect">
            <a:avLst/>
          </a:prstGeom>
          <a:noFill/>
        </p:spPr>
        <p:txBody>
          <a:bodyPr wrap="square" lIns="0" rIns="0" tIns="0" bIns="0">
            <a:spAutoFit/>
          </a:bodyPr>
          <a:lstStyle/>
          <a:p>
            <a:pPr>
              <a:lnSpc>
                <a:spcPct val="107000"/>
              </a:lnSpc>
              <a:spcBef>
                <a:spcPts val="0"/>
              </a:spcBef>
              <a:spcAft>
                <a:spcPts val="744"/>
              </a:spcAft>
              <a:defRPr sz="3100" b="1">
                <a:solidFill>
                  <a:srgbClr val="102A3A"/>
                </a:solidFill>
                <a:latin typeface="Arial"/>
              </a:defRPr>
            </a:pPr>
            <a:r>
              <a:t>H04: the requested MIR setup cannot be approved.</a:t>
            </a:r>
          </a:p>
        </p:txBody>
      </p:sp>
      <p:sp>
        <p:nvSpPr>
          <p:cNvPr id="14" name="TextBox 13"/>
          <p:cNvSpPr txBox="1"/>
          <p:nvPr/>
        </p:nvSpPr>
        <p:spPr>
          <a:xfrm>
            <a:off x="640080" y="1417320"/>
            <a:ext cx="10927080" cy="475488"/>
          </a:xfrm>
          <a:prstGeom prst="rect">
            <a:avLst/>
          </a:prstGeom>
          <a:noFill/>
        </p:spPr>
        <p:txBody>
          <a:bodyPr wrap="square" lIns="0" rIns="0" tIns="0" bIns="0">
            <a:spAutoFit/>
          </a:bodyPr>
          <a:lstStyle/>
          <a:p>
            <a:pPr>
              <a:lnSpc>
                <a:spcPct val="107000"/>
              </a:lnSpc>
              <a:spcBef>
                <a:spcPts val="0"/>
              </a:spcBef>
              <a:spcAft>
                <a:spcPts val="359"/>
              </a:spcAft>
              <a:defRPr sz="1500" b="0">
                <a:solidFill>
                  <a:srgbClr val="587080"/>
                </a:solidFill>
                <a:latin typeface="Arial"/>
              </a:defRPr>
            </a:pPr>
            <a:r>
              <a:t>Water in a petroleum line; analyzer in another building; an existing VIS/NIR silica cable.</a:t>
            </a:r>
          </a:p>
        </p:txBody>
      </p:sp>
      <p:cxnSp>
        <p:nvCxnSpPr>
          <p:cNvPr id="15" name="Connector 14"/>
          <p:cNvCxnSpPr/>
          <p:nvPr/>
        </p:nvCxnSpPr>
        <p:spPr>
          <a:xfrm>
            <a:off x="621792" y="6318504"/>
            <a:ext cx="10945368" cy="0"/>
          </a:xfrm>
          <a:prstGeom prst="line">
            <a:avLst/>
          </a:prstGeom>
          <a:ln w="8890">
            <a:solidFill>
              <a:srgbClr val="DCE5ED"/>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40080" y="6428232"/>
            <a:ext cx="9875520" cy="182880"/>
          </a:xfrm>
          <a:prstGeom prst="rect">
            <a:avLst/>
          </a:prstGeom>
          <a:noFill/>
        </p:spPr>
        <p:txBody>
          <a:bodyPr wrap="square" lIns="0" rIns="0" tIns="0" bIns="0">
            <a:spAutoFit/>
          </a:bodyPr>
          <a:lstStyle/>
          <a:p>
            <a:pPr>
              <a:lnSpc>
                <a:spcPct val="107000"/>
              </a:lnSpc>
              <a:spcBef>
                <a:spcPts val="0"/>
              </a:spcBef>
              <a:spcAft>
                <a:spcPts val="204"/>
              </a:spcAft>
              <a:defRPr sz="850" b="0">
                <a:solidFill>
                  <a:srgbClr val="587080"/>
                </a:solidFill>
                <a:latin typeface="Arial"/>
              </a:defRPr>
            </a:pPr>
            <a:r>
              <a:t>outputs/H04.json; supplied presentation p.5; AFS reference S02 pp.6, 9, 13 via curated KB</a:t>
            </a:r>
          </a:p>
        </p:txBody>
      </p:sp>
      <p:sp>
        <p:nvSpPr>
          <p:cNvPr id="17" name="TextBox 16"/>
          <p:cNvSpPr txBox="1"/>
          <p:nvPr/>
        </p:nvSpPr>
        <p:spPr>
          <a:xfrm>
            <a:off x="10881360" y="6409944"/>
            <a:ext cx="658368" cy="228600"/>
          </a:xfrm>
          <a:prstGeom prst="rect">
            <a:avLst/>
          </a:prstGeom>
          <a:noFill/>
        </p:spPr>
        <p:txBody>
          <a:bodyPr wrap="square" lIns="0" rIns="0" tIns="0" bIns="0">
            <a:spAutoFit/>
          </a:bodyPr>
          <a:lstStyle/>
          <a:p>
            <a:pPr algn="r">
              <a:lnSpc>
                <a:spcPct val="107000"/>
              </a:lnSpc>
              <a:spcBef>
                <a:spcPts val="0"/>
              </a:spcBef>
              <a:spcAft>
                <a:spcPts val="216"/>
              </a:spcAft>
              <a:defRPr sz="900" b="0">
                <a:solidFill>
                  <a:srgbClr val="587080"/>
                </a:solidFill>
                <a:latin typeface="Arial"/>
              </a:defRPr>
            </a:pPr>
            <a:r>
              <a:t>06 / 14</a:t>
            </a:r>
          </a:p>
        </p:txBody>
      </p:sp>
      <p:sp>
        <p:nvSpPr>
          <p:cNvPr id="18" name="Rounded Rectangle 17"/>
          <p:cNvSpPr/>
          <p:nvPr/>
        </p:nvSpPr>
        <p:spPr>
          <a:xfrm>
            <a:off x="676656" y="2084831"/>
            <a:ext cx="4983480" cy="3584448"/>
          </a:xfrm>
          <a:prstGeom prst="roundRect">
            <a:avLst>
              <a:gd name="adj" fmla="val 3826"/>
            </a:avLst>
          </a:prstGeom>
          <a:solidFill>
            <a:srgbClr val="FFF4E4"/>
          </a:solidFill>
          <a:ln w="8890">
            <a:solidFill>
              <a:srgbClr val="DC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76656" y="2084831"/>
            <a:ext cx="50292" cy="3584448"/>
          </a:xfrm>
          <a:prstGeom prst="rect">
            <a:avLst/>
          </a:prstGeom>
          <a:solidFill>
            <a:srgbClr val="B06A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77824" y="2267712"/>
            <a:ext cx="4581144" cy="402336"/>
          </a:xfrm>
          <a:prstGeom prst="rect">
            <a:avLst/>
          </a:prstGeom>
          <a:noFill/>
        </p:spPr>
        <p:txBody>
          <a:bodyPr wrap="square" lIns="0" rIns="0" tIns="0" bIns="0">
            <a:spAutoFit/>
          </a:bodyPr>
          <a:lstStyle/>
          <a:p>
            <a:pPr>
              <a:lnSpc>
                <a:spcPct val="107000"/>
              </a:lnSpc>
              <a:spcBef>
                <a:spcPts val="0"/>
              </a:spcBef>
              <a:spcAft>
                <a:spcPts val="455"/>
              </a:spcAft>
              <a:defRPr sz="1900" b="1">
                <a:solidFill>
                  <a:srgbClr val="B06A16"/>
                </a:solidFill>
                <a:latin typeface="Arial"/>
              </a:defRPr>
            </a:pPr>
            <a:r>
              <a:t>The assessment</a:t>
            </a:r>
          </a:p>
        </p:txBody>
      </p:sp>
      <p:sp>
        <p:nvSpPr>
          <p:cNvPr id="21" name="TextBox 20"/>
          <p:cNvSpPr txBox="1"/>
          <p:nvPr/>
        </p:nvSpPr>
        <p:spPr>
          <a:xfrm>
            <a:off x="877824" y="2843784"/>
            <a:ext cx="4581144" cy="2688336"/>
          </a:xfrm>
          <a:prstGeom prst="rect">
            <a:avLst/>
          </a:prstGeom>
          <a:noFill/>
        </p:spPr>
        <p:txBody>
          <a:bodyPr wrap="square" lIns="0" rIns="0" tIns="0" bIns="0">
            <a:spAutoFit/>
          </a:bodyPr>
          <a:lstStyle/>
          <a:p>
            <a:pPr>
              <a:lnSpc>
                <a:spcPct val="107000"/>
              </a:lnSpc>
              <a:spcBef>
                <a:spcPts val="0"/>
              </a:spcBef>
              <a:spcAft>
                <a:spcPts val="432"/>
              </a:spcAft>
              <a:defRPr sz="1800" b="0">
                <a:solidFill>
                  <a:srgbClr val="102A3A"/>
                </a:solidFill>
                <a:latin typeface="Arial"/>
              </a:defRPr>
            </a:pPr>
            <a:r>
              <a:t>Silica is incompatible with the requested MIR wavelengths.</a:t>
            </a:r>
          </a:p>
          <a:p>
            <a:pPr>
              <a:lnSpc>
                <a:spcPct val="107000"/>
              </a:lnSpc>
              <a:spcBef>
                <a:spcPts val="0"/>
              </a:spcBef>
              <a:spcAft>
                <a:spcPts val="432"/>
              </a:spcAft>
              <a:defRPr sz="1800" b="0">
                <a:solidFill>
                  <a:srgbClr val="102A3A"/>
                </a:solidFill>
                <a:latin typeface="Arial"/>
              </a:defRPr>
            </a:pPr>
          </a:p>
          <a:p>
            <a:pPr>
              <a:lnSpc>
                <a:spcPct val="107000"/>
              </a:lnSpc>
              <a:spcBef>
                <a:spcPts val="0"/>
              </a:spcBef>
              <a:spcAft>
                <a:spcPts val="432"/>
              </a:spcAft>
              <a:defRPr sz="1800" b="0">
                <a:solidFill>
                  <a:srgbClr val="102A3A"/>
                </a:solidFill>
                <a:latin typeface="Arial"/>
              </a:defRPr>
            </a:pPr>
            <a:r>
              <a:t>Unknown: link length, routing and operating conditions.</a:t>
            </a:r>
          </a:p>
          <a:p>
            <a:pPr>
              <a:lnSpc>
                <a:spcPct val="107000"/>
              </a:lnSpc>
              <a:spcBef>
                <a:spcPts val="0"/>
              </a:spcBef>
              <a:spcAft>
                <a:spcPts val="432"/>
              </a:spcAft>
              <a:defRPr sz="1800" b="0">
                <a:solidFill>
                  <a:srgbClr val="102A3A"/>
                </a:solidFill>
                <a:latin typeface="Arial"/>
              </a:defRPr>
            </a:pPr>
          </a:p>
          <a:p>
            <a:pPr>
              <a:lnSpc>
                <a:spcPct val="107000"/>
              </a:lnSpc>
              <a:spcBef>
                <a:spcPts val="0"/>
              </a:spcBef>
              <a:spcAft>
                <a:spcPts val="432"/>
              </a:spcAft>
              <a:defRPr sz="1800" b="0">
                <a:solidFill>
                  <a:srgbClr val="102A3A"/>
                </a:solidFill>
                <a:latin typeface="Arial"/>
              </a:defRPr>
            </a:pPr>
            <a:r>
              <a:t>First test: an IR-compatible link and alternative sensing concepts.</a:t>
            </a:r>
          </a:p>
        </p:txBody>
      </p:sp>
      <p:sp>
        <p:nvSpPr>
          <p:cNvPr id="22" name="Rounded Rectangle 21"/>
          <p:cNvSpPr/>
          <p:nvPr/>
        </p:nvSpPr>
        <p:spPr>
          <a:xfrm>
            <a:off x="5966459" y="2071115"/>
            <a:ext cx="5550408" cy="3493008"/>
          </a:xfrm>
          <a:prstGeom prst="roundRect">
            <a:avLst>
              <a:gd name="adj" fmla="val 3403"/>
            </a:avLst>
          </a:prstGeom>
          <a:solidFill>
            <a:srgbClr val="FFFFFF"/>
          </a:solidFill>
          <a:ln w="8890">
            <a:solidFill>
              <a:srgbClr val="DC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result-assessment.png"/>
          <p:cNvPicPr>
            <a:picLocks noChangeAspect="1"/>
          </p:cNvPicPr>
          <p:nvPr/>
        </p:nvPicPr>
        <p:blipFill>
          <a:blip r:embed="rId2"/>
          <a:stretch>
            <a:fillRect/>
          </a:stretch>
        </p:blipFill>
        <p:spPr>
          <a:xfrm>
            <a:off x="5998464" y="2103120"/>
            <a:ext cx="5486400" cy="3429000"/>
          </a:xfrm>
          <a:prstGeom prst="rect">
            <a:avLst/>
          </a:prstGeom>
        </p:spPr>
      </p:pic>
      <p:sp>
        <p:nvSpPr>
          <p:cNvPr id="24" name="Rounded Rectangle 23"/>
          <p:cNvSpPr/>
          <p:nvPr/>
        </p:nvSpPr>
        <p:spPr>
          <a:xfrm>
            <a:off x="6099048" y="5641848"/>
            <a:ext cx="5285232" cy="310896"/>
          </a:xfrm>
          <a:prstGeom prst="roundRect">
            <a:avLst>
              <a:gd name="adj" fmla="val 18000"/>
            </a:avLst>
          </a:prstGeom>
          <a:solidFill>
            <a:srgbClr val="FFF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190488" y="5701284"/>
            <a:ext cx="5102352" cy="192024"/>
          </a:xfrm>
          <a:prstGeom prst="rect">
            <a:avLst/>
          </a:prstGeom>
          <a:noFill/>
        </p:spPr>
        <p:txBody>
          <a:bodyPr wrap="square" lIns="0" rIns="0" tIns="0" bIns="0">
            <a:spAutoFit/>
          </a:bodyPr>
          <a:lstStyle/>
          <a:p>
            <a:pPr algn="ctr">
              <a:lnSpc>
                <a:spcPct val="107000"/>
              </a:lnSpc>
              <a:spcBef>
                <a:spcPts val="0"/>
              </a:spcBef>
              <a:spcAft>
                <a:spcPts val="252"/>
              </a:spcAft>
              <a:defRPr sz="1050" b="1">
                <a:solidFill>
                  <a:srgbClr val="B06A16"/>
                </a:solidFill>
                <a:latin typeface="Arial"/>
              </a:defRPr>
            </a:pPr>
            <a:r>
              <a:t>STORED H04 RESULT  •  INSUFFICIENT INFORMATION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3F6FA"/>
        </a:solidFill>
        <a:effectLst/>
      </p:bgPr>
    </p:bg>
    <p:spTree>
      <p:nvGrpSpPr>
        <p:cNvPr id="1" name=""/>
        <p:cNvGrpSpPr/>
        <p:nvPr/>
      </p:nvGrpSpPr>
      <p:grpSpPr/>
      <p:sp>
        <p:nvSpPr>
          <p:cNvPr id="2" name="Rectangle 1"/>
          <p:cNvSpPr/>
          <p:nvPr/>
        </p:nvSpPr>
        <p:spPr>
          <a:xfrm>
            <a:off x="0" y="0"/>
            <a:ext cx="1223771" cy="50292"/>
          </a:xfrm>
          <a:prstGeom prst="rect">
            <a:avLst/>
          </a:prstGeom>
          <a:solidFill>
            <a:srgbClr val="7044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19199" y="0"/>
            <a:ext cx="1223771" cy="50292"/>
          </a:xfrm>
          <a:prstGeom prst="rect">
            <a:avLst/>
          </a:prstGeom>
          <a:solidFill>
            <a:srgbClr val="5E4D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438399" y="0"/>
            <a:ext cx="1223771" cy="50292"/>
          </a:xfrm>
          <a:prstGeom prst="rect">
            <a:avLst/>
          </a:prstGeom>
          <a:solidFill>
            <a:srgbClr val="426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57599" y="0"/>
            <a:ext cx="1223771" cy="50292"/>
          </a:xfrm>
          <a:prstGeom prst="rect">
            <a:avLst/>
          </a:prstGeom>
          <a:solidFill>
            <a:srgbClr val="2886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876799" y="0"/>
            <a:ext cx="1223771" cy="50292"/>
          </a:xfrm>
          <a:prstGeom prst="rect">
            <a:avLst/>
          </a:prstGeom>
          <a:solidFill>
            <a:srgbClr val="1591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095999" y="0"/>
            <a:ext cx="1223771" cy="50292"/>
          </a:xfrm>
          <a:prstGeom prst="rect">
            <a:avLst/>
          </a:prstGeom>
          <a:solidFill>
            <a:srgbClr val="2999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199" y="0"/>
            <a:ext cx="1223771" cy="50292"/>
          </a:xfrm>
          <a:prstGeom prst="rect">
            <a:avLst/>
          </a:prstGeom>
          <a:solidFill>
            <a:srgbClr val="7DAD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534399" y="0"/>
            <a:ext cx="1223771" cy="50292"/>
          </a:xfrm>
          <a:prstGeom prst="rect">
            <a:avLst/>
          </a:prstGeom>
          <a:solidFill>
            <a:srgbClr val="C6A6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753599" y="0"/>
            <a:ext cx="1223771" cy="50292"/>
          </a:xfrm>
          <a:prstGeom prst="rect">
            <a:avLst/>
          </a:prstGeom>
          <a:solidFill>
            <a:srgbClr val="CC7B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0972799" y="0"/>
            <a:ext cx="1223771" cy="50292"/>
          </a:xfrm>
          <a:prstGeom prst="rect">
            <a:avLst/>
          </a:prstGeom>
          <a:solidFill>
            <a:srgbClr val="B84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1792" y="365760"/>
            <a:ext cx="10972800" cy="246888"/>
          </a:xfrm>
          <a:prstGeom prst="rect">
            <a:avLst/>
          </a:prstGeom>
          <a:noFill/>
        </p:spPr>
        <p:txBody>
          <a:bodyPr wrap="square" lIns="0" rIns="0" tIns="0" bIns="0">
            <a:spAutoFit/>
          </a:bodyPr>
          <a:lstStyle/>
          <a:p>
            <a:pPr>
              <a:lnSpc>
                <a:spcPct val="107000"/>
              </a:lnSpc>
              <a:spcBef>
                <a:spcPts val="0"/>
              </a:spcBef>
              <a:spcAft>
                <a:spcPts val="252"/>
              </a:spcAft>
              <a:defRPr sz="1050" b="1">
                <a:solidFill>
                  <a:srgbClr val="087F8C"/>
                </a:solidFill>
                <a:latin typeface="Arial"/>
              </a:defRPr>
            </a:pPr>
            <a:r>
              <a:t>06 / FIRST FEASIBILITY EXPERIMENT</a:t>
            </a:r>
          </a:p>
        </p:txBody>
      </p:sp>
      <p:sp>
        <p:nvSpPr>
          <p:cNvPr id="13" name="TextBox 12"/>
          <p:cNvSpPr txBox="1"/>
          <p:nvPr/>
        </p:nvSpPr>
        <p:spPr>
          <a:xfrm>
            <a:off x="621792" y="841248"/>
            <a:ext cx="10972800" cy="941832"/>
          </a:xfrm>
          <a:prstGeom prst="rect">
            <a:avLst/>
          </a:prstGeom>
          <a:noFill/>
        </p:spPr>
        <p:txBody>
          <a:bodyPr wrap="square" lIns="0" rIns="0" tIns="0" bIns="0">
            <a:spAutoFit/>
          </a:bodyPr>
          <a:lstStyle/>
          <a:p>
            <a:pPr>
              <a:lnSpc>
                <a:spcPct val="107000"/>
              </a:lnSpc>
              <a:spcBef>
                <a:spcPts val="0"/>
              </a:spcBef>
              <a:spcAft>
                <a:spcPts val="744"/>
              </a:spcAft>
              <a:defRPr sz="3100" b="1">
                <a:solidFill>
                  <a:srgbClr val="102A3A"/>
                </a:solidFill>
                <a:latin typeface="Arial"/>
              </a:defRPr>
            </a:pPr>
            <a:r>
              <a:t>A useful recommendation ends with a test.</a:t>
            </a:r>
          </a:p>
        </p:txBody>
      </p:sp>
      <p:sp>
        <p:nvSpPr>
          <p:cNvPr id="14" name="TextBox 13"/>
          <p:cNvSpPr txBox="1"/>
          <p:nvPr/>
        </p:nvSpPr>
        <p:spPr>
          <a:xfrm>
            <a:off x="640080" y="1417320"/>
            <a:ext cx="10927080" cy="475488"/>
          </a:xfrm>
          <a:prstGeom prst="rect">
            <a:avLst/>
          </a:prstGeom>
          <a:noFill/>
        </p:spPr>
        <p:txBody>
          <a:bodyPr wrap="square" lIns="0" rIns="0" tIns="0" bIns="0">
            <a:spAutoFit/>
          </a:bodyPr>
          <a:lstStyle/>
          <a:p>
            <a:pPr>
              <a:lnSpc>
                <a:spcPct val="107000"/>
              </a:lnSpc>
              <a:spcBef>
                <a:spcPts val="0"/>
              </a:spcBef>
              <a:spcAft>
                <a:spcPts val="359"/>
              </a:spcAft>
              <a:defRPr sz="1500" b="0">
                <a:solidFill>
                  <a:srgbClr val="587080"/>
                </a:solidFill>
                <a:latin typeface="Arial"/>
              </a:defRPr>
            </a:pPr>
            <a:r>
              <a:t>H04 example: a bench comparison before a remote process installation.</a:t>
            </a:r>
          </a:p>
        </p:txBody>
      </p:sp>
      <p:cxnSp>
        <p:nvCxnSpPr>
          <p:cNvPr id="15" name="Connector 14"/>
          <p:cNvCxnSpPr/>
          <p:nvPr/>
        </p:nvCxnSpPr>
        <p:spPr>
          <a:xfrm>
            <a:off x="621792" y="6318504"/>
            <a:ext cx="10945368" cy="0"/>
          </a:xfrm>
          <a:prstGeom prst="line">
            <a:avLst/>
          </a:prstGeom>
          <a:ln w="8890">
            <a:solidFill>
              <a:srgbClr val="DCE5ED"/>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40080" y="6428232"/>
            <a:ext cx="9875520" cy="182880"/>
          </a:xfrm>
          <a:prstGeom prst="rect">
            <a:avLst/>
          </a:prstGeom>
          <a:noFill/>
        </p:spPr>
        <p:txBody>
          <a:bodyPr wrap="square" lIns="0" rIns="0" tIns="0" bIns="0">
            <a:spAutoFit/>
          </a:bodyPr>
          <a:lstStyle/>
          <a:p>
            <a:pPr>
              <a:lnSpc>
                <a:spcPct val="107000"/>
              </a:lnSpc>
              <a:spcBef>
                <a:spcPts val="0"/>
              </a:spcBef>
              <a:spcAft>
                <a:spcPts val="204"/>
              </a:spcAft>
              <a:defRPr sz="850" b="0">
                <a:solidFill>
                  <a:srgbClr val="587080"/>
                </a:solidFill>
                <a:latin typeface="Arial"/>
              </a:defRPr>
            </a:pPr>
            <a:r>
              <a:t>outputs/H04.json, feasibility_plan; challenge brief pp.1–2; AFS pathway via README / S02 p.20</a:t>
            </a:r>
          </a:p>
        </p:txBody>
      </p:sp>
      <p:sp>
        <p:nvSpPr>
          <p:cNvPr id="17" name="TextBox 16"/>
          <p:cNvSpPr txBox="1"/>
          <p:nvPr/>
        </p:nvSpPr>
        <p:spPr>
          <a:xfrm>
            <a:off x="10881360" y="6409944"/>
            <a:ext cx="658368" cy="228600"/>
          </a:xfrm>
          <a:prstGeom prst="rect">
            <a:avLst/>
          </a:prstGeom>
          <a:noFill/>
        </p:spPr>
        <p:txBody>
          <a:bodyPr wrap="square" lIns="0" rIns="0" tIns="0" bIns="0">
            <a:spAutoFit/>
          </a:bodyPr>
          <a:lstStyle/>
          <a:p>
            <a:pPr algn="r">
              <a:lnSpc>
                <a:spcPct val="107000"/>
              </a:lnSpc>
              <a:spcBef>
                <a:spcPts val="0"/>
              </a:spcBef>
              <a:spcAft>
                <a:spcPts val="216"/>
              </a:spcAft>
              <a:defRPr sz="900" b="0">
                <a:solidFill>
                  <a:srgbClr val="587080"/>
                </a:solidFill>
                <a:latin typeface="Arial"/>
              </a:defRPr>
            </a:pPr>
            <a:r>
              <a:t>07 / 14</a:t>
            </a:r>
          </a:p>
        </p:txBody>
      </p:sp>
      <p:sp>
        <p:nvSpPr>
          <p:cNvPr id="18" name="Rounded Rectangle 17"/>
          <p:cNvSpPr/>
          <p:nvPr/>
        </p:nvSpPr>
        <p:spPr>
          <a:xfrm>
            <a:off x="676656" y="2075688"/>
            <a:ext cx="2624328" cy="2039112"/>
          </a:xfrm>
          <a:prstGeom prst="roundRect">
            <a:avLst>
              <a:gd name="adj" fmla="val 6726"/>
            </a:avLst>
          </a:prstGeom>
          <a:solidFill>
            <a:srgbClr val="FFFFFF"/>
          </a:solidFill>
          <a:ln w="8890">
            <a:solidFill>
              <a:srgbClr val="DC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76656" y="2075688"/>
            <a:ext cx="50292" cy="2039112"/>
          </a:xfrm>
          <a:prstGeom prst="rect">
            <a:avLst/>
          </a:prstGeom>
          <a:solidFill>
            <a:srgbClr val="7044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77824" y="2258568"/>
            <a:ext cx="2221992" cy="402336"/>
          </a:xfrm>
          <a:prstGeom prst="rect">
            <a:avLst/>
          </a:prstGeom>
          <a:noFill/>
        </p:spPr>
        <p:txBody>
          <a:bodyPr wrap="square" lIns="0" rIns="0" tIns="0" bIns="0">
            <a:spAutoFit/>
          </a:bodyPr>
          <a:lstStyle/>
          <a:p>
            <a:pPr>
              <a:lnSpc>
                <a:spcPct val="107000"/>
              </a:lnSpc>
              <a:spcBef>
                <a:spcPts val="0"/>
              </a:spcBef>
              <a:spcAft>
                <a:spcPts val="455"/>
              </a:spcAft>
              <a:defRPr sz="1900" b="1">
                <a:solidFill>
                  <a:srgbClr val="7044BB"/>
                </a:solidFill>
                <a:latin typeface="Arial"/>
              </a:defRPr>
            </a:pPr>
            <a:r>
              <a:t>Samples</a:t>
            </a:r>
          </a:p>
        </p:txBody>
      </p:sp>
      <p:sp>
        <p:nvSpPr>
          <p:cNvPr id="21" name="TextBox 20"/>
          <p:cNvSpPr txBox="1"/>
          <p:nvPr/>
        </p:nvSpPr>
        <p:spPr>
          <a:xfrm>
            <a:off x="877824" y="2834640"/>
            <a:ext cx="2221992" cy="1143000"/>
          </a:xfrm>
          <a:prstGeom prst="rect">
            <a:avLst/>
          </a:prstGeom>
          <a:noFill/>
        </p:spPr>
        <p:txBody>
          <a:bodyPr wrap="square" lIns="0" rIns="0" tIns="0" bIns="0">
            <a:spAutoFit/>
          </a:bodyPr>
          <a:lstStyle/>
          <a:p>
            <a:pPr>
              <a:lnSpc>
                <a:spcPct val="107000"/>
              </a:lnSpc>
              <a:spcBef>
                <a:spcPts val="0"/>
              </a:spcBef>
              <a:spcAft>
                <a:spcPts val="420"/>
              </a:spcAft>
              <a:defRPr sz="1750" b="0">
                <a:solidFill>
                  <a:srgbClr val="102A3A"/>
                </a:solidFill>
                <a:latin typeface="Arial"/>
              </a:defRPr>
            </a:pPr>
            <a:r>
              <a:t>Water-spiked petroleum spanning relevant process states.</a:t>
            </a:r>
          </a:p>
        </p:txBody>
      </p:sp>
      <p:sp>
        <p:nvSpPr>
          <p:cNvPr id="22" name="Rounded Rectangle 21"/>
          <p:cNvSpPr/>
          <p:nvPr/>
        </p:nvSpPr>
        <p:spPr>
          <a:xfrm>
            <a:off x="3447287" y="2075688"/>
            <a:ext cx="2624328" cy="2039112"/>
          </a:xfrm>
          <a:prstGeom prst="roundRect">
            <a:avLst>
              <a:gd name="adj" fmla="val 6726"/>
            </a:avLst>
          </a:prstGeom>
          <a:solidFill>
            <a:srgbClr val="FFFFFF"/>
          </a:solidFill>
          <a:ln w="8890">
            <a:solidFill>
              <a:srgbClr val="DC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447287" y="2075688"/>
            <a:ext cx="50292" cy="2039112"/>
          </a:xfrm>
          <a:prstGeom prst="rect">
            <a:avLst/>
          </a:prstGeom>
          <a:solidFill>
            <a:srgbClr val="2C62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648456" y="2258568"/>
            <a:ext cx="2221992" cy="402336"/>
          </a:xfrm>
          <a:prstGeom prst="rect">
            <a:avLst/>
          </a:prstGeom>
          <a:noFill/>
        </p:spPr>
        <p:txBody>
          <a:bodyPr wrap="square" lIns="0" rIns="0" tIns="0" bIns="0">
            <a:spAutoFit/>
          </a:bodyPr>
          <a:lstStyle/>
          <a:p>
            <a:pPr>
              <a:lnSpc>
                <a:spcPct val="107000"/>
              </a:lnSpc>
              <a:spcBef>
                <a:spcPts val="0"/>
              </a:spcBef>
              <a:spcAft>
                <a:spcPts val="455"/>
              </a:spcAft>
              <a:defRPr sz="1900" b="1">
                <a:solidFill>
                  <a:srgbClr val="2C62C9"/>
                </a:solidFill>
                <a:latin typeface="Arial"/>
              </a:defRPr>
            </a:pPr>
            <a:r>
              <a:t>Reference</a:t>
            </a:r>
          </a:p>
        </p:txBody>
      </p:sp>
      <p:sp>
        <p:nvSpPr>
          <p:cNvPr id="25" name="TextBox 24"/>
          <p:cNvSpPr txBox="1"/>
          <p:nvPr/>
        </p:nvSpPr>
        <p:spPr>
          <a:xfrm>
            <a:off x="3648456" y="2834640"/>
            <a:ext cx="2221992" cy="1143000"/>
          </a:xfrm>
          <a:prstGeom prst="rect">
            <a:avLst/>
          </a:prstGeom>
          <a:noFill/>
        </p:spPr>
        <p:txBody>
          <a:bodyPr wrap="square" lIns="0" rIns="0" tIns="0" bIns="0">
            <a:spAutoFit/>
          </a:bodyPr>
          <a:lstStyle/>
          <a:p>
            <a:pPr>
              <a:lnSpc>
                <a:spcPct val="107000"/>
              </a:lnSpc>
              <a:spcBef>
                <a:spcPts val="0"/>
              </a:spcBef>
              <a:spcAft>
                <a:spcPts val="420"/>
              </a:spcAft>
              <a:defRPr sz="1750" b="0">
                <a:solidFill>
                  <a:srgbClr val="102A3A"/>
                </a:solidFill>
                <a:latin typeface="Arial"/>
              </a:defRPr>
            </a:pPr>
            <a:r>
              <a:t>Independent water measurements, such as Karl Fischer.</a:t>
            </a:r>
          </a:p>
        </p:txBody>
      </p:sp>
      <p:sp>
        <p:nvSpPr>
          <p:cNvPr id="26" name="Rounded Rectangle 25"/>
          <p:cNvSpPr/>
          <p:nvPr/>
        </p:nvSpPr>
        <p:spPr>
          <a:xfrm>
            <a:off x="6217920" y="2075688"/>
            <a:ext cx="2624328" cy="2039112"/>
          </a:xfrm>
          <a:prstGeom prst="roundRect">
            <a:avLst>
              <a:gd name="adj" fmla="val 6726"/>
            </a:avLst>
          </a:prstGeom>
          <a:solidFill>
            <a:srgbClr val="FFFFFF"/>
          </a:solidFill>
          <a:ln w="8890">
            <a:solidFill>
              <a:srgbClr val="DC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217920" y="2075688"/>
            <a:ext cx="50292" cy="203911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19088" y="2258568"/>
            <a:ext cx="2221992" cy="402336"/>
          </a:xfrm>
          <a:prstGeom prst="rect">
            <a:avLst/>
          </a:prstGeom>
          <a:noFill/>
        </p:spPr>
        <p:txBody>
          <a:bodyPr wrap="square" lIns="0" rIns="0" tIns="0" bIns="0">
            <a:spAutoFit/>
          </a:bodyPr>
          <a:lstStyle/>
          <a:p>
            <a:pPr>
              <a:lnSpc>
                <a:spcPct val="107000"/>
              </a:lnSpc>
              <a:spcBef>
                <a:spcPts val="0"/>
              </a:spcBef>
              <a:spcAft>
                <a:spcPts val="455"/>
              </a:spcAft>
              <a:defRPr sz="1900" b="1">
                <a:solidFill>
                  <a:srgbClr val="087F8C"/>
                </a:solidFill>
                <a:latin typeface="Arial"/>
              </a:defRPr>
            </a:pPr>
            <a:r>
              <a:t>Comparison</a:t>
            </a:r>
          </a:p>
        </p:txBody>
      </p:sp>
      <p:sp>
        <p:nvSpPr>
          <p:cNvPr id="29" name="TextBox 28"/>
          <p:cNvSpPr txBox="1"/>
          <p:nvPr/>
        </p:nvSpPr>
        <p:spPr>
          <a:xfrm>
            <a:off x="6419088" y="2834640"/>
            <a:ext cx="2221992" cy="1143000"/>
          </a:xfrm>
          <a:prstGeom prst="rect">
            <a:avLst/>
          </a:prstGeom>
          <a:noFill/>
        </p:spPr>
        <p:txBody>
          <a:bodyPr wrap="square" lIns="0" rIns="0" tIns="0" bIns="0">
            <a:spAutoFit/>
          </a:bodyPr>
          <a:lstStyle/>
          <a:p>
            <a:pPr>
              <a:lnSpc>
                <a:spcPct val="107000"/>
              </a:lnSpc>
              <a:spcBef>
                <a:spcPts val="0"/>
              </a:spcBef>
              <a:spcAft>
                <a:spcPts val="420"/>
              </a:spcAft>
              <a:defRPr sz="1750" b="0">
                <a:solidFill>
                  <a:srgbClr val="102A3A"/>
                </a:solidFill>
                <a:latin typeface="Arial"/>
              </a:defRPr>
            </a:pPr>
            <a:r>
              <a:t>MIR ATR and alternatives; test the effect of link length.</a:t>
            </a:r>
          </a:p>
        </p:txBody>
      </p:sp>
      <p:sp>
        <p:nvSpPr>
          <p:cNvPr id="30" name="Rounded Rectangle 29"/>
          <p:cNvSpPr/>
          <p:nvPr/>
        </p:nvSpPr>
        <p:spPr>
          <a:xfrm>
            <a:off x="8988552" y="2075688"/>
            <a:ext cx="2624328" cy="2039112"/>
          </a:xfrm>
          <a:prstGeom prst="roundRect">
            <a:avLst>
              <a:gd name="adj" fmla="val 6726"/>
            </a:avLst>
          </a:prstGeom>
          <a:solidFill>
            <a:srgbClr val="FFFFFF"/>
          </a:solidFill>
          <a:ln w="8890">
            <a:solidFill>
              <a:srgbClr val="DC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988552" y="2075688"/>
            <a:ext cx="50292" cy="2039112"/>
          </a:xfrm>
          <a:prstGeom prst="rect">
            <a:avLst/>
          </a:prstGeom>
          <a:solidFill>
            <a:srgbClr val="B06A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189720" y="2258568"/>
            <a:ext cx="2221992" cy="402336"/>
          </a:xfrm>
          <a:prstGeom prst="rect">
            <a:avLst/>
          </a:prstGeom>
          <a:noFill/>
        </p:spPr>
        <p:txBody>
          <a:bodyPr wrap="square" lIns="0" rIns="0" tIns="0" bIns="0">
            <a:spAutoFit/>
          </a:bodyPr>
          <a:lstStyle/>
          <a:p>
            <a:pPr>
              <a:lnSpc>
                <a:spcPct val="107000"/>
              </a:lnSpc>
              <a:spcBef>
                <a:spcPts val="0"/>
              </a:spcBef>
              <a:spcAft>
                <a:spcPts val="455"/>
              </a:spcAft>
              <a:defRPr sz="1900" b="1">
                <a:solidFill>
                  <a:srgbClr val="B06A16"/>
                </a:solidFill>
                <a:latin typeface="Arial"/>
              </a:defRPr>
            </a:pPr>
            <a:r>
              <a:t>Decision basis</a:t>
            </a:r>
          </a:p>
        </p:txBody>
      </p:sp>
      <p:sp>
        <p:nvSpPr>
          <p:cNvPr id="33" name="TextBox 32"/>
          <p:cNvSpPr txBox="1"/>
          <p:nvPr/>
        </p:nvSpPr>
        <p:spPr>
          <a:xfrm>
            <a:off x="9189720" y="2834640"/>
            <a:ext cx="2221992" cy="1143000"/>
          </a:xfrm>
          <a:prstGeom prst="rect">
            <a:avLst/>
          </a:prstGeom>
          <a:noFill/>
        </p:spPr>
        <p:txBody>
          <a:bodyPr wrap="square" lIns="0" rIns="0" tIns="0" bIns="0">
            <a:spAutoFit/>
          </a:bodyPr>
          <a:lstStyle/>
          <a:p>
            <a:pPr>
              <a:lnSpc>
                <a:spcPct val="107000"/>
              </a:lnSpc>
              <a:spcBef>
                <a:spcPts val="0"/>
              </a:spcBef>
              <a:spcAft>
                <a:spcPts val="420"/>
              </a:spcAft>
              <a:defRPr sz="1750" b="0">
                <a:solidFill>
                  <a:srgbClr val="102A3A"/>
                </a:solidFill>
                <a:latin typeface="Arial"/>
              </a:defRPr>
            </a:pPr>
            <a:r>
              <a:t>Client-agreed error, signal and robustness criteria.</a:t>
            </a:r>
          </a:p>
        </p:txBody>
      </p:sp>
      <p:sp>
        <p:nvSpPr>
          <p:cNvPr id="34" name="Rounded Rectangle 33"/>
          <p:cNvSpPr/>
          <p:nvPr/>
        </p:nvSpPr>
        <p:spPr>
          <a:xfrm>
            <a:off x="694944" y="4617720"/>
            <a:ext cx="2057400" cy="932688"/>
          </a:xfrm>
          <a:prstGeom prst="roundRect">
            <a:avLst>
              <a:gd name="adj" fmla="val 14705"/>
            </a:avLst>
          </a:prstGeom>
          <a:solidFill>
            <a:srgbClr val="10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77824" y="4855464"/>
            <a:ext cx="1700784" cy="384048"/>
          </a:xfrm>
          <a:prstGeom prst="rect">
            <a:avLst/>
          </a:prstGeom>
          <a:noFill/>
        </p:spPr>
        <p:txBody>
          <a:bodyPr wrap="square" lIns="0" rIns="0" tIns="0" bIns="0">
            <a:spAutoFit/>
          </a:bodyPr>
          <a:lstStyle/>
          <a:p>
            <a:pPr algn="ctr">
              <a:lnSpc>
                <a:spcPct val="107000"/>
              </a:lnSpc>
              <a:spcBef>
                <a:spcPts val="0"/>
              </a:spcBef>
              <a:spcAft>
                <a:spcPts val="480"/>
              </a:spcAft>
              <a:defRPr sz="2000" b="1">
                <a:solidFill>
                  <a:srgbClr val="FFFFFF"/>
                </a:solidFill>
                <a:latin typeface="Arial"/>
              </a:defRPr>
            </a:pPr>
            <a:r>
              <a:t>AFS lab trial</a:t>
            </a:r>
          </a:p>
        </p:txBody>
      </p:sp>
      <p:cxnSp>
        <p:nvCxnSpPr>
          <p:cNvPr id="36" name="Connector 35"/>
          <p:cNvCxnSpPr/>
          <p:nvPr/>
        </p:nvCxnSpPr>
        <p:spPr>
          <a:xfrm>
            <a:off x="2770632" y="5084064"/>
            <a:ext cx="429768" cy="0"/>
          </a:xfrm>
          <a:prstGeom prst="line">
            <a:avLst/>
          </a:prstGeom>
          <a:ln w="25400">
            <a:solidFill>
              <a:srgbClr val="087F8C"/>
            </a:solidFill>
            <a:tailEnd type="triangle"/>
          </a:ln>
        </p:spPr>
        <p:style>
          <a:lnRef idx="2">
            <a:schemeClr val="accent1"/>
          </a:lnRef>
          <a:fillRef idx="0">
            <a:schemeClr val="accent1"/>
          </a:fillRef>
          <a:effectRef idx="1">
            <a:schemeClr val="accent1"/>
          </a:effectRef>
          <a:fontRef idx="minor">
            <a:schemeClr val="tx1"/>
          </a:fontRef>
        </p:style>
      </p:cxnSp>
      <p:sp>
        <p:nvSpPr>
          <p:cNvPr id="37" name="Rounded Rectangle 36"/>
          <p:cNvSpPr/>
          <p:nvPr/>
        </p:nvSpPr>
        <p:spPr>
          <a:xfrm>
            <a:off x="3364992" y="4498848"/>
            <a:ext cx="2596896" cy="1243584"/>
          </a:xfrm>
          <a:prstGeom prst="roundRect">
            <a:avLst>
              <a:gd name="adj" fmla="val 11029"/>
            </a:avLst>
          </a:prstGeom>
          <a:solidFill>
            <a:srgbClr val="FFFFFF"/>
          </a:solidFill>
          <a:ln w="8890">
            <a:solidFill>
              <a:srgbClr val="DC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511296" y="4654296"/>
            <a:ext cx="2313432" cy="283464"/>
          </a:xfrm>
          <a:prstGeom prst="rect">
            <a:avLst/>
          </a:prstGeom>
          <a:noFill/>
        </p:spPr>
        <p:txBody>
          <a:bodyPr wrap="square" lIns="0" rIns="0" tIns="0" bIns="0">
            <a:spAutoFit/>
          </a:bodyPr>
          <a:lstStyle/>
          <a:p>
            <a:pPr>
              <a:lnSpc>
                <a:spcPct val="107000"/>
              </a:lnSpc>
              <a:spcBef>
                <a:spcPts val="0"/>
              </a:spcBef>
              <a:spcAft>
                <a:spcPts val="408"/>
              </a:spcAft>
              <a:defRPr sz="1700" b="1">
                <a:solidFill>
                  <a:srgbClr val="7044BB"/>
                </a:solidFill>
                <a:latin typeface="Arial"/>
              </a:defRPr>
            </a:pPr>
            <a:r>
              <a:t>Path A</a:t>
            </a:r>
          </a:p>
        </p:txBody>
      </p:sp>
      <p:sp>
        <p:nvSpPr>
          <p:cNvPr id="39" name="TextBox 38"/>
          <p:cNvSpPr txBox="1"/>
          <p:nvPr/>
        </p:nvSpPr>
        <p:spPr>
          <a:xfrm>
            <a:off x="3511296" y="5065776"/>
            <a:ext cx="2295144" cy="512064"/>
          </a:xfrm>
          <a:prstGeom prst="rect">
            <a:avLst/>
          </a:prstGeom>
          <a:noFill/>
        </p:spPr>
        <p:txBody>
          <a:bodyPr wrap="square" lIns="0" rIns="0" tIns="0" bIns="0">
            <a:spAutoFit/>
          </a:bodyPr>
          <a:lstStyle/>
          <a:p>
            <a:pPr>
              <a:lnSpc>
                <a:spcPct val="107000"/>
              </a:lnSpc>
              <a:spcBef>
                <a:spcPts val="0"/>
              </a:spcBef>
              <a:spcAft>
                <a:spcPts val="359"/>
              </a:spcAft>
              <a:defRPr sz="1500" b="0">
                <a:solidFill>
                  <a:srgbClr val="587080"/>
                </a:solidFill>
                <a:latin typeface="Arial"/>
              </a:defRPr>
            </a:pPr>
            <a:r>
              <a:t>Chemometric model for process automation</a:t>
            </a:r>
          </a:p>
        </p:txBody>
      </p:sp>
      <p:sp>
        <p:nvSpPr>
          <p:cNvPr id="40" name="Rounded Rectangle 39"/>
          <p:cNvSpPr/>
          <p:nvPr/>
        </p:nvSpPr>
        <p:spPr>
          <a:xfrm>
            <a:off x="6108192" y="4498848"/>
            <a:ext cx="2596896" cy="1243584"/>
          </a:xfrm>
          <a:prstGeom prst="roundRect">
            <a:avLst>
              <a:gd name="adj" fmla="val 11029"/>
            </a:avLst>
          </a:prstGeom>
          <a:solidFill>
            <a:srgbClr val="FFFFFF"/>
          </a:solidFill>
          <a:ln w="8890">
            <a:solidFill>
              <a:srgbClr val="DC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254496" y="4654296"/>
            <a:ext cx="2313432" cy="283464"/>
          </a:xfrm>
          <a:prstGeom prst="rect">
            <a:avLst/>
          </a:prstGeom>
          <a:noFill/>
        </p:spPr>
        <p:txBody>
          <a:bodyPr wrap="square" lIns="0" rIns="0" tIns="0" bIns="0">
            <a:spAutoFit/>
          </a:bodyPr>
          <a:lstStyle/>
          <a:p>
            <a:pPr>
              <a:lnSpc>
                <a:spcPct val="107000"/>
              </a:lnSpc>
              <a:spcBef>
                <a:spcPts val="0"/>
              </a:spcBef>
              <a:spcAft>
                <a:spcPts val="408"/>
              </a:spcAft>
              <a:defRPr sz="1700" b="1">
                <a:solidFill>
                  <a:srgbClr val="2C62C9"/>
                </a:solidFill>
                <a:latin typeface="Arial"/>
              </a:defRPr>
            </a:pPr>
            <a:r>
              <a:t>Path B</a:t>
            </a:r>
          </a:p>
        </p:txBody>
      </p:sp>
      <p:sp>
        <p:nvSpPr>
          <p:cNvPr id="42" name="TextBox 41"/>
          <p:cNvSpPr txBox="1"/>
          <p:nvPr/>
        </p:nvSpPr>
        <p:spPr>
          <a:xfrm>
            <a:off x="6254496" y="5065776"/>
            <a:ext cx="2295144" cy="512064"/>
          </a:xfrm>
          <a:prstGeom prst="rect">
            <a:avLst/>
          </a:prstGeom>
          <a:noFill/>
        </p:spPr>
        <p:txBody>
          <a:bodyPr wrap="square" lIns="0" rIns="0" tIns="0" bIns="0">
            <a:spAutoFit/>
          </a:bodyPr>
          <a:lstStyle/>
          <a:p>
            <a:pPr>
              <a:lnSpc>
                <a:spcPct val="107000"/>
              </a:lnSpc>
              <a:spcBef>
                <a:spcPts val="0"/>
              </a:spcBef>
              <a:spcAft>
                <a:spcPts val="359"/>
              </a:spcAft>
              <a:defRPr sz="1500" b="0">
                <a:solidFill>
                  <a:srgbClr val="587080"/>
                </a:solidFill>
                <a:latin typeface="Arial"/>
              </a:defRPr>
            </a:pPr>
            <a:r>
              <a:t>Multispectral system for the R&amp;D laboratory</a:t>
            </a:r>
          </a:p>
        </p:txBody>
      </p:sp>
      <p:sp>
        <p:nvSpPr>
          <p:cNvPr id="43" name="Rounded Rectangle 42"/>
          <p:cNvSpPr/>
          <p:nvPr/>
        </p:nvSpPr>
        <p:spPr>
          <a:xfrm>
            <a:off x="8851392" y="4498848"/>
            <a:ext cx="2596896" cy="1243584"/>
          </a:xfrm>
          <a:prstGeom prst="roundRect">
            <a:avLst>
              <a:gd name="adj" fmla="val 11029"/>
            </a:avLst>
          </a:prstGeom>
          <a:solidFill>
            <a:srgbClr val="FFFFFF"/>
          </a:solidFill>
          <a:ln w="8890">
            <a:solidFill>
              <a:srgbClr val="DC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997696" y="4654296"/>
            <a:ext cx="2313432" cy="283464"/>
          </a:xfrm>
          <a:prstGeom prst="rect">
            <a:avLst/>
          </a:prstGeom>
          <a:noFill/>
        </p:spPr>
        <p:txBody>
          <a:bodyPr wrap="square" lIns="0" rIns="0" tIns="0" bIns="0">
            <a:spAutoFit/>
          </a:bodyPr>
          <a:lstStyle/>
          <a:p>
            <a:pPr>
              <a:lnSpc>
                <a:spcPct val="107000"/>
              </a:lnSpc>
              <a:spcBef>
                <a:spcPts val="0"/>
              </a:spcBef>
              <a:spcAft>
                <a:spcPts val="408"/>
              </a:spcAft>
              <a:defRPr sz="1700" b="1">
                <a:solidFill>
                  <a:srgbClr val="087F8C"/>
                </a:solidFill>
                <a:latin typeface="Arial"/>
              </a:defRPr>
            </a:pPr>
            <a:r>
              <a:t>Path C</a:t>
            </a:r>
          </a:p>
        </p:txBody>
      </p:sp>
      <p:sp>
        <p:nvSpPr>
          <p:cNvPr id="45" name="TextBox 44"/>
          <p:cNvSpPr txBox="1"/>
          <p:nvPr/>
        </p:nvSpPr>
        <p:spPr>
          <a:xfrm>
            <a:off x="8997696" y="5065776"/>
            <a:ext cx="2295144" cy="512064"/>
          </a:xfrm>
          <a:prstGeom prst="rect">
            <a:avLst/>
          </a:prstGeom>
          <a:noFill/>
        </p:spPr>
        <p:txBody>
          <a:bodyPr wrap="square" lIns="0" rIns="0" tIns="0" bIns="0">
            <a:spAutoFit/>
          </a:bodyPr>
          <a:lstStyle/>
          <a:p>
            <a:pPr>
              <a:lnSpc>
                <a:spcPct val="107000"/>
              </a:lnSpc>
              <a:spcBef>
                <a:spcPts val="0"/>
              </a:spcBef>
              <a:spcAft>
                <a:spcPts val="359"/>
              </a:spcAft>
              <a:defRPr sz="1500" b="0">
                <a:solidFill>
                  <a:srgbClr val="587080"/>
                </a:solidFill>
                <a:latin typeface="Arial"/>
              </a:defRPr>
            </a:pPr>
            <a:r>
              <a:t>Spectral sensor solution for process monitoring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3F6FA"/>
        </a:solidFill>
        <a:effectLst/>
      </p:bgPr>
    </p:bg>
    <p:spTree>
      <p:nvGrpSpPr>
        <p:cNvPr id="1" name=""/>
        <p:cNvGrpSpPr/>
        <p:nvPr/>
      </p:nvGrpSpPr>
      <p:grpSpPr/>
      <p:sp>
        <p:nvSpPr>
          <p:cNvPr id="2" name="Rectangle 1"/>
          <p:cNvSpPr/>
          <p:nvPr/>
        </p:nvSpPr>
        <p:spPr>
          <a:xfrm>
            <a:off x="0" y="0"/>
            <a:ext cx="1223771" cy="50292"/>
          </a:xfrm>
          <a:prstGeom prst="rect">
            <a:avLst/>
          </a:prstGeom>
          <a:solidFill>
            <a:srgbClr val="7044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19199" y="0"/>
            <a:ext cx="1223771" cy="50292"/>
          </a:xfrm>
          <a:prstGeom prst="rect">
            <a:avLst/>
          </a:prstGeom>
          <a:solidFill>
            <a:srgbClr val="5E4D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438399" y="0"/>
            <a:ext cx="1223771" cy="50292"/>
          </a:xfrm>
          <a:prstGeom prst="rect">
            <a:avLst/>
          </a:prstGeom>
          <a:solidFill>
            <a:srgbClr val="426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57599" y="0"/>
            <a:ext cx="1223771" cy="50292"/>
          </a:xfrm>
          <a:prstGeom prst="rect">
            <a:avLst/>
          </a:prstGeom>
          <a:solidFill>
            <a:srgbClr val="2886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876799" y="0"/>
            <a:ext cx="1223771" cy="50292"/>
          </a:xfrm>
          <a:prstGeom prst="rect">
            <a:avLst/>
          </a:prstGeom>
          <a:solidFill>
            <a:srgbClr val="1591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095999" y="0"/>
            <a:ext cx="1223771" cy="50292"/>
          </a:xfrm>
          <a:prstGeom prst="rect">
            <a:avLst/>
          </a:prstGeom>
          <a:solidFill>
            <a:srgbClr val="2999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199" y="0"/>
            <a:ext cx="1223771" cy="50292"/>
          </a:xfrm>
          <a:prstGeom prst="rect">
            <a:avLst/>
          </a:prstGeom>
          <a:solidFill>
            <a:srgbClr val="7DAD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534399" y="0"/>
            <a:ext cx="1223771" cy="50292"/>
          </a:xfrm>
          <a:prstGeom prst="rect">
            <a:avLst/>
          </a:prstGeom>
          <a:solidFill>
            <a:srgbClr val="C6A6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753599" y="0"/>
            <a:ext cx="1223771" cy="50292"/>
          </a:xfrm>
          <a:prstGeom prst="rect">
            <a:avLst/>
          </a:prstGeom>
          <a:solidFill>
            <a:srgbClr val="CC7B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0972799" y="0"/>
            <a:ext cx="1223771" cy="50292"/>
          </a:xfrm>
          <a:prstGeom prst="rect">
            <a:avLst/>
          </a:prstGeom>
          <a:solidFill>
            <a:srgbClr val="B84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1792" y="365760"/>
            <a:ext cx="10972800" cy="246888"/>
          </a:xfrm>
          <a:prstGeom prst="rect">
            <a:avLst/>
          </a:prstGeom>
          <a:noFill/>
        </p:spPr>
        <p:txBody>
          <a:bodyPr wrap="square" lIns="0" rIns="0" tIns="0" bIns="0">
            <a:spAutoFit/>
          </a:bodyPr>
          <a:lstStyle/>
          <a:p>
            <a:pPr>
              <a:lnSpc>
                <a:spcPct val="107000"/>
              </a:lnSpc>
              <a:spcBef>
                <a:spcPts val="0"/>
              </a:spcBef>
              <a:spcAft>
                <a:spcPts val="252"/>
              </a:spcAft>
              <a:defRPr sz="1050" b="1">
                <a:solidFill>
                  <a:srgbClr val="087F8C"/>
                </a:solidFill>
                <a:latin typeface="Arial"/>
              </a:defRPr>
            </a:pPr>
            <a:r>
              <a:t>07 / VERIFICATION AND UNCERTAINTY</a:t>
            </a:r>
          </a:p>
        </p:txBody>
      </p:sp>
      <p:sp>
        <p:nvSpPr>
          <p:cNvPr id="13" name="TextBox 12"/>
          <p:cNvSpPr txBox="1"/>
          <p:nvPr/>
        </p:nvSpPr>
        <p:spPr>
          <a:xfrm>
            <a:off x="621792" y="841248"/>
            <a:ext cx="10972800" cy="941832"/>
          </a:xfrm>
          <a:prstGeom prst="rect">
            <a:avLst/>
          </a:prstGeom>
          <a:noFill/>
        </p:spPr>
        <p:txBody>
          <a:bodyPr wrap="square" lIns="0" rIns="0" tIns="0" bIns="0">
            <a:spAutoFit/>
          </a:bodyPr>
          <a:lstStyle/>
          <a:p>
            <a:pPr>
              <a:lnSpc>
                <a:spcPct val="107000"/>
              </a:lnSpc>
              <a:spcBef>
                <a:spcPts val="0"/>
              </a:spcBef>
              <a:spcAft>
                <a:spcPts val="744"/>
              </a:spcAft>
              <a:defRPr sz="3100" b="1">
                <a:solidFill>
                  <a:srgbClr val="102A3A"/>
                </a:solidFill>
                <a:latin typeface="Arial"/>
              </a:defRPr>
            </a:pPr>
            <a:r>
              <a:t>A plausible report can still contain a bad citation.</a:t>
            </a:r>
          </a:p>
        </p:txBody>
      </p:sp>
      <p:sp>
        <p:nvSpPr>
          <p:cNvPr id="14" name="TextBox 13"/>
          <p:cNvSpPr txBox="1"/>
          <p:nvPr/>
        </p:nvSpPr>
        <p:spPr>
          <a:xfrm>
            <a:off x="640080" y="1417320"/>
            <a:ext cx="10927080" cy="475488"/>
          </a:xfrm>
          <a:prstGeom prst="rect">
            <a:avLst/>
          </a:prstGeom>
          <a:noFill/>
        </p:spPr>
        <p:txBody>
          <a:bodyPr wrap="square" lIns="0" rIns="0" tIns="0" bIns="0">
            <a:spAutoFit/>
          </a:bodyPr>
          <a:lstStyle/>
          <a:p>
            <a:pPr>
              <a:lnSpc>
                <a:spcPct val="107000"/>
              </a:lnSpc>
              <a:spcBef>
                <a:spcPts val="0"/>
              </a:spcBef>
              <a:spcAft>
                <a:spcPts val="359"/>
              </a:spcAft>
              <a:defRPr sz="1500" b="0">
                <a:solidFill>
                  <a:srgbClr val="587080"/>
                </a:solidFill>
                <a:latin typeface="Arial"/>
              </a:defRPr>
            </a:pPr>
            <a:r>
              <a:t>Verification is visible evidence for review—not a guarantee that every recommendation is correct.</a:t>
            </a:r>
          </a:p>
        </p:txBody>
      </p:sp>
      <p:cxnSp>
        <p:nvCxnSpPr>
          <p:cNvPr id="15" name="Connector 14"/>
          <p:cNvCxnSpPr/>
          <p:nvPr/>
        </p:nvCxnSpPr>
        <p:spPr>
          <a:xfrm>
            <a:off x="621792" y="6318504"/>
            <a:ext cx="10945368" cy="0"/>
          </a:xfrm>
          <a:prstGeom prst="line">
            <a:avLst/>
          </a:prstGeom>
          <a:ln w="8890">
            <a:solidFill>
              <a:srgbClr val="DCE5ED"/>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40080" y="6428232"/>
            <a:ext cx="9875520" cy="182880"/>
          </a:xfrm>
          <a:prstGeom prst="rect">
            <a:avLst/>
          </a:prstGeom>
          <a:noFill/>
        </p:spPr>
        <p:txBody>
          <a:bodyPr wrap="square" lIns="0" rIns="0" tIns="0" bIns="0">
            <a:spAutoFit/>
          </a:bodyPr>
          <a:lstStyle/>
          <a:p>
            <a:pPr>
              <a:lnSpc>
                <a:spcPct val="107000"/>
              </a:lnSpc>
              <a:spcBef>
                <a:spcPts val="0"/>
              </a:spcBef>
              <a:spcAft>
                <a:spcPts val="204"/>
              </a:spcAft>
              <a:defRPr sz="850" b="0">
                <a:solidFill>
                  <a:srgbClr val="587080"/>
                </a:solidFill>
                <a:latin typeface="Arial"/>
              </a:defRPr>
            </a:pPr>
            <a:r>
              <a:t>Stored Fast runs outputs/H01.json and outputs/H04.json (17 Oct 2026); README §§7, 21</a:t>
            </a:r>
          </a:p>
        </p:txBody>
      </p:sp>
      <p:sp>
        <p:nvSpPr>
          <p:cNvPr id="17" name="TextBox 16"/>
          <p:cNvSpPr txBox="1"/>
          <p:nvPr/>
        </p:nvSpPr>
        <p:spPr>
          <a:xfrm>
            <a:off x="10881360" y="6409944"/>
            <a:ext cx="658368" cy="228600"/>
          </a:xfrm>
          <a:prstGeom prst="rect">
            <a:avLst/>
          </a:prstGeom>
          <a:noFill/>
        </p:spPr>
        <p:txBody>
          <a:bodyPr wrap="square" lIns="0" rIns="0" tIns="0" bIns="0">
            <a:spAutoFit/>
          </a:bodyPr>
          <a:lstStyle/>
          <a:p>
            <a:pPr algn="r">
              <a:lnSpc>
                <a:spcPct val="107000"/>
              </a:lnSpc>
              <a:spcBef>
                <a:spcPts val="0"/>
              </a:spcBef>
              <a:spcAft>
                <a:spcPts val="216"/>
              </a:spcAft>
              <a:defRPr sz="900" b="0">
                <a:solidFill>
                  <a:srgbClr val="587080"/>
                </a:solidFill>
                <a:latin typeface="Arial"/>
              </a:defRPr>
            </a:pPr>
            <a:r>
              <a:t>08 / 14</a:t>
            </a:r>
          </a:p>
        </p:txBody>
      </p:sp>
      <p:sp>
        <p:nvSpPr>
          <p:cNvPr id="18" name="Rounded Rectangle 17"/>
          <p:cNvSpPr/>
          <p:nvPr/>
        </p:nvSpPr>
        <p:spPr>
          <a:xfrm>
            <a:off x="676656" y="2103120"/>
            <a:ext cx="4681728" cy="2679192"/>
          </a:xfrm>
          <a:prstGeom prst="roundRect">
            <a:avLst>
              <a:gd name="adj" fmla="val 5119"/>
            </a:avLst>
          </a:prstGeom>
          <a:solidFill>
            <a:srgbClr val="10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2359152"/>
            <a:ext cx="4187952" cy="274320"/>
          </a:xfrm>
          <a:prstGeom prst="rect">
            <a:avLst/>
          </a:prstGeom>
          <a:noFill/>
        </p:spPr>
        <p:txBody>
          <a:bodyPr wrap="square" lIns="0" rIns="0" tIns="0" bIns="0">
            <a:spAutoFit/>
          </a:bodyPr>
          <a:lstStyle/>
          <a:p>
            <a:pPr>
              <a:lnSpc>
                <a:spcPct val="107000"/>
              </a:lnSpc>
              <a:spcBef>
                <a:spcPts val="0"/>
              </a:spcBef>
              <a:spcAft>
                <a:spcPts val="263"/>
              </a:spcAft>
              <a:defRPr sz="1100" b="1">
                <a:solidFill>
                  <a:srgbClr val="C8DBE5"/>
                </a:solidFill>
                <a:latin typeface="Arial"/>
              </a:defRPr>
            </a:pPr>
            <a:r>
              <a:t>A REAL FLAG IN STORED H04</a:t>
            </a:r>
          </a:p>
        </p:txBody>
      </p:sp>
      <p:sp>
        <p:nvSpPr>
          <p:cNvPr id="20" name="TextBox 19"/>
          <p:cNvSpPr txBox="1"/>
          <p:nvPr/>
        </p:nvSpPr>
        <p:spPr>
          <a:xfrm>
            <a:off x="914400" y="2907792"/>
            <a:ext cx="4187952" cy="338328"/>
          </a:xfrm>
          <a:prstGeom prst="rect">
            <a:avLst/>
          </a:prstGeom>
          <a:noFill/>
        </p:spPr>
        <p:txBody>
          <a:bodyPr wrap="square" lIns="0" rIns="0" tIns="0" bIns="0">
            <a:spAutoFit/>
          </a:bodyPr>
          <a:lstStyle/>
          <a:p>
            <a:pPr>
              <a:lnSpc>
                <a:spcPct val="107000"/>
              </a:lnSpc>
              <a:spcBef>
                <a:spcPts val="0"/>
              </a:spcBef>
              <a:spcAft>
                <a:spcPts val="504"/>
              </a:spcAft>
              <a:defRPr sz="2100" b="1">
                <a:solidFill>
                  <a:srgbClr val="FFFFFF"/>
                </a:solidFill>
                <a:latin typeface="Arial"/>
              </a:defRPr>
            </a:pPr>
            <a:r>
              <a:t>spectral_range[1]</a:t>
            </a:r>
          </a:p>
        </p:txBody>
      </p:sp>
      <p:sp>
        <p:nvSpPr>
          <p:cNvPr id="21" name="TextBox 20"/>
          <p:cNvSpPr txBox="1"/>
          <p:nvPr/>
        </p:nvSpPr>
        <p:spPr>
          <a:xfrm>
            <a:off x="914400" y="3483864"/>
            <a:ext cx="4187952" cy="832104"/>
          </a:xfrm>
          <a:prstGeom prst="rect">
            <a:avLst/>
          </a:prstGeom>
          <a:noFill/>
        </p:spPr>
        <p:txBody>
          <a:bodyPr wrap="square" lIns="0" rIns="0" tIns="0" bIns="0">
            <a:spAutoFit/>
          </a:bodyPr>
          <a:lstStyle/>
          <a:p>
            <a:pPr>
              <a:lnSpc>
                <a:spcPct val="107000"/>
              </a:lnSpc>
              <a:spcBef>
                <a:spcPts val="0"/>
              </a:spcBef>
              <a:spcAft>
                <a:spcPts val="552"/>
              </a:spcAft>
              <a:defRPr sz="2300" b="1">
                <a:solidFill>
                  <a:srgbClr val="FFFFFF"/>
                </a:solidFill>
                <a:latin typeface="Arial"/>
              </a:defRPr>
            </a:pPr>
            <a:r>
              <a:t>Unverified:</a:t>
            </a:r>
          </a:p>
          <a:p>
            <a:pPr>
              <a:lnSpc>
                <a:spcPct val="107000"/>
              </a:lnSpc>
              <a:spcBef>
                <a:spcPts val="0"/>
              </a:spcBef>
              <a:spcAft>
                <a:spcPts val="552"/>
              </a:spcAft>
              <a:defRPr sz="2300" b="1">
                <a:solidFill>
                  <a:srgbClr val="FFFFFF"/>
                </a:solidFill>
                <a:latin typeface="Arial"/>
              </a:defRPr>
            </a:pPr>
            <a:r>
              <a:t>S12 p.7 does not exist</a:t>
            </a:r>
          </a:p>
        </p:txBody>
      </p:sp>
      <p:sp>
        <p:nvSpPr>
          <p:cNvPr id="22" name="Rectangle 21"/>
          <p:cNvSpPr/>
          <p:nvPr/>
        </p:nvSpPr>
        <p:spPr>
          <a:xfrm>
            <a:off x="5669280" y="2103120"/>
            <a:ext cx="5394960" cy="438912"/>
          </a:xfrm>
          <a:prstGeom prst="rect">
            <a:avLst/>
          </a:prstGeom>
          <a:solidFill>
            <a:srgbClr val="10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806440" y="2212848"/>
            <a:ext cx="1929384" cy="301751"/>
          </a:xfrm>
          <a:prstGeom prst="rect">
            <a:avLst/>
          </a:prstGeom>
          <a:noFill/>
        </p:spPr>
        <p:txBody>
          <a:bodyPr wrap="square" lIns="0" rIns="0" tIns="0" bIns="0">
            <a:spAutoFit/>
          </a:bodyPr>
          <a:lstStyle/>
          <a:p>
            <a:pPr>
              <a:lnSpc>
                <a:spcPct val="107000"/>
              </a:lnSpc>
              <a:spcBef>
                <a:spcPts val="0"/>
              </a:spcBef>
              <a:spcAft>
                <a:spcPts val="288"/>
              </a:spcAft>
              <a:defRPr sz="1200" b="1">
                <a:solidFill>
                  <a:srgbClr val="FFFFFF"/>
                </a:solidFill>
                <a:latin typeface="Arial"/>
              </a:defRPr>
            </a:pPr>
            <a:r>
              <a:t>Stored run</a:t>
            </a:r>
          </a:p>
        </p:txBody>
      </p:sp>
      <p:sp>
        <p:nvSpPr>
          <p:cNvPr id="24" name="TextBox 23"/>
          <p:cNvSpPr txBox="1"/>
          <p:nvPr/>
        </p:nvSpPr>
        <p:spPr>
          <a:xfrm>
            <a:off x="7964424" y="2212848"/>
            <a:ext cx="1389888" cy="301751"/>
          </a:xfrm>
          <a:prstGeom prst="rect">
            <a:avLst/>
          </a:prstGeom>
          <a:noFill/>
        </p:spPr>
        <p:txBody>
          <a:bodyPr wrap="square" lIns="0" rIns="0" tIns="0" bIns="0">
            <a:spAutoFit/>
          </a:bodyPr>
          <a:lstStyle/>
          <a:p>
            <a:pPr>
              <a:lnSpc>
                <a:spcPct val="107000"/>
              </a:lnSpc>
              <a:spcBef>
                <a:spcPts val="0"/>
              </a:spcBef>
              <a:spcAft>
                <a:spcPts val="288"/>
              </a:spcAft>
              <a:defRPr sz="1200" b="1">
                <a:solidFill>
                  <a:srgbClr val="FFFFFF"/>
                </a:solidFill>
                <a:latin typeface="Arial"/>
              </a:defRPr>
            </a:pPr>
            <a:r>
              <a:t>H01</a:t>
            </a:r>
          </a:p>
        </p:txBody>
      </p:sp>
      <p:sp>
        <p:nvSpPr>
          <p:cNvPr id="25" name="TextBox 24"/>
          <p:cNvSpPr txBox="1"/>
          <p:nvPr/>
        </p:nvSpPr>
        <p:spPr>
          <a:xfrm>
            <a:off x="9582912" y="2212848"/>
            <a:ext cx="1389888" cy="301751"/>
          </a:xfrm>
          <a:prstGeom prst="rect">
            <a:avLst/>
          </a:prstGeom>
          <a:noFill/>
        </p:spPr>
        <p:txBody>
          <a:bodyPr wrap="square" lIns="0" rIns="0" tIns="0" bIns="0">
            <a:spAutoFit/>
          </a:bodyPr>
          <a:lstStyle/>
          <a:p>
            <a:pPr>
              <a:lnSpc>
                <a:spcPct val="107000"/>
              </a:lnSpc>
              <a:spcBef>
                <a:spcPts val="0"/>
              </a:spcBef>
              <a:spcAft>
                <a:spcPts val="288"/>
              </a:spcAft>
              <a:defRPr sz="1200" b="1">
                <a:solidFill>
                  <a:srgbClr val="FFFFFF"/>
                </a:solidFill>
                <a:latin typeface="Arial"/>
              </a:defRPr>
            </a:pPr>
            <a:r>
              <a:t>H04</a:t>
            </a:r>
          </a:p>
        </p:txBody>
      </p:sp>
      <p:sp>
        <p:nvSpPr>
          <p:cNvPr id="26" name="Rectangle 25"/>
          <p:cNvSpPr/>
          <p:nvPr/>
        </p:nvSpPr>
        <p:spPr>
          <a:xfrm>
            <a:off x="5669280" y="2542032"/>
            <a:ext cx="5394960" cy="5486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806440" y="2660903"/>
            <a:ext cx="1911095" cy="384048"/>
          </a:xfrm>
          <a:prstGeom prst="rect">
            <a:avLst/>
          </a:prstGeom>
          <a:noFill/>
        </p:spPr>
        <p:txBody>
          <a:bodyPr wrap="square" lIns="0" rIns="0" tIns="0" bIns="0">
            <a:spAutoFit/>
          </a:bodyPr>
          <a:lstStyle/>
          <a:p>
            <a:pPr>
              <a:lnSpc>
                <a:spcPct val="107000"/>
              </a:lnSpc>
              <a:spcBef>
                <a:spcPts val="0"/>
              </a:spcBef>
              <a:spcAft>
                <a:spcPts val="359"/>
              </a:spcAft>
              <a:defRPr sz="1500" b="1">
                <a:solidFill>
                  <a:srgbClr val="102A3A"/>
                </a:solidFill>
                <a:latin typeface="Arial"/>
              </a:defRPr>
            </a:pPr>
            <a:r>
              <a:t>Claim checks¹</a:t>
            </a:r>
          </a:p>
        </p:txBody>
      </p:sp>
      <p:sp>
        <p:nvSpPr>
          <p:cNvPr id="28" name="TextBox 27"/>
          <p:cNvSpPr txBox="1"/>
          <p:nvPr/>
        </p:nvSpPr>
        <p:spPr>
          <a:xfrm>
            <a:off x="7964424" y="2660903"/>
            <a:ext cx="1371600" cy="384048"/>
          </a:xfrm>
          <a:prstGeom prst="rect">
            <a:avLst/>
          </a:prstGeom>
          <a:noFill/>
        </p:spPr>
        <p:txBody>
          <a:bodyPr wrap="square" lIns="0" rIns="0" tIns="0" bIns="0">
            <a:spAutoFit/>
          </a:bodyPr>
          <a:lstStyle/>
          <a:p>
            <a:pPr>
              <a:lnSpc>
                <a:spcPct val="107000"/>
              </a:lnSpc>
              <a:spcBef>
                <a:spcPts val="0"/>
              </a:spcBef>
              <a:spcAft>
                <a:spcPts val="359"/>
              </a:spcAft>
              <a:defRPr sz="1500" b="0">
                <a:solidFill>
                  <a:srgbClr val="102A3A"/>
                </a:solidFill>
                <a:latin typeface="Arial"/>
              </a:defRPr>
            </a:pPr>
            <a:r>
              <a:t>10 / 10</a:t>
            </a:r>
          </a:p>
        </p:txBody>
      </p:sp>
      <p:sp>
        <p:nvSpPr>
          <p:cNvPr id="29" name="TextBox 28"/>
          <p:cNvSpPr txBox="1"/>
          <p:nvPr/>
        </p:nvSpPr>
        <p:spPr>
          <a:xfrm>
            <a:off x="9582912" y="2660903"/>
            <a:ext cx="1371600" cy="384048"/>
          </a:xfrm>
          <a:prstGeom prst="rect">
            <a:avLst/>
          </a:prstGeom>
          <a:noFill/>
        </p:spPr>
        <p:txBody>
          <a:bodyPr wrap="square" lIns="0" rIns="0" tIns="0" bIns="0">
            <a:spAutoFit/>
          </a:bodyPr>
          <a:lstStyle/>
          <a:p>
            <a:pPr>
              <a:lnSpc>
                <a:spcPct val="107000"/>
              </a:lnSpc>
              <a:spcBef>
                <a:spcPts val="0"/>
              </a:spcBef>
              <a:spcAft>
                <a:spcPts val="359"/>
              </a:spcAft>
              <a:defRPr sz="1500" b="0">
                <a:solidFill>
                  <a:srgbClr val="102A3A"/>
                </a:solidFill>
                <a:latin typeface="Arial"/>
              </a:defRPr>
            </a:pPr>
            <a:r>
              <a:t>2 / 7</a:t>
            </a:r>
          </a:p>
        </p:txBody>
      </p:sp>
      <p:cxnSp>
        <p:nvCxnSpPr>
          <p:cNvPr id="30" name="Connector 29"/>
          <p:cNvCxnSpPr/>
          <p:nvPr/>
        </p:nvCxnSpPr>
        <p:spPr>
          <a:xfrm>
            <a:off x="5669280" y="3090672"/>
            <a:ext cx="5394960" cy="0"/>
          </a:xfrm>
          <a:prstGeom prst="line">
            <a:avLst/>
          </a:prstGeom>
          <a:ln w="7620">
            <a:solidFill>
              <a:srgbClr val="DCE5ED"/>
            </a:solidFill>
          </a:ln>
        </p:spPr>
        <p:style>
          <a:lnRef idx="2">
            <a:schemeClr val="accent1"/>
          </a:lnRef>
          <a:fillRef idx="0">
            <a:schemeClr val="accent1"/>
          </a:fillRef>
          <a:effectRef idx="1">
            <a:schemeClr val="accent1"/>
          </a:effectRef>
          <a:fontRef idx="minor">
            <a:schemeClr val="tx1"/>
          </a:fontRef>
        </p:style>
      </p:cxnSp>
      <p:sp>
        <p:nvSpPr>
          <p:cNvPr id="31" name="Rectangle 30"/>
          <p:cNvSpPr/>
          <p:nvPr/>
        </p:nvSpPr>
        <p:spPr>
          <a:xfrm>
            <a:off x="5669280" y="3090672"/>
            <a:ext cx="5394960" cy="548640"/>
          </a:xfrm>
          <a:prstGeom prst="rect">
            <a:avLst/>
          </a:prstGeom>
          <a:solidFill>
            <a:srgbClr val="ECF1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806440" y="3209544"/>
            <a:ext cx="1911095" cy="384048"/>
          </a:xfrm>
          <a:prstGeom prst="rect">
            <a:avLst/>
          </a:prstGeom>
          <a:noFill/>
        </p:spPr>
        <p:txBody>
          <a:bodyPr wrap="square" lIns="0" rIns="0" tIns="0" bIns="0">
            <a:spAutoFit/>
          </a:bodyPr>
          <a:lstStyle/>
          <a:p>
            <a:pPr>
              <a:lnSpc>
                <a:spcPct val="107000"/>
              </a:lnSpc>
              <a:spcBef>
                <a:spcPts val="0"/>
              </a:spcBef>
              <a:spcAft>
                <a:spcPts val="359"/>
              </a:spcAft>
              <a:defRPr sz="1500" b="1">
                <a:solidFill>
                  <a:srgbClr val="102A3A"/>
                </a:solidFill>
                <a:latin typeface="Arial"/>
              </a:defRPr>
            </a:pPr>
            <a:r>
              <a:t>Unsupported numbers</a:t>
            </a:r>
          </a:p>
        </p:txBody>
      </p:sp>
      <p:sp>
        <p:nvSpPr>
          <p:cNvPr id="33" name="TextBox 32"/>
          <p:cNvSpPr txBox="1"/>
          <p:nvPr/>
        </p:nvSpPr>
        <p:spPr>
          <a:xfrm>
            <a:off x="7964424" y="3209544"/>
            <a:ext cx="1371600" cy="384048"/>
          </a:xfrm>
          <a:prstGeom prst="rect">
            <a:avLst/>
          </a:prstGeom>
          <a:noFill/>
        </p:spPr>
        <p:txBody>
          <a:bodyPr wrap="square" lIns="0" rIns="0" tIns="0" bIns="0">
            <a:spAutoFit/>
          </a:bodyPr>
          <a:lstStyle/>
          <a:p>
            <a:pPr>
              <a:lnSpc>
                <a:spcPct val="107000"/>
              </a:lnSpc>
              <a:spcBef>
                <a:spcPts val="0"/>
              </a:spcBef>
              <a:spcAft>
                <a:spcPts val="359"/>
              </a:spcAft>
              <a:defRPr sz="1500" b="0">
                <a:solidFill>
                  <a:srgbClr val="102A3A"/>
                </a:solidFill>
                <a:latin typeface="Arial"/>
              </a:defRPr>
            </a:pPr>
            <a:r>
              <a:t>0</a:t>
            </a:r>
          </a:p>
        </p:txBody>
      </p:sp>
      <p:sp>
        <p:nvSpPr>
          <p:cNvPr id="34" name="TextBox 33"/>
          <p:cNvSpPr txBox="1"/>
          <p:nvPr/>
        </p:nvSpPr>
        <p:spPr>
          <a:xfrm>
            <a:off x="9582912" y="3209544"/>
            <a:ext cx="1371600" cy="384048"/>
          </a:xfrm>
          <a:prstGeom prst="rect">
            <a:avLst/>
          </a:prstGeom>
          <a:noFill/>
        </p:spPr>
        <p:txBody>
          <a:bodyPr wrap="square" lIns="0" rIns="0" tIns="0" bIns="0">
            <a:spAutoFit/>
          </a:bodyPr>
          <a:lstStyle/>
          <a:p>
            <a:pPr>
              <a:lnSpc>
                <a:spcPct val="107000"/>
              </a:lnSpc>
              <a:spcBef>
                <a:spcPts val="0"/>
              </a:spcBef>
              <a:spcAft>
                <a:spcPts val="359"/>
              </a:spcAft>
              <a:defRPr sz="1500" b="0">
                <a:solidFill>
                  <a:srgbClr val="102A3A"/>
                </a:solidFill>
                <a:latin typeface="Arial"/>
              </a:defRPr>
            </a:pPr>
            <a:r>
              <a:t>1</a:t>
            </a:r>
          </a:p>
        </p:txBody>
      </p:sp>
      <p:cxnSp>
        <p:nvCxnSpPr>
          <p:cNvPr id="35" name="Connector 34"/>
          <p:cNvCxnSpPr/>
          <p:nvPr/>
        </p:nvCxnSpPr>
        <p:spPr>
          <a:xfrm>
            <a:off x="5669280" y="3639312"/>
            <a:ext cx="5394960" cy="0"/>
          </a:xfrm>
          <a:prstGeom prst="line">
            <a:avLst/>
          </a:prstGeom>
          <a:ln w="7620">
            <a:solidFill>
              <a:srgbClr val="DCE5ED"/>
            </a:solidFill>
          </a:ln>
        </p:spPr>
        <p:style>
          <a:lnRef idx="2">
            <a:schemeClr val="accent1"/>
          </a:lnRef>
          <a:fillRef idx="0">
            <a:schemeClr val="accent1"/>
          </a:fillRef>
          <a:effectRef idx="1">
            <a:schemeClr val="accent1"/>
          </a:effectRef>
          <a:fontRef idx="minor">
            <a:schemeClr val="tx1"/>
          </a:fontRef>
        </p:style>
      </p:cxnSp>
      <p:sp>
        <p:nvSpPr>
          <p:cNvPr id="36" name="Rectangle 35"/>
          <p:cNvSpPr/>
          <p:nvPr/>
        </p:nvSpPr>
        <p:spPr>
          <a:xfrm>
            <a:off x="5669280" y="3639311"/>
            <a:ext cx="5394960" cy="5486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806440" y="3758183"/>
            <a:ext cx="1911095" cy="384048"/>
          </a:xfrm>
          <a:prstGeom prst="rect">
            <a:avLst/>
          </a:prstGeom>
          <a:noFill/>
        </p:spPr>
        <p:txBody>
          <a:bodyPr wrap="square" lIns="0" rIns="0" tIns="0" bIns="0">
            <a:spAutoFit/>
          </a:bodyPr>
          <a:lstStyle/>
          <a:p>
            <a:pPr>
              <a:lnSpc>
                <a:spcPct val="107000"/>
              </a:lnSpc>
              <a:spcBef>
                <a:spcPts val="0"/>
              </a:spcBef>
              <a:spcAft>
                <a:spcPts val="359"/>
              </a:spcAft>
              <a:defRPr sz="1500" b="1">
                <a:solidFill>
                  <a:srgbClr val="102A3A"/>
                </a:solidFill>
                <a:latin typeface="Arial"/>
              </a:defRPr>
            </a:pPr>
            <a:r>
              <a:t>Quality checks</a:t>
            </a:r>
          </a:p>
        </p:txBody>
      </p:sp>
      <p:sp>
        <p:nvSpPr>
          <p:cNvPr id="38" name="TextBox 37"/>
          <p:cNvSpPr txBox="1"/>
          <p:nvPr/>
        </p:nvSpPr>
        <p:spPr>
          <a:xfrm>
            <a:off x="7964424" y="3758183"/>
            <a:ext cx="1371600" cy="384048"/>
          </a:xfrm>
          <a:prstGeom prst="rect">
            <a:avLst/>
          </a:prstGeom>
          <a:noFill/>
        </p:spPr>
        <p:txBody>
          <a:bodyPr wrap="square" lIns="0" rIns="0" tIns="0" bIns="0">
            <a:spAutoFit/>
          </a:bodyPr>
          <a:lstStyle/>
          <a:p>
            <a:pPr>
              <a:lnSpc>
                <a:spcPct val="107000"/>
              </a:lnSpc>
              <a:spcBef>
                <a:spcPts val="0"/>
              </a:spcBef>
              <a:spcAft>
                <a:spcPts val="359"/>
              </a:spcAft>
              <a:defRPr sz="1500" b="0">
                <a:solidFill>
                  <a:srgbClr val="102A3A"/>
                </a:solidFill>
                <a:latin typeface="Arial"/>
              </a:defRPr>
            </a:pPr>
            <a:r>
              <a:t>14 / 16</a:t>
            </a:r>
          </a:p>
        </p:txBody>
      </p:sp>
      <p:sp>
        <p:nvSpPr>
          <p:cNvPr id="39" name="TextBox 38"/>
          <p:cNvSpPr txBox="1"/>
          <p:nvPr/>
        </p:nvSpPr>
        <p:spPr>
          <a:xfrm>
            <a:off x="9582912" y="3758183"/>
            <a:ext cx="1371600" cy="384048"/>
          </a:xfrm>
          <a:prstGeom prst="rect">
            <a:avLst/>
          </a:prstGeom>
          <a:noFill/>
        </p:spPr>
        <p:txBody>
          <a:bodyPr wrap="square" lIns="0" rIns="0" tIns="0" bIns="0">
            <a:spAutoFit/>
          </a:bodyPr>
          <a:lstStyle/>
          <a:p>
            <a:pPr>
              <a:lnSpc>
                <a:spcPct val="107000"/>
              </a:lnSpc>
              <a:spcBef>
                <a:spcPts val="0"/>
              </a:spcBef>
              <a:spcAft>
                <a:spcPts val="359"/>
              </a:spcAft>
              <a:defRPr sz="1500" b="0">
                <a:solidFill>
                  <a:srgbClr val="102A3A"/>
                </a:solidFill>
                <a:latin typeface="Arial"/>
              </a:defRPr>
            </a:pPr>
            <a:r>
              <a:t>14 / 16</a:t>
            </a:r>
          </a:p>
        </p:txBody>
      </p:sp>
      <p:cxnSp>
        <p:nvCxnSpPr>
          <p:cNvPr id="40" name="Connector 39"/>
          <p:cNvCxnSpPr/>
          <p:nvPr/>
        </p:nvCxnSpPr>
        <p:spPr>
          <a:xfrm>
            <a:off x="5669280" y="4187951"/>
            <a:ext cx="5394960" cy="0"/>
          </a:xfrm>
          <a:prstGeom prst="line">
            <a:avLst/>
          </a:prstGeom>
          <a:ln w="7620">
            <a:solidFill>
              <a:srgbClr val="DCE5ED"/>
            </a:solidFill>
          </a:ln>
        </p:spPr>
        <p:style>
          <a:lnRef idx="2">
            <a:schemeClr val="accent1"/>
          </a:lnRef>
          <a:fillRef idx="0">
            <a:schemeClr val="accent1"/>
          </a:fillRef>
          <a:effectRef idx="1">
            <a:schemeClr val="accent1"/>
          </a:effectRef>
          <a:fontRef idx="minor">
            <a:schemeClr val="tx1"/>
          </a:fontRef>
        </p:style>
      </p:cxnSp>
      <p:sp>
        <p:nvSpPr>
          <p:cNvPr id="41" name="Rectangle 40"/>
          <p:cNvSpPr/>
          <p:nvPr/>
        </p:nvSpPr>
        <p:spPr>
          <a:xfrm>
            <a:off x="5669280" y="4187952"/>
            <a:ext cx="5394960" cy="548640"/>
          </a:xfrm>
          <a:prstGeom prst="rect">
            <a:avLst/>
          </a:prstGeom>
          <a:solidFill>
            <a:srgbClr val="ECF1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806440" y="4306824"/>
            <a:ext cx="1911095" cy="384048"/>
          </a:xfrm>
          <a:prstGeom prst="rect">
            <a:avLst/>
          </a:prstGeom>
          <a:noFill/>
        </p:spPr>
        <p:txBody>
          <a:bodyPr wrap="square" lIns="0" rIns="0" tIns="0" bIns="0">
            <a:spAutoFit/>
          </a:bodyPr>
          <a:lstStyle/>
          <a:p>
            <a:pPr>
              <a:lnSpc>
                <a:spcPct val="107000"/>
              </a:lnSpc>
              <a:spcBef>
                <a:spcPts val="0"/>
              </a:spcBef>
              <a:spcAft>
                <a:spcPts val="359"/>
              </a:spcAft>
              <a:defRPr sz="1500" b="1">
                <a:solidFill>
                  <a:srgbClr val="102A3A"/>
                </a:solidFill>
                <a:latin typeface="Arial"/>
              </a:defRPr>
            </a:pPr>
            <a:r>
              <a:t>Confidence</a:t>
            </a:r>
          </a:p>
        </p:txBody>
      </p:sp>
      <p:sp>
        <p:nvSpPr>
          <p:cNvPr id="43" name="TextBox 42"/>
          <p:cNvSpPr txBox="1"/>
          <p:nvPr/>
        </p:nvSpPr>
        <p:spPr>
          <a:xfrm>
            <a:off x="7964424" y="4306824"/>
            <a:ext cx="1371600" cy="384048"/>
          </a:xfrm>
          <a:prstGeom prst="rect">
            <a:avLst/>
          </a:prstGeom>
          <a:noFill/>
        </p:spPr>
        <p:txBody>
          <a:bodyPr wrap="square" lIns="0" rIns="0" tIns="0" bIns="0">
            <a:spAutoFit/>
          </a:bodyPr>
          <a:lstStyle/>
          <a:p>
            <a:pPr>
              <a:lnSpc>
                <a:spcPct val="107000"/>
              </a:lnSpc>
              <a:spcBef>
                <a:spcPts val="0"/>
              </a:spcBef>
              <a:spcAft>
                <a:spcPts val="359"/>
              </a:spcAft>
              <a:defRPr sz="1500" b="0">
                <a:solidFill>
                  <a:srgbClr val="102A3A"/>
                </a:solidFill>
                <a:latin typeface="Arial"/>
              </a:defRPr>
            </a:pPr>
            <a:r>
              <a:t>Low</a:t>
            </a:r>
          </a:p>
        </p:txBody>
      </p:sp>
      <p:sp>
        <p:nvSpPr>
          <p:cNvPr id="44" name="TextBox 43"/>
          <p:cNvSpPr txBox="1"/>
          <p:nvPr/>
        </p:nvSpPr>
        <p:spPr>
          <a:xfrm>
            <a:off x="9582912" y="4306824"/>
            <a:ext cx="1371600" cy="384048"/>
          </a:xfrm>
          <a:prstGeom prst="rect">
            <a:avLst/>
          </a:prstGeom>
          <a:noFill/>
        </p:spPr>
        <p:txBody>
          <a:bodyPr wrap="square" lIns="0" rIns="0" tIns="0" bIns="0">
            <a:spAutoFit/>
          </a:bodyPr>
          <a:lstStyle/>
          <a:p>
            <a:pPr>
              <a:lnSpc>
                <a:spcPct val="107000"/>
              </a:lnSpc>
              <a:spcBef>
                <a:spcPts val="0"/>
              </a:spcBef>
              <a:spcAft>
                <a:spcPts val="359"/>
              </a:spcAft>
              <a:defRPr sz="1500" b="0">
                <a:solidFill>
                  <a:srgbClr val="102A3A"/>
                </a:solidFill>
                <a:latin typeface="Arial"/>
              </a:defRPr>
            </a:pPr>
            <a:r>
              <a:t>Insufficient</a:t>
            </a:r>
          </a:p>
        </p:txBody>
      </p:sp>
      <p:cxnSp>
        <p:nvCxnSpPr>
          <p:cNvPr id="45" name="Connector 44"/>
          <p:cNvCxnSpPr/>
          <p:nvPr/>
        </p:nvCxnSpPr>
        <p:spPr>
          <a:xfrm>
            <a:off x="5669280" y="4736592"/>
            <a:ext cx="5394960" cy="0"/>
          </a:xfrm>
          <a:prstGeom prst="line">
            <a:avLst/>
          </a:prstGeom>
          <a:ln w="7620">
            <a:solidFill>
              <a:srgbClr val="DCE5ED"/>
            </a:solidFill>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5715000" y="5020056"/>
            <a:ext cx="5404104" cy="566928"/>
          </a:xfrm>
          <a:prstGeom prst="rect">
            <a:avLst/>
          </a:prstGeom>
          <a:noFill/>
        </p:spPr>
        <p:txBody>
          <a:bodyPr wrap="square" lIns="0" rIns="0" tIns="0" bIns="0">
            <a:spAutoFit/>
          </a:bodyPr>
          <a:lstStyle/>
          <a:p>
            <a:pPr>
              <a:lnSpc>
                <a:spcPct val="107000"/>
              </a:lnSpc>
              <a:spcBef>
                <a:spcPts val="0"/>
              </a:spcBef>
              <a:spcAft>
                <a:spcPts val="288"/>
              </a:spcAft>
              <a:defRPr sz="1200" b="0">
                <a:solidFill>
                  <a:srgbClr val="587080"/>
                </a:solidFill>
                <a:latin typeface="Arial"/>
              </a:defRPr>
            </a:pPr>
            <a:r>
              <a:t>¹ App metric includes verified/fuzzy claims. Two stored examples, not an aggregate benchmark.</a:t>
            </a:r>
          </a:p>
        </p:txBody>
      </p:sp>
      <p:sp>
        <p:nvSpPr>
          <p:cNvPr id="47" name="Rounded Rectangle 46"/>
          <p:cNvSpPr/>
          <p:nvPr/>
        </p:nvSpPr>
        <p:spPr>
          <a:xfrm>
            <a:off x="676656" y="5623560"/>
            <a:ext cx="10817352" cy="429768"/>
          </a:xfrm>
          <a:prstGeom prst="roundRect">
            <a:avLst>
              <a:gd name="adj" fmla="val 18000"/>
            </a:avLst>
          </a:prstGeom>
          <a:solidFill>
            <a:srgbClr val="FFF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68680" y="5724144"/>
            <a:ext cx="10424160" cy="256032"/>
          </a:xfrm>
          <a:prstGeom prst="rect">
            <a:avLst/>
          </a:prstGeom>
          <a:noFill/>
        </p:spPr>
        <p:txBody>
          <a:bodyPr wrap="square" lIns="0" rIns="0" tIns="0" bIns="0">
            <a:spAutoFit/>
          </a:bodyPr>
          <a:lstStyle/>
          <a:p>
            <a:pPr>
              <a:lnSpc>
                <a:spcPct val="107000"/>
              </a:lnSpc>
              <a:spcBef>
                <a:spcPts val="0"/>
              </a:spcBef>
              <a:spcAft>
                <a:spcPts val="384"/>
              </a:spcAft>
              <a:defRPr sz="1600" b="1">
                <a:solidFill>
                  <a:srgbClr val="B06A16"/>
                </a:solidFill>
                <a:latin typeface="Arial"/>
              </a:defRPr>
            </a:pPr>
            <a:r>
              <a:t>One repair round is allowed. Remaining warnings stay visible for expert review.</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3F6FA"/>
        </a:solidFill>
        <a:effectLst/>
      </p:bgPr>
    </p:bg>
    <p:spTree>
      <p:nvGrpSpPr>
        <p:cNvPr id="1" name=""/>
        <p:cNvGrpSpPr/>
        <p:nvPr/>
      </p:nvGrpSpPr>
      <p:grpSpPr/>
      <p:sp>
        <p:nvSpPr>
          <p:cNvPr id="2" name="Rectangle 1"/>
          <p:cNvSpPr/>
          <p:nvPr/>
        </p:nvSpPr>
        <p:spPr>
          <a:xfrm>
            <a:off x="0" y="0"/>
            <a:ext cx="1223771" cy="50292"/>
          </a:xfrm>
          <a:prstGeom prst="rect">
            <a:avLst/>
          </a:prstGeom>
          <a:solidFill>
            <a:srgbClr val="7044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19199" y="0"/>
            <a:ext cx="1223771" cy="50292"/>
          </a:xfrm>
          <a:prstGeom prst="rect">
            <a:avLst/>
          </a:prstGeom>
          <a:solidFill>
            <a:srgbClr val="5E4D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438399" y="0"/>
            <a:ext cx="1223771" cy="50292"/>
          </a:xfrm>
          <a:prstGeom prst="rect">
            <a:avLst/>
          </a:prstGeom>
          <a:solidFill>
            <a:srgbClr val="426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57599" y="0"/>
            <a:ext cx="1223771" cy="50292"/>
          </a:xfrm>
          <a:prstGeom prst="rect">
            <a:avLst/>
          </a:prstGeom>
          <a:solidFill>
            <a:srgbClr val="2886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876799" y="0"/>
            <a:ext cx="1223771" cy="50292"/>
          </a:xfrm>
          <a:prstGeom prst="rect">
            <a:avLst/>
          </a:prstGeom>
          <a:solidFill>
            <a:srgbClr val="1591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095999" y="0"/>
            <a:ext cx="1223771" cy="50292"/>
          </a:xfrm>
          <a:prstGeom prst="rect">
            <a:avLst/>
          </a:prstGeom>
          <a:solidFill>
            <a:srgbClr val="2999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199" y="0"/>
            <a:ext cx="1223771" cy="50292"/>
          </a:xfrm>
          <a:prstGeom prst="rect">
            <a:avLst/>
          </a:prstGeom>
          <a:solidFill>
            <a:srgbClr val="7DAD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534399" y="0"/>
            <a:ext cx="1223771" cy="50292"/>
          </a:xfrm>
          <a:prstGeom prst="rect">
            <a:avLst/>
          </a:prstGeom>
          <a:solidFill>
            <a:srgbClr val="C6A6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753599" y="0"/>
            <a:ext cx="1223771" cy="50292"/>
          </a:xfrm>
          <a:prstGeom prst="rect">
            <a:avLst/>
          </a:prstGeom>
          <a:solidFill>
            <a:srgbClr val="CC7B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0972799" y="0"/>
            <a:ext cx="1223771" cy="50292"/>
          </a:xfrm>
          <a:prstGeom prst="rect">
            <a:avLst/>
          </a:prstGeom>
          <a:solidFill>
            <a:srgbClr val="B84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1792" y="365760"/>
            <a:ext cx="10972800" cy="246888"/>
          </a:xfrm>
          <a:prstGeom prst="rect">
            <a:avLst/>
          </a:prstGeom>
          <a:noFill/>
        </p:spPr>
        <p:txBody>
          <a:bodyPr wrap="square" lIns="0" rIns="0" tIns="0" bIns="0">
            <a:spAutoFit/>
          </a:bodyPr>
          <a:lstStyle/>
          <a:p>
            <a:pPr>
              <a:lnSpc>
                <a:spcPct val="107000"/>
              </a:lnSpc>
              <a:spcBef>
                <a:spcPts val="0"/>
              </a:spcBef>
              <a:spcAft>
                <a:spcPts val="252"/>
              </a:spcAft>
              <a:defRPr sz="1050" b="1">
                <a:solidFill>
                  <a:srgbClr val="087F8C"/>
                </a:solidFill>
                <a:latin typeface="Arial"/>
              </a:defRPr>
            </a:pPr>
            <a:r>
              <a:t>08 / LIMITATIONS AND NEXT STEPS</a:t>
            </a:r>
          </a:p>
        </p:txBody>
      </p:sp>
      <p:sp>
        <p:nvSpPr>
          <p:cNvPr id="13" name="TextBox 12"/>
          <p:cNvSpPr txBox="1"/>
          <p:nvPr/>
        </p:nvSpPr>
        <p:spPr>
          <a:xfrm>
            <a:off x="621792" y="841248"/>
            <a:ext cx="10972800" cy="941832"/>
          </a:xfrm>
          <a:prstGeom prst="rect">
            <a:avLst/>
          </a:prstGeom>
          <a:noFill/>
        </p:spPr>
        <p:txBody>
          <a:bodyPr wrap="square" lIns="0" rIns="0" tIns="0" bIns="0">
            <a:spAutoFit/>
          </a:bodyPr>
          <a:lstStyle/>
          <a:p>
            <a:pPr>
              <a:lnSpc>
                <a:spcPct val="107000"/>
              </a:lnSpc>
              <a:spcBef>
                <a:spcPts val="0"/>
              </a:spcBef>
              <a:spcAft>
                <a:spcPts val="744"/>
              </a:spcAft>
              <a:defRPr sz="3100" b="1">
                <a:solidFill>
                  <a:srgbClr val="102A3A"/>
                </a:solidFill>
                <a:latin typeface="Arial"/>
              </a:defRPr>
            </a:pPr>
            <a:r>
              <a:t>Clear boundaries make the assistant useful.</a:t>
            </a:r>
          </a:p>
        </p:txBody>
      </p:sp>
      <p:sp>
        <p:nvSpPr>
          <p:cNvPr id="14" name="TextBox 13"/>
          <p:cNvSpPr txBox="1"/>
          <p:nvPr/>
        </p:nvSpPr>
        <p:spPr>
          <a:xfrm>
            <a:off x="640080" y="1417320"/>
            <a:ext cx="10927080" cy="475488"/>
          </a:xfrm>
          <a:prstGeom prst="rect">
            <a:avLst/>
          </a:prstGeom>
          <a:noFill/>
        </p:spPr>
        <p:txBody>
          <a:bodyPr wrap="square" lIns="0" rIns="0" tIns="0" bIns="0">
            <a:spAutoFit/>
          </a:bodyPr>
          <a:lstStyle/>
          <a:p>
            <a:pPr>
              <a:lnSpc>
                <a:spcPct val="107000"/>
              </a:lnSpc>
              <a:spcBef>
                <a:spcPts val="0"/>
              </a:spcBef>
              <a:spcAft>
                <a:spcPts val="359"/>
              </a:spcAft>
              <a:defRPr sz="1500" b="0">
                <a:solidFill>
                  <a:srgbClr val="587080"/>
                </a:solidFill>
                <a:latin typeface="Arial"/>
              </a:defRPr>
            </a:pPr>
            <a:r>
              <a:t>A first technical assessment supports the next conversation and the next experiment.</a:t>
            </a:r>
          </a:p>
        </p:txBody>
      </p:sp>
      <p:cxnSp>
        <p:nvCxnSpPr>
          <p:cNvPr id="15" name="Connector 14"/>
          <p:cNvCxnSpPr/>
          <p:nvPr/>
        </p:nvCxnSpPr>
        <p:spPr>
          <a:xfrm>
            <a:off x="621792" y="6318504"/>
            <a:ext cx="10945368" cy="0"/>
          </a:xfrm>
          <a:prstGeom prst="line">
            <a:avLst/>
          </a:prstGeom>
          <a:ln w="8890">
            <a:solidFill>
              <a:srgbClr val="DCE5ED"/>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40080" y="6428232"/>
            <a:ext cx="9875520" cy="182880"/>
          </a:xfrm>
          <a:prstGeom prst="rect">
            <a:avLst/>
          </a:prstGeom>
          <a:noFill/>
        </p:spPr>
        <p:txBody>
          <a:bodyPr wrap="square" lIns="0" rIns="0" tIns="0" bIns="0">
            <a:spAutoFit/>
          </a:bodyPr>
          <a:lstStyle/>
          <a:p>
            <a:pPr>
              <a:lnSpc>
                <a:spcPct val="107000"/>
              </a:lnSpc>
              <a:spcBef>
                <a:spcPts val="0"/>
              </a:spcBef>
              <a:spcAft>
                <a:spcPts val="204"/>
              </a:spcAft>
              <a:defRPr sz="850" b="0">
                <a:solidFill>
                  <a:srgbClr val="587080"/>
                </a:solidFill>
                <a:latin typeface="Arial"/>
              </a:defRPr>
            </a:pPr>
            <a:r>
              <a:t>README §§19–21; supplied presentation p.8; current code and integration guide</a:t>
            </a:r>
          </a:p>
        </p:txBody>
      </p:sp>
      <p:sp>
        <p:nvSpPr>
          <p:cNvPr id="17" name="TextBox 16"/>
          <p:cNvSpPr txBox="1"/>
          <p:nvPr/>
        </p:nvSpPr>
        <p:spPr>
          <a:xfrm>
            <a:off x="10881360" y="6409944"/>
            <a:ext cx="658368" cy="228600"/>
          </a:xfrm>
          <a:prstGeom prst="rect">
            <a:avLst/>
          </a:prstGeom>
          <a:noFill/>
        </p:spPr>
        <p:txBody>
          <a:bodyPr wrap="square" lIns="0" rIns="0" tIns="0" bIns="0">
            <a:spAutoFit/>
          </a:bodyPr>
          <a:lstStyle/>
          <a:p>
            <a:pPr algn="r">
              <a:lnSpc>
                <a:spcPct val="107000"/>
              </a:lnSpc>
              <a:spcBef>
                <a:spcPts val="0"/>
              </a:spcBef>
              <a:spcAft>
                <a:spcPts val="216"/>
              </a:spcAft>
              <a:defRPr sz="900" b="0">
                <a:solidFill>
                  <a:srgbClr val="587080"/>
                </a:solidFill>
                <a:latin typeface="Arial"/>
              </a:defRPr>
            </a:pPr>
            <a:r>
              <a:t>09 / 14</a:t>
            </a:r>
          </a:p>
        </p:txBody>
      </p:sp>
      <p:sp>
        <p:nvSpPr>
          <p:cNvPr id="18" name="Rounded Rectangle 17"/>
          <p:cNvSpPr/>
          <p:nvPr/>
        </p:nvSpPr>
        <p:spPr>
          <a:xfrm>
            <a:off x="685800" y="2103120"/>
            <a:ext cx="3538728" cy="3520440"/>
          </a:xfrm>
          <a:prstGeom prst="roundRect">
            <a:avLst>
              <a:gd name="adj" fmla="val 3896"/>
            </a:avLst>
          </a:prstGeom>
          <a:solidFill>
            <a:srgbClr val="FFFFFF"/>
          </a:solidFill>
          <a:ln w="8890">
            <a:solidFill>
              <a:srgbClr val="DC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85800" y="2103120"/>
            <a:ext cx="50292" cy="3520440"/>
          </a:xfrm>
          <a:prstGeom prst="rect">
            <a:avLst/>
          </a:prstGeom>
          <a:solidFill>
            <a:srgbClr val="7044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86968" y="2286000"/>
            <a:ext cx="3136392" cy="402336"/>
          </a:xfrm>
          <a:prstGeom prst="rect">
            <a:avLst/>
          </a:prstGeom>
          <a:noFill/>
        </p:spPr>
        <p:txBody>
          <a:bodyPr wrap="square" lIns="0" rIns="0" tIns="0" bIns="0">
            <a:spAutoFit/>
          </a:bodyPr>
          <a:lstStyle/>
          <a:p>
            <a:pPr>
              <a:lnSpc>
                <a:spcPct val="107000"/>
              </a:lnSpc>
              <a:spcBef>
                <a:spcPts val="0"/>
              </a:spcBef>
              <a:spcAft>
                <a:spcPts val="455"/>
              </a:spcAft>
              <a:defRPr sz="1900" b="1">
                <a:solidFill>
                  <a:srgbClr val="7044BB"/>
                </a:solidFill>
                <a:latin typeface="Arial"/>
              </a:defRPr>
            </a:pPr>
            <a:r>
              <a:t>No measured spectra</a:t>
            </a:r>
          </a:p>
        </p:txBody>
      </p:sp>
      <p:sp>
        <p:nvSpPr>
          <p:cNvPr id="21" name="TextBox 20"/>
          <p:cNvSpPr txBox="1"/>
          <p:nvPr/>
        </p:nvSpPr>
        <p:spPr>
          <a:xfrm>
            <a:off x="886968" y="2862072"/>
            <a:ext cx="3136392" cy="2624328"/>
          </a:xfrm>
          <a:prstGeom prst="rect">
            <a:avLst/>
          </a:prstGeom>
          <a:noFill/>
        </p:spPr>
        <p:txBody>
          <a:bodyPr wrap="square" lIns="0" rIns="0" tIns="0" bIns="0">
            <a:spAutoFit/>
          </a:bodyPr>
          <a:lstStyle/>
          <a:p>
            <a:pPr>
              <a:lnSpc>
                <a:spcPct val="107000"/>
              </a:lnSpc>
              <a:spcBef>
                <a:spcPts val="0"/>
              </a:spcBef>
              <a:spcAft>
                <a:spcPts val="432"/>
              </a:spcAft>
              <a:defRPr sz="1800" b="0">
                <a:solidFill>
                  <a:srgbClr val="102A3A"/>
                </a:solidFill>
                <a:latin typeface="Arial"/>
              </a:defRPr>
            </a:pPr>
            <a:r>
              <a:t>Accuracy and detection limits cannot be predicted from the supplied documents.</a:t>
            </a:r>
          </a:p>
          <a:p>
            <a:pPr>
              <a:lnSpc>
                <a:spcPct val="107000"/>
              </a:lnSpc>
              <a:spcBef>
                <a:spcPts val="0"/>
              </a:spcBef>
              <a:spcAft>
                <a:spcPts val="432"/>
              </a:spcAft>
              <a:defRPr sz="1800" b="0">
                <a:solidFill>
                  <a:srgbClr val="102A3A"/>
                </a:solidFill>
                <a:latin typeface="Arial"/>
              </a:defRPr>
            </a:pPr>
          </a:p>
          <a:p>
            <a:pPr>
              <a:lnSpc>
                <a:spcPct val="107000"/>
              </a:lnSpc>
              <a:spcBef>
                <a:spcPts val="0"/>
              </a:spcBef>
              <a:spcAft>
                <a:spcPts val="432"/>
              </a:spcAft>
              <a:defRPr sz="1800" b="0">
                <a:solidFill>
                  <a:srgbClr val="102A3A"/>
                </a:solidFill>
                <a:latin typeface="Arial"/>
              </a:defRPr>
            </a:pPr>
            <a:r>
              <a:t>Next: collect trial spectra, compare models and validate on independent samples.</a:t>
            </a:r>
          </a:p>
        </p:txBody>
      </p:sp>
      <p:sp>
        <p:nvSpPr>
          <p:cNvPr id="22" name="Rounded Rectangle 21"/>
          <p:cNvSpPr/>
          <p:nvPr/>
        </p:nvSpPr>
        <p:spPr>
          <a:xfrm>
            <a:off x="4379976" y="2103120"/>
            <a:ext cx="3538728" cy="3520440"/>
          </a:xfrm>
          <a:prstGeom prst="roundRect">
            <a:avLst>
              <a:gd name="adj" fmla="val 3896"/>
            </a:avLst>
          </a:prstGeom>
          <a:solidFill>
            <a:srgbClr val="FFFFFF"/>
          </a:solidFill>
          <a:ln w="8890">
            <a:solidFill>
              <a:srgbClr val="DC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379976" y="2103120"/>
            <a:ext cx="50292" cy="3520440"/>
          </a:xfrm>
          <a:prstGeom prst="rect">
            <a:avLst/>
          </a:prstGeom>
          <a:solidFill>
            <a:srgbClr val="2C62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81144" y="2286000"/>
            <a:ext cx="3136392" cy="402336"/>
          </a:xfrm>
          <a:prstGeom prst="rect">
            <a:avLst/>
          </a:prstGeom>
          <a:noFill/>
        </p:spPr>
        <p:txBody>
          <a:bodyPr wrap="square" lIns="0" rIns="0" tIns="0" bIns="0">
            <a:spAutoFit/>
          </a:bodyPr>
          <a:lstStyle/>
          <a:p>
            <a:pPr>
              <a:lnSpc>
                <a:spcPct val="107000"/>
              </a:lnSpc>
              <a:spcBef>
                <a:spcPts val="0"/>
              </a:spcBef>
              <a:spcAft>
                <a:spcPts val="455"/>
              </a:spcAft>
              <a:defRPr sz="1900" b="1">
                <a:solidFill>
                  <a:srgbClr val="2C62C9"/>
                </a:solidFill>
                <a:latin typeface="Arial"/>
              </a:defRPr>
            </a:pPr>
            <a:r>
              <a:t>Curated knowledge</a:t>
            </a:r>
          </a:p>
        </p:txBody>
      </p:sp>
      <p:sp>
        <p:nvSpPr>
          <p:cNvPr id="25" name="TextBox 24"/>
          <p:cNvSpPr txBox="1"/>
          <p:nvPr/>
        </p:nvSpPr>
        <p:spPr>
          <a:xfrm>
            <a:off x="4581144" y="2862072"/>
            <a:ext cx="3136392" cy="2624328"/>
          </a:xfrm>
          <a:prstGeom prst="rect">
            <a:avLst/>
          </a:prstGeom>
          <a:noFill/>
        </p:spPr>
        <p:txBody>
          <a:bodyPr wrap="square" lIns="0" rIns="0" tIns="0" bIns="0">
            <a:spAutoFit/>
          </a:bodyPr>
          <a:lstStyle/>
          <a:p>
            <a:pPr>
              <a:lnSpc>
                <a:spcPct val="107000"/>
              </a:lnSpc>
              <a:spcBef>
                <a:spcPts val="0"/>
              </a:spcBef>
              <a:spcAft>
                <a:spcPts val="432"/>
              </a:spcAft>
              <a:defRPr sz="1800" b="0">
                <a:solidFill>
                  <a:srgbClr val="102A3A"/>
                </a:solidFill>
                <a:latin typeface="Arial"/>
              </a:defRPr>
            </a:pPr>
            <a:r>
              <a:t>Rules are conservative; unusual wording or missing sources can limit coverage.</a:t>
            </a:r>
          </a:p>
          <a:p>
            <a:pPr>
              <a:lnSpc>
                <a:spcPct val="107000"/>
              </a:lnSpc>
              <a:spcBef>
                <a:spcPts val="0"/>
              </a:spcBef>
              <a:spcAft>
                <a:spcPts val="432"/>
              </a:spcAft>
              <a:defRPr sz="1800" b="0">
                <a:solidFill>
                  <a:srgbClr val="102A3A"/>
                </a:solidFill>
                <a:latin typeface="Arial"/>
              </a:defRPr>
            </a:pPr>
          </a:p>
          <a:p>
            <a:pPr>
              <a:lnSpc>
                <a:spcPct val="107000"/>
              </a:lnSpc>
              <a:spcBef>
                <a:spcPts val="0"/>
              </a:spcBef>
              <a:spcAft>
                <a:spcPts val="432"/>
              </a:spcAft>
              <a:defRPr sz="1800" b="0">
                <a:solidFill>
                  <a:srgbClr val="102A3A"/>
                </a:solidFill>
                <a:latin typeface="Arial"/>
              </a:defRPr>
            </a:pPr>
            <a:r>
              <a:t>Next: expert-approved source additions and feedback-informed cards and rules.</a:t>
            </a:r>
          </a:p>
        </p:txBody>
      </p:sp>
      <p:sp>
        <p:nvSpPr>
          <p:cNvPr id="26" name="Rounded Rectangle 25"/>
          <p:cNvSpPr/>
          <p:nvPr/>
        </p:nvSpPr>
        <p:spPr>
          <a:xfrm>
            <a:off x="8074152" y="2103120"/>
            <a:ext cx="3538728" cy="3520440"/>
          </a:xfrm>
          <a:prstGeom prst="roundRect">
            <a:avLst>
              <a:gd name="adj" fmla="val 3896"/>
            </a:avLst>
          </a:prstGeom>
          <a:solidFill>
            <a:srgbClr val="FFFFFF"/>
          </a:solidFill>
          <a:ln w="8890">
            <a:solidFill>
              <a:srgbClr val="DC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074152" y="2103120"/>
            <a:ext cx="50292" cy="352044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75320" y="2286000"/>
            <a:ext cx="3136392" cy="402336"/>
          </a:xfrm>
          <a:prstGeom prst="rect">
            <a:avLst/>
          </a:prstGeom>
          <a:noFill/>
        </p:spPr>
        <p:txBody>
          <a:bodyPr wrap="square" lIns="0" rIns="0" tIns="0" bIns="0">
            <a:spAutoFit/>
          </a:bodyPr>
          <a:lstStyle/>
          <a:p>
            <a:pPr>
              <a:lnSpc>
                <a:spcPct val="107000"/>
              </a:lnSpc>
              <a:spcBef>
                <a:spcPts val="0"/>
              </a:spcBef>
              <a:spcAft>
                <a:spcPts val="455"/>
              </a:spcAft>
              <a:defRPr sz="1900" b="1">
                <a:solidFill>
                  <a:srgbClr val="087F8C"/>
                </a:solidFill>
                <a:latin typeface="Arial"/>
              </a:defRPr>
            </a:pPr>
            <a:r>
              <a:t>Model and runtime limits</a:t>
            </a:r>
          </a:p>
        </p:txBody>
      </p:sp>
      <p:sp>
        <p:nvSpPr>
          <p:cNvPr id="29" name="TextBox 28"/>
          <p:cNvSpPr txBox="1"/>
          <p:nvPr/>
        </p:nvSpPr>
        <p:spPr>
          <a:xfrm>
            <a:off x="8275320" y="2862072"/>
            <a:ext cx="3136392" cy="2624328"/>
          </a:xfrm>
          <a:prstGeom prst="rect">
            <a:avLst/>
          </a:prstGeom>
          <a:noFill/>
        </p:spPr>
        <p:txBody>
          <a:bodyPr wrap="square" lIns="0" rIns="0" tIns="0" bIns="0">
            <a:spAutoFit/>
          </a:bodyPr>
          <a:lstStyle/>
          <a:p>
            <a:pPr>
              <a:lnSpc>
                <a:spcPct val="107000"/>
              </a:lnSpc>
              <a:spcBef>
                <a:spcPts val="0"/>
              </a:spcBef>
              <a:spcAft>
                <a:spcPts val="432"/>
              </a:spcAft>
              <a:defRPr sz="1800" b="0">
                <a:solidFill>
                  <a:srgbClr val="102A3A"/>
                </a:solidFill>
                <a:latin typeface="Arial"/>
              </a:defRPr>
            </a:pPr>
            <a:r>
              <a:t>A model can mis-cite; Council agreement is not independent validation and can be slow.</a:t>
            </a:r>
          </a:p>
          <a:p>
            <a:pPr>
              <a:lnSpc>
                <a:spcPct val="107000"/>
              </a:lnSpc>
              <a:spcBef>
                <a:spcPts val="0"/>
              </a:spcBef>
              <a:spcAft>
                <a:spcPts val="432"/>
              </a:spcAft>
              <a:defRPr sz="1800" b="0">
                <a:solidFill>
                  <a:srgbClr val="102A3A"/>
                </a:solidFill>
                <a:latin typeface="Arial"/>
              </a:defRPr>
            </a:pPr>
          </a:p>
          <a:p>
            <a:pPr>
              <a:lnSpc>
                <a:spcPct val="107000"/>
              </a:lnSpc>
              <a:spcBef>
                <a:spcPts val="0"/>
              </a:spcBef>
              <a:spcAft>
                <a:spcPts val="432"/>
              </a:spcAft>
              <a:defRPr sz="1800" b="0">
                <a:solidFill>
                  <a:srgbClr val="102A3A"/>
                </a:solidFill>
                <a:latin typeface="Arial"/>
              </a:defRPr>
            </a:pPr>
            <a:r>
              <a:t>Next: visible verification, Fast-mode demos and broader independent evaluation.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C2330"/>
        </a:solidFill>
        <a:effectLst/>
      </p:bgPr>
    </p:bg>
    <p:spTree>
      <p:nvGrpSpPr>
        <p:cNvPr id="1" name=""/>
        <p:cNvGrpSpPr/>
        <p:nvPr/>
      </p:nvGrpSpPr>
      <p:grpSpPr/>
      <p:sp>
        <p:nvSpPr>
          <p:cNvPr id="2" name="Rectangle 1"/>
          <p:cNvSpPr/>
          <p:nvPr/>
        </p:nvSpPr>
        <p:spPr>
          <a:xfrm>
            <a:off x="0" y="0"/>
            <a:ext cx="1223771" cy="50292"/>
          </a:xfrm>
          <a:prstGeom prst="rect">
            <a:avLst/>
          </a:prstGeom>
          <a:solidFill>
            <a:srgbClr val="7044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19199" y="0"/>
            <a:ext cx="1223771" cy="50292"/>
          </a:xfrm>
          <a:prstGeom prst="rect">
            <a:avLst/>
          </a:prstGeom>
          <a:solidFill>
            <a:srgbClr val="5E4D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438399" y="0"/>
            <a:ext cx="1223771" cy="50292"/>
          </a:xfrm>
          <a:prstGeom prst="rect">
            <a:avLst/>
          </a:prstGeom>
          <a:solidFill>
            <a:srgbClr val="426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57599" y="0"/>
            <a:ext cx="1223771" cy="50292"/>
          </a:xfrm>
          <a:prstGeom prst="rect">
            <a:avLst/>
          </a:prstGeom>
          <a:solidFill>
            <a:srgbClr val="2886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876799" y="0"/>
            <a:ext cx="1223771" cy="50292"/>
          </a:xfrm>
          <a:prstGeom prst="rect">
            <a:avLst/>
          </a:prstGeom>
          <a:solidFill>
            <a:srgbClr val="1591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095999" y="0"/>
            <a:ext cx="1223771" cy="50292"/>
          </a:xfrm>
          <a:prstGeom prst="rect">
            <a:avLst/>
          </a:prstGeom>
          <a:solidFill>
            <a:srgbClr val="2999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199" y="0"/>
            <a:ext cx="1223771" cy="50292"/>
          </a:xfrm>
          <a:prstGeom prst="rect">
            <a:avLst/>
          </a:prstGeom>
          <a:solidFill>
            <a:srgbClr val="7DAD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534399" y="0"/>
            <a:ext cx="1223771" cy="50292"/>
          </a:xfrm>
          <a:prstGeom prst="rect">
            <a:avLst/>
          </a:prstGeom>
          <a:solidFill>
            <a:srgbClr val="C6A6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753599" y="0"/>
            <a:ext cx="1223771" cy="50292"/>
          </a:xfrm>
          <a:prstGeom prst="rect">
            <a:avLst/>
          </a:prstGeom>
          <a:solidFill>
            <a:srgbClr val="CC7B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0972799" y="0"/>
            <a:ext cx="1223771" cy="50292"/>
          </a:xfrm>
          <a:prstGeom prst="rect">
            <a:avLst/>
          </a:prstGeom>
          <a:solidFill>
            <a:srgbClr val="B84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1792" y="365760"/>
            <a:ext cx="10972800" cy="246888"/>
          </a:xfrm>
          <a:prstGeom prst="rect">
            <a:avLst/>
          </a:prstGeom>
          <a:noFill/>
        </p:spPr>
        <p:txBody>
          <a:bodyPr wrap="square" lIns="0" rIns="0" tIns="0" bIns="0">
            <a:spAutoFit/>
          </a:bodyPr>
          <a:lstStyle/>
          <a:p>
            <a:pPr>
              <a:lnSpc>
                <a:spcPct val="107000"/>
              </a:lnSpc>
              <a:spcBef>
                <a:spcPts val="0"/>
              </a:spcBef>
              <a:spcAft>
                <a:spcPts val="252"/>
              </a:spcAft>
              <a:defRPr sz="1050" b="1">
                <a:solidFill>
                  <a:srgbClr val="C8DBE5"/>
                </a:solidFill>
                <a:latin typeface="Arial"/>
              </a:defRPr>
            </a:pPr>
            <a:r>
              <a:t>09 / PROJECT TEAM</a:t>
            </a:r>
          </a:p>
        </p:txBody>
      </p:sp>
      <p:sp>
        <p:nvSpPr>
          <p:cNvPr id="13" name="TextBox 12"/>
          <p:cNvSpPr txBox="1"/>
          <p:nvPr/>
        </p:nvSpPr>
        <p:spPr>
          <a:xfrm>
            <a:off x="621792" y="841248"/>
            <a:ext cx="10972800" cy="941832"/>
          </a:xfrm>
          <a:prstGeom prst="rect">
            <a:avLst/>
          </a:prstGeom>
          <a:noFill/>
        </p:spPr>
        <p:txBody>
          <a:bodyPr wrap="square" lIns="0" rIns="0" tIns="0" bIns="0">
            <a:spAutoFit/>
          </a:bodyPr>
          <a:lstStyle/>
          <a:p>
            <a:pPr>
              <a:lnSpc>
                <a:spcPct val="107000"/>
              </a:lnSpc>
              <a:spcBef>
                <a:spcPts val="0"/>
              </a:spcBef>
              <a:spcAft>
                <a:spcPts val="744"/>
              </a:spcAft>
              <a:defRPr sz="3100" b="1">
                <a:solidFill>
                  <a:srgbClr val="FFFFFF"/>
                </a:solidFill>
                <a:latin typeface="Arial"/>
              </a:defRPr>
            </a:pPr>
            <a:r>
              <a:t>Better first conversations. Checkable next steps.</a:t>
            </a:r>
          </a:p>
        </p:txBody>
      </p:sp>
      <p:sp>
        <p:nvSpPr>
          <p:cNvPr id="14" name="TextBox 13"/>
          <p:cNvSpPr txBox="1"/>
          <p:nvPr/>
        </p:nvSpPr>
        <p:spPr>
          <a:xfrm>
            <a:off x="640080" y="1417320"/>
            <a:ext cx="10927080" cy="475488"/>
          </a:xfrm>
          <a:prstGeom prst="rect">
            <a:avLst/>
          </a:prstGeom>
          <a:noFill/>
        </p:spPr>
        <p:txBody>
          <a:bodyPr wrap="square" lIns="0" rIns="0" tIns="0" bIns="0">
            <a:spAutoFit/>
          </a:bodyPr>
          <a:lstStyle/>
          <a:p>
            <a:pPr>
              <a:lnSpc>
                <a:spcPct val="107000"/>
              </a:lnSpc>
              <a:spcBef>
                <a:spcPts val="0"/>
              </a:spcBef>
              <a:spcAft>
                <a:spcPts val="359"/>
              </a:spcAft>
              <a:defRPr sz="1500" b="0">
                <a:solidFill>
                  <a:srgbClr val="C8DBE5"/>
                </a:solidFill>
                <a:latin typeface="Arial"/>
              </a:defRPr>
            </a:pPr>
            <a:r>
              <a:t>AFS Assessment Assistant</a:t>
            </a:r>
          </a:p>
        </p:txBody>
      </p:sp>
      <p:cxnSp>
        <p:nvCxnSpPr>
          <p:cNvPr id="15" name="Connector 14"/>
          <p:cNvCxnSpPr/>
          <p:nvPr/>
        </p:nvCxnSpPr>
        <p:spPr>
          <a:xfrm>
            <a:off x="621792" y="6318504"/>
            <a:ext cx="10945368" cy="0"/>
          </a:xfrm>
          <a:prstGeom prst="line">
            <a:avLst/>
          </a:prstGeom>
          <a:ln w="8890">
            <a:solidFill>
              <a:srgbClr val="173544"/>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40080" y="6428232"/>
            <a:ext cx="9875520" cy="182880"/>
          </a:xfrm>
          <a:prstGeom prst="rect">
            <a:avLst/>
          </a:prstGeom>
          <a:noFill/>
        </p:spPr>
        <p:txBody>
          <a:bodyPr wrap="square" lIns="0" rIns="0" tIns="0" bIns="0">
            <a:spAutoFit/>
          </a:bodyPr>
          <a:lstStyle/>
          <a:p>
            <a:pPr>
              <a:lnSpc>
                <a:spcPct val="107000"/>
              </a:lnSpc>
              <a:spcBef>
                <a:spcPts val="0"/>
              </a:spcBef>
              <a:spcAft>
                <a:spcPts val="204"/>
              </a:spcAft>
              <a:defRPr sz="850" b="0">
                <a:solidFill>
                  <a:srgbClr val="C8DBE5"/>
                </a:solidFill>
                <a:latin typeface="Arial"/>
              </a:defRPr>
            </a:pPr>
            <a:r>
              <a:rPr u="none">
                <a:solidFill>
                  <a:srgbClr val="C8DBE5"/>
                </a:solidFill>
                <a:hlinkClick r:id="rId3"/>
              </a:rPr>
              <a:t>Project credits supplied by the team  •  github.com/ght007/SchubKI</a:t>
            </a:r>
          </a:p>
        </p:txBody>
      </p:sp>
      <p:sp>
        <p:nvSpPr>
          <p:cNvPr id="17" name="TextBox 16"/>
          <p:cNvSpPr txBox="1"/>
          <p:nvPr/>
        </p:nvSpPr>
        <p:spPr>
          <a:xfrm>
            <a:off x="10881360" y="6409944"/>
            <a:ext cx="658368" cy="228600"/>
          </a:xfrm>
          <a:prstGeom prst="rect">
            <a:avLst/>
          </a:prstGeom>
          <a:noFill/>
        </p:spPr>
        <p:txBody>
          <a:bodyPr wrap="square" lIns="0" rIns="0" tIns="0" bIns="0">
            <a:spAutoFit/>
          </a:bodyPr>
          <a:lstStyle/>
          <a:p>
            <a:pPr algn="r">
              <a:lnSpc>
                <a:spcPct val="107000"/>
              </a:lnSpc>
              <a:spcBef>
                <a:spcPts val="0"/>
              </a:spcBef>
              <a:spcAft>
                <a:spcPts val="216"/>
              </a:spcAft>
              <a:defRPr sz="900" b="0">
                <a:solidFill>
                  <a:srgbClr val="C8DBE5"/>
                </a:solidFill>
                <a:latin typeface="Arial"/>
              </a:defRPr>
            </a:pPr>
            <a:r>
              <a:t>10 / 14</a:t>
            </a:r>
          </a:p>
        </p:txBody>
      </p:sp>
      <p:sp>
        <p:nvSpPr>
          <p:cNvPr id="18" name="Rounded Rectangle 17"/>
          <p:cNvSpPr/>
          <p:nvPr/>
        </p:nvSpPr>
        <p:spPr>
          <a:xfrm>
            <a:off x="713232" y="2258568"/>
            <a:ext cx="5276088" cy="896112"/>
          </a:xfrm>
          <a:prstGeom prst="roundRect">
            <a:avLst>
              <a:gd name="adj" fmla="val 15306"/>
            </a:avLst>
          </a:prstGeom>
          <a:solidFill>
            <a:srgbClr val="1735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41832" y="2542032"/>
            <a:ext cx="4818888" cy="402336"/>
          </a:xfrm>
          <a:prstGeom prst="rect">
            <a:avLst/>
          </a:prstGeom>
          <a:noFill/>
        </p:spPr>
        <p:txBody>
          <a:bodyPr wrap="square" lIns="0" rIns="0" tIns="0" bIns="0">
            <a:spAutoFit/>
          </a:bodyPr>
          <a:lstStyle/>
          <a:p>
            <a:pPr>
              <a:lnSpc>
                <a:spcPct val="107000"/>
              </a:lnSpc>
              <a:spcBef>
                <a:spcPts val="0"/>
              </a:spcBef>
              <a:spcAft>
                <a:spcPts val="576"/>
              </a:spcAft>
              <a:defRPr sz="2400" b="1">
                <a:solidFill>
                  <a:srgbClr val="FFFFFF"/>
                </a:solidFill>
                <a:latin typeface="Arial"/>
              </a:defRPr>
            </a:pPr>
            <a:r>
              <a:t>Eisa Atif</a:t>
            </a:r>
          </a:p>
        </p:txBody>
      </p:sp>
      <p:sp>
        <p:nvSpPr>
          <p:cNvPr id="20" name="Rounded Rectangle 19"/>
          <p:cNvSpPr/>
          <p:nvPr/>
        </p:nvSpPr>
        <p:spPr>
          <a:xfrm>
            <a:off x="6227064" y="2258568"/>
            <a:ext cx="5276088" cy="896112"/>
          </a:xfrm>
          <a:prstGeom prst="roundRect">
            <a:avLst>
              <a:gd name="adj" fmla="val 15306"/>
            </a:avLst>
          </a:prstGeom>
          <a:solidFill>
            <a:srgbClr val="1735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55664" y="2542032"/>
            <a:ext cx="4818888" cy="402336"/>
          </a:xfrm>
          <a:prstGeom prst="rect">
            <a:avLst/>
          </a:prstGeom>
          <a:noFill/>
        </p:spPr>
        <p:txBody>
          <a:bodyPr wrap="square" lIns="0" rIns="0" tIns="0" bIns="0">
            <a:spAutoFit/>
          </a:bodyPr>
          <a:lstStyle/>
          <a:p>
            <a:pPr>
              <a:lnSpc>
                <a:spcPct val="107000"/>
              </a:lnSpc>
              <a:spcBef>
                <a:spcPts val="0"/>
              </a:spcBef>
              <a:spcAft>
                <a:spcPts val="576"/>
              </a:spcAft>
              <a:defRPr sz="2400" b="1">
                <a:solidFill>
                  <a:srgbClr val="FFFFFF"/>
                </a:solidFill>
                <a:latin typeface="Arial"/>
              </a:defRPr>
            </a:pPr>
            <a:r>
              <a:t>Marie Habermann</a:t>
            </a:r>
          </a:p>
        </p:txBody>
      </p:sp>
      <p:sp>
        <p:nvSpPr>
          <p:cNvPr id="22" name="Rounded Rectangle 21"/>
          <p:cNvSpPr/>
          <p:nvPr/>
        </p:nvSpPr>
        <p:spPr>
          <a:xfrm>
            <a:off x="713232" y="3364992"/>
            <a:ext cx="5276088" cy="896112"/>
          </a:xfrm>
          <a:prstGeom prst="roundRect">
            <a:avLst>
              <a:gd name="adj" fmla="val 15306"/>
            </a:avLst>
          </a:prstGeom>
          <a:solidFill>
            <a:srgbClr val="1735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41832" y="3648456"/>
            <a:ext cx="4818888" cy="402336"/>
          </a:xfrm>
          <a:prstGeom prst="rect">
            <a:avLst/>
          </a:prstGeom>
          <a:noFill/>
        </p:spPr>
        <p:txBody>
          <a:bodyPr wrap="square" lIns="0" rIns="0" tIns="0" bIns="0">
            <a:spAutoFit/>
          </a:bodyPr>
          <a:lstStyle/>
          <a:p>
            <a:pPr>
              <a:lnSpc>
                <a:spcPct val="107000"/>
              </a:lnSpc>
              <a:spcBef>
                <a:spcPts val="0"/>
              </a:spcBef>
              <a:spcAft>
                <a:spcPts val="576"/>
              </a:spcAft>
              <a:defRPr sz="2400" b="1">
                <a:solidFill>
                  <a:srgbClr val="FFFFFF"/>
                </a:solidFill>
                <a:latin typeface="Arial"/>
              </a:defRPr>
            </a:pPr>
            <a:r>
              <a:t>Atfan Deshmukh</a:t>
            </a:r>
          </a:p>
        </p:txBody>
      </p:sp>
      <p:sp>
        <p:nvSpPr>
          <p:cNvPr id="24" name="Rounded Rectangle 23"/>
          <p:cNvSpPr/>
          <p:nvPr/>
        </p:nvSpPr>
        <p:spPr>
          <a:xfrm>
            <a:off x="6227064" y="3364992"/>
            <a:ext cx="5276088" cy="896112"/>
          </a:xfrm>
          <a:prstGeom prst="roundRect">
            <a:avLst>
              <a:gd name="adj" fmla="val 15306"/>
            </a:avLst>
          </a:prstGeom>
          <a:solidFill>
            <a:srgbClr val="1735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5664" y="3648456"/>
            <a:ext cx="4818888" cy="402336"/>
          </a:xfrm>
          <a:prstGeom prst="rect">
            <a:avLst/>
          </a:prstGeom>
          <a:noFill/>
        </p:spPr>
        <p:txBody>
          <a:bodyPr wrap="square" lIns="0" rIns="0" tIns="0" bIns="0">
            <a:spAutoFit/>
          </a:bodyPr>
          <a:lstStyle/>
          <a:p>
            <a:pPr>
              <a:lnSpc>
                <a:spcPct val="107000"/>
              </a:lnSpc>
              <a:spcBef>
                <a:spcPts val="0"/>
              </a:spcBef>
              <a:spcAft>
                <a:spcPts val="576"/>
              </a:spcAft>
              <a:defRPr sz="2400" b="1">
                <a:solidFill>
                  <a:srgbClr val="FFFFFF"/>
                </a:solidFill>
                <a:latin typeface="Arial"/>
              </a:defRPr>
            </a:pPr>
            <a:r>
              <a:t>Akshdeep Singh</a:t>
            </a:r>
          </a:p>
        </p:txBody>
      </p:sp>
      <p:sp>
        <p:nvSpPr>
          <p:cNvPr id="26" name="Rounded Rectangle 25"/>
          <p:cNvSpPr/>
          <p:nvPr/>
        </p:nvSpPr>
        <p:spPr>
          <a:xfrm>
            <a:off x="713232" y="4517136"/>
            <a:ext cx="10789920" cy="914400"/>
          </a:xfrm>
          <a:prstGeom prst="roundRect">
            <a:avLst>
              <a:gd name="adj" fmla="val 15000"/>
            </a:avLst>
          </a:prstGeom>
          <a:solidFill>
            <a:srgbClr val="1735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41832" y="4791456"/>
            <a:ext cx="10332720" cy="420624"/>
          </a:xfrm>
          <a:prstGeom prst="rect">
            <a:avLst/>
          </a:prstGeom>
          <a:noFill/>
        </p:spPr>
        <p:txBody>
          <a:bodyPr wrap="square" lIns="0" rIns="0" tIns="0" bIns="0">
            <a:spAutoFit/>
          </a:bodyPr>
          <a:lstStyle/>
          <a:p>
            <a:pPr>
              <a:lnSpc>
                <a:spcPct val="107000"/>
              </a:lnSpc>
              <a:spcBef>
                <a:spcPts val="0"/>
              </a:spcBef>
              <a:spcAft>
                <a:spcPts val="576"/>
              </a:spcAft>
              <a:defRPr sz="2400" b="1">
                <a:solidFill>
                  <a:srgbClr val="FFFFFF"/>
                </a:solidFill>
                <a:latin typeface="Arial"/>
              </a:defRPr>
            </a:pPr>
            <a:r>
              <a:t>Naumanurrahman Shaikmujeeburrahman</a:t>
            </a:r>
          </a:p>
        </p:txBody>
      </p:sp>
      <p:sp>
        <p:nvSpPr>
          <p:cNvPr id="28" name="TextBox 27"/>
          <p:cNvSpPr txBox="1"/>
          <p:nvPr/>
        </p:nvSpPr>
        <p:spPr>
          <a:xfrm>
            <a:off x="731520" y="5733288"/>
            <a:ext cx="10698480" cy="329184"/>
          </a:xfrm>
          <a:prstGeom prst="rect">
            <a:avLst/>
          </a:prstGeom>
          <a:noFill/>
        </p:spPr>
        <p:txBody>
          <a:bodyPr wrap="square" lIns="0" rIns="0" tIns="0" bIns="0">
            <a:spAutoFit/>
          </a:bodyPr>
          <a:lstStyle/>
          <a:p>
            <a:pPr>
              <a:lnSpc>
                <a:spcPct val="107000"/>
              </a:lnSpc>
              <a:spcBef>
                <a:spcPts val="0"/>
              </a:spcBef>
              <a:spcAft>
                <a:spcPts val="384"/>
              </a:spcAft>
              <a:defRPr sz="1600" b="0">
                <a:solidFill>
                  <a:srgbClr val="C8DBE5"/>
                </a:solidFill>
                <a:latin typeface="Arial"/>
              </a:defRPr>
            </a:pPr>
            <a:r>
              <a:t>Source-grounded recommendations  •  Explicit uncertainty  •  Practical feasibility experiments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3F6FA"/>
        </a:solidFill>
        <a:effectLst/>
      </p:bgPr>
    </p:bg>
    <p:spTree>
      <p:nvGrpSpPr>
        <p:cNvPr id="1" name=""/>
        <p:cNvGrpSpPr/>
        <p:nvPr/>
      </p:nvGrpSpPr>
      <p:grpSpPr/>
      <p:sp>
        <p:nvSpPr>
          <p:cNvPr id="2" name="Rectangle 1"/>
          <p:cNvSpPr/>
          <p:nvPr/>
        </p:nvSpPr>
        <p:spPr>
          <a:xfrm>
            <a:off x="0" y="0"/>
            <a:ext cx="1223771" cy="50292"/>
          </a:xfrm>
          <a:prstGeom prst="rect">
            <a:avLst/>
          </a:prstGeom>
          <a:solidFill>
            <a:srgbClr val="7044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19199" y="0"/>
            <a:ext cx="1223771" cy="50292"/>
          </a:xfrm>
          <a:prstGeom prst="rect">
            <a:avLst/>
          </a:prstGeom>
          <a:solidFill>
            <a:srgbClr val="5E4D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438399" y="0"/>
            <a:ext cx="1223771" cy="50292"/>
          </a:xfrm>
          <a:prstGeom prst="rect">
            <a:avLst/>
          </a:prstGeom>
          <a:solidFill>
            <a:srgbClr val="426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57599" y="0"/>
            <a:ext cx="1223771" cy="50292"/>
          </a:xfrm>
          <a:prstGeom prst="rect">
            <a:avLst/>
          </a:prstGeom>
          <a:solidFill>
            <a:srgbClr val="2886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876799" y="0"/>
            <a:ext cx="1223771" cy="50292"/>
          </a:xfrm>
          <a:prstGeom prst="rect">
            <a:avLst/>
          </a:prstGeom>
          <a:solidFill>
            <a:srgbClr val="1591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095999" y="0"/>
            <a:ext cx="1223771" cy="50292"/>
          </a:xfrm>
          <a:prstGeom prst="rect">
            <a:avLst/>
          </a:prstGeom>
          <a:solidFill>
            <a:srgbClr val="2999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199" y="0"/>
            <a:ext cx="1223771" cy="50292"/>
          </a:xfrm>
          <a:prstGeom prst="rect">
            <a:avLst/>
          </a:prstGeom>
          <a:solidFill>
            <a:srgbClr val="7DAD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534399" y="0"/>
            <a:ext cx="1223771" cy="50292"/>
          </a:xfrm>
          <a:prstGeom prst="rect">
            <a:avLst/>
          </a:prstGeom>
          <a:solidFill>
            <a:srgbClr val="C6A6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753599" y="0"/>
            <a:ext cx="1223771" cy="50292"/>
          </a:xfrm>
          <a:prstGeom prst="rect">
            <a:avLst/>
          </a:prstGeom>
          <a:solidFill>
            <a:srgbClr val="CC7B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0972799" y="0"/>
            <a:ext cx="1223771" cy="50292"/>
          </a:xfrm>
          <a:prstGeom prst="rect">
            <a:avLst/>
          </a:prstGeom>
          <a:solidFill>
            <a:srgbClr val="B84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1792" y="365760"/>
            <a:ext cx="10972800" cy="246888"/>
          </a:xfrm>
          <a:prstGeom prst="rect">
            <a:avLst/>
          </a:prstGeom>
          <a:noFill/>
        </p:spPr>
        <p:txBody>
          <a:bodyPr wrap="square" lIns="0" rIns="0" tIns="0" bIns="0">
            <a:spAutoFit/>
          </a:bodyPr>
          <a:lstStyle/>
          <a:p>
            <a:pPr>
              <a:lnSpc>
                <a:spcPct val="107000"/>
              </a:lnSpc>
              <a:spcBef>
                <a:spcPts val="0"/>
              </a:spcBef>
              <a:spcAft>
                <a:spcPts val="252"/>
              </a:spcAft>
              <a:defRPr sz="1050" b="1">
                <a:solidFill>
                  <a:srgbClr val="087F8C"/>
                </a:solidFill>
                <a:latin typeface="Arial"/>
              </a:defRPr>
            </a:pPr>
            <a:r>
              <a:t>APPENDIX A / JURY RUBRIC</a:t>
            </a:r>
          </a:p>
        </p:txBody>
      </p:sp>
      <p:sp>
        <p:nvSpPr>
          <p:cNvPr id="13" name="TextBox 12"/>
          <p:cNvSpPr txBox="1"/>
          <p:nvPr/>
        </p:nvSpPr>
        <p:spPr>
          <a:xfrm>
            <a:off x="621792" y="841248"/>
            <a:ext cx="10972800" cy="941832"/>
          </a:xfrm>
          <a:prstGeom prst="rect">
            <a:avLst/>
          </a:prstGeom>
          <a:noFill/>
        </p:spPr>
        <p:txBody>
          <a:bodyPr wrap="square" lIns="0" rIns="0" tIns="0" bIns="0">
            <a:spAutoFit/>
          </a:bodyPr>
          <a:lstStyle/>
          <a:p>
            <a:pPr>
              <a:lnSpc>
                <a:spcPct val="107000"/>
              </a:lnSpc>
              <a:spcBef>
                <a:spcPts val="0"/>
              </a:spcBef>
              <a:spcAft>
                <a:spcPts val="744"/>
              </a:spcAft>
              <a:defRPr sz="3100" b="1">
                <a:solidFill>
                  <a:srgbClr val="102A3A"/>
                </a:solidFill>
                <a:latin typeface="Arial"/>
              </a:defRPr>
            </a:pPr>
            <a:r>
              <a:t>The deck maps to every evaluation criterion.</a:t>
            </a:r>
          </a:p>
        </p:txBody>
      </p:sp>
      <p:sp>
        <p:nvSpPr>
          <p:cNvPr id="14" name="TextBox 13"/>
          <p:cNvSpPr txBox="1"/>
          <p:nvPr/>
        </p:nvSpPr>
        <p:spPr>
          <a:xfrm>
            <a:off x="640080" y="1417320"/>
            <a:ext cx="10927080" cy="475488"/>
          </a:xfrm>
          <a:prstGeom prst="rect">
            <a:avLst/>
          </a:prstGeom>
          <a:noFill/>
        </p:spPr>
        <p:txBody>
          <a:bodyPr wrap="square" lIns="0" rIns="0" tIns="0" bIns="0">
            <a:spAutoFit/>
          </a:bodyPr>
          <a:lstStyle/>
          <a:p>
            <a:pPr>
              <a:lnSpc>
                <a:spcPct val="107000"/>
              </a:lnSpc>
              <a:spcBef>
                <a:spcPts val="0"/>
              </a:spcBef>
              <a:spcAft>
                <a:spcPts val="359"/>
              </a:spcAft>
              <a:defRPr sz="1500" b="0">
                <a:solidFill>
                  <a:srgbClr val="587080"/>
                </a:solidFill>
                <a:latin typeface="Arial"/>
              </a:defRPr>
            </a:pPr>
            <a:r>
              <a:t>Weights reproduced from the official challenge brief; no jury score is claimed.</a:t>
            </a:r>
          </a:p>
        </p:txBody>
      </p:sp>
      <p:cxnSp>
        <p:nvCxnSpPr>
          <p:cNvPr id="15" name="Connector 14"/>
          <p:cNvCxnSpPr/>
          <p:nvPr/>
        </p:nvCxnSpPr>
        <p:spPr>
          <a:xfrm>
            <a:off x="621792" y="6318504"/>
            <a:ext cx="10945368" cy="0"/>
          </a:xfrm>
          <a:prstGeom prst="line">
            <a:avLst/>
          </a:prstGeom>
          <a:ln w="8890">
            <a:solidFill>
              <a:srgbClr val="DCE5ED"/>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40080" y="6428232"/>
            <a:ext cx="9875520" cy="182880"/>
          </a:xfrm>
          <a:prstGeom prst="rect">
            <a:avLst/>
          </a:prstGeom>
          <a:noFill/>
        </p:spPr>
        <p:txBody>
          <a:bodyPr wrap="square" lIns="0" rIns="0" tIns="0" bIns="0">
            <a:spAutoFit/>
          </a:bodyPr>
          <a:lstStyle/>
          <a:p>
            <a:pPr>
              <a:lnSpc>
                <a:spcPct val="107000"/>
              </a:lnSpc>
              <a:spcBef>
                <a:spcPts val="0"/>
              </a:spcBef>
              <a:spcAft>
                <a:spcPts val="204"/>
              </a:spcAft>
              <a:defRPr sz="850" b="0">
                <a:solidFill>
                  <a:srgbClr val="587080"/>
                </a:solidFill>
                <a:latin typeface="Arial"/>
              </a:defRPr>
            </a:pPr>
            <a:r>
              <a:t>Challenge brief p.2; submission form pp.2–4</a:t>
            </a:r>
          </a:p>
        </p:txBody>
      </p:sp>
      <p:sp>
        <p:nvSpPr>
          <p:cNvPr id="17" name="TextBox 16"/>
          <p:cNvSpPr txBox="1"/>
          <p:nvPr/>
        </p:nvSpPr>
        <p:spPr>
          <a:xfrm>
            <a:off x="10881360" y="6409944"/>
            <a:ext cx="658368" cy="228600"/>
          </a:xfrm>
          <a:prstGeom prst="rect">
            <a:avLst/>
          </a:prstGeom>
          <a:noFill/>
        </p:spPr>
        <p:txBody>
          <a:bodyPr wrap="square" lIns="0" rIns="0" tIns="0" bIns="0">
            <a:spAutoFit/>
          </a:bodyPr>
          <a:lstStyle/>
          <a:p>
            <a:pPr algn="r">
              <a:lnSpc>
                <a:spcPct val="107000"/>
              </a:lnSpc>
              <a:spcBef>
                <a:spcPts val="0"/>
              </a:spcBef>
              <a:spcAft>
                <a:spcPts val="216"/>
              </a:spcAft>
              <a:defRPr sz="900" b="0">
                <a:solidFill>
                  <a:srgbClr val="587080"/>
                </a:solidFill>
                <a:latin typeface="Arial"/>
              </a:defRPr>
            </a:pPr>
            <a:r>
              <a:t>11 / 14</a:t>
            </a:r>
          </a:p>
        </p:txBody>
      </p:sp>
      <p:sp>
        <p:nvSpPr>
          <p:cNvPr id="18" name="Rectangle 17"/>
          <p:cNvSpPr/>
          <p:nvPr/>
        </p:nvSpPr>
        <p:spPr>
          <a:xfrm>
            <a:off x="685800" y="2075688"/>
            <a:ext cx="10780776" cy="438912"/>
          </a:xfrm>
          <a:prstGeom prst="rect">
            <a:avLst/>
          </a:prstGeom>
          <a:solidFill>
            <a:srgbClr val="10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2185416"/>
            <a:ext cx="2743200" cy="301751"/>
          </a:xfrm>
          <a:prstGeom prst="rect">
            <a:avLst/>
          </a:prstGeom>
          <a:noFill/>
        </p:spPr>
        <p:txBody>
          <a:bodyPr wrap="square" lIns="0" rIns="0" tIns="0" bIns="0">
            <a:spAutoFit/>
          </a:bodyPr>
          <a:lstStyle/>
          <a:p>
            <a:pPr>
              <a:lnSpc>
                <a:spcPct val="107000"/>
              </a:lnSpc>
              <a:spcBef>
                <a:spcPts val="0"/>
              </a:spcBef>
              <a:spcAft>
                <a:spcPts val="288"/>
              </a:spcAft>
              <a:defRPr sz="1200" b="1">
                <a:solidFill>
                  <a:srgbClr val="FFFFFF"/>
                </a:solidFill>
                <a:latin typeface="Arial"/>
              </a:defRPr>
            </a:pPr>
            <a:r>
              <a:t>Criterion</a:t>
            </a:r>
          </a:p>
        </p:txBody>
      </p:sp>
      <p:sp>
        <p:nvSpPr>
          <p:cNvPr id="20" name="TextBox 19"/>
          <p:cNvSpPr txBox="1"/>
          <p:nvPr/>
        </p:nvSpPr>
        <p:spPr>
          <a:xfrm>
            <a:off x="3794760" y="2185416"/>
            <a:ext cx="640080" cy="301751"/>
          </a:xfrm>
          <a:prstGeom prst="rect">
            <a:avLst/>
          </a:prstGeom>
          <a:noFill/>
        </p:spPr>
        <p:txBody>
          <a:bodyPr wrap="square" lIns="0" rIns="0" tIns="0" bIns="0">
            <a:spAutoFit/>
          </a:bodyPr>
          <a:lstStyle/>
          <a:p>
            <a:pPr>
              <a:lnSpc>
                <a:spcPct val="107000"/>
              </a:lnSpc>
              <a:spcBef>
                <a:spcPts val="0"/>
              </a:spcBef>
              <a:spcAft>
                <a:spcPts val="288"/>
              </a:spcAft>
              <a:defRPr sz="1200" b="1">
                <a:solidFill>
                  <a:srgbClr val="FFFFFF"/>
                </a:solidFill>
                <a:latin typeface="Arial"/>
              </a:defRPr>
            </a:pPr>
            <a:r>
              <a:t>Weight</a:t>
            </a:r>
          </a:p>
        </p:txBody>
      </p:sp>
      <p:sp>
        <p:nvSpPr>
          <p:cNvPr id="21" name="TextBox 20"/>
          <p:cNvSpPr txBox="1"/>
          <p:nvPr/>
        </p:nvSpPr>
        <p:spPr>
          <a:xfrm>
            <a:off x="4663440" y="2185416"/>
            <a:ext cx="6711696" cy="301751"/>
          </a:xfrm>
          <a:prstGeom prst="rect">
            <a:avLst/>
          </a:prstGeom>
          <a:noFill/>
        </p:spPr>
        <p:txBody>
          <a:bodyPr wrap="square" lIns="0" rIns="0" tIns="0" bIns="0">
            <a:spAutoFit/>
          </a:bodyPr>
          <a:lstStyle/>
          <a:p>
            <a:pPr>
              <a:lnSpc>
                <a:spcPct val="107000"/>
              </a:lnSpc>
              <a:spcBef>
                <a:spcPts val="0"/>
              </a:spcBef>
              <a:spcAft>
                <a:spcPts val="288"/>
              </a:spcAft>
              <a:defRPr sz="1200" b="1">
                <a:solidFill>
                  <a:srgbClr val="FFFFFF"/>
                </a:solidFill>
                <a:latin typeface="Arial"/>
              </a:defRPr>
            </a:pPr>
            <a:r>
              <a:t>Evidence in the main presentation</a:t>
            </a:r>
          </a:p>
        </p:txBody>
      </p:sp>
      <p:sp>
        <p:nvSpPr>
          <p:cNvPr id="22" name="Rectangle 21"/>
          <p:cNvSpPr/>
          <p:nvPr/>
        </p:nvSpPr>
        <p:spPr>
          <a:xfrm>
            <a:off x="685800" y="2514600"/>
            <a:ext cx="10780776" cy="5486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960" y="2633472"/>
            <a:ext cx="2724912" cy="384048"/>
          </a:xfrm>
          <a:prstGeom prst="rect">
            <a:avLst/>
          </a:prstGeom>
          <a:noFill/>
        </p:spPr>
        <p:txBody>
          <a:bodyPr wrap="square" lIns="0" rIns="0" tIns="0" bIns="0">
            <a:spAutoFit/>
          </a:bodyPr>
          <a:lstStyle/>
          <a:p>
            <a:pPr>
              <a:lnSpc>
                <a:spcPct val="107000"/>
              </a:lnSpc>
              <a:spcBef>
                <a:spcPts val="0"/>
              </a:spcBef>
              <a:spcAft>
                <a:spcPts val="359"/>
              </a:spcAft>
              <a:defRPr sz="1500" b="1">
                <a:solidFill>
                  <a:srgbClr val="102A3A"/>
                </a:solidFill>
                <a:latin typeface="Arial"/>
              </a:defRPr>
            </a:pPr>
            <a:r>
              <a:t>Technical quality</a:t>
            </a:r>
          </a:p>
        </p:txBody>
      </p:sp>
      <p:sp>
        <p:nvSpPr>
          <p:cNvPr id="24" name="TextBox 23"/>
          <p:cNvSpPr txBox="1"/>
          <p:nvPr/>
        </p:nvSpPr>
        <p:spPr>
          <a:xfrm>
            <a:off x="3794760" y="2633472"/>
            <a:ext cx="621792" cy="384048"/>
          </a:xfrm>
          <a:prstGeom prst="rect">
            <a:avLst/>
          </a:prstGeom>
          <a:noFill/>
        </p:spPr>
        <p:txBody>
          <a:bodyPr wrap="square" lIns="0" rIns="0" tIns="0" bIns="0">
            <a:spAutoFit/>
          </a:bodyPr>
          <a:lstStyle/>
          <a:p>
            <a:pPr>
              <a:lnSpc>
                <a:spcPct val="107000"/>
              </a:lnSpc>
              <a:spcBef>
                <a:spcPts val="0"/>
              </a:spcBef>
              <a:spcAft>
                <a:spcPts val="359"/>
              </a:spcAft>
              <a:defRPr sz="1500" b="0">
                <a:solidFill>
                  <a:srgbClr val="102A3A"/>
                </a:solidFill>
                <a:latin typeface="Arial"/>
              </a:defRPr>
            </a:pPr>
            <a:r>
              <a:t>30%</a:t>
            </a:r>
          </a:p>
        </p:txBody>
      </p:sp>
      <p:sp>
        <p:nvSpPr>
          <p:cNvPr id="25" name="TextBox 24"/>
          <p:cNvSpPr txBox="1"/>
          <p:nvPr/>
        </p:nvSpPr>
        <p:spPr>
          <a:xfrm>
            <a:off x="4663440" y="2633472"/>
            <a:ext cx="6693408" cy="384048"/>
          </a:xfrm>
          <a:prstGeom prst="rect">
            <a:avLst/>
          </a:prstGeom>
          <a:noFill/>
        </p:spPr>
        <p:txBody>
          <a:bodyPr wrap="square" lIns="0" rIns="0" tIns="0" bIns="0">
            <a:spAutoFit/>
          </a:bodyPr>
          <a:lstStyle/>
          <a:p>
            <a:pPr>
              <a:lnSpc>
                <a:spcPct val="107000"/>
              </a:lnSpc>
              <a:spcBef>
                <a:spcPts val="0"/>
              </a:spcBef>
              <a:spcAft>
                <a:spcPts val="359"/>
              </a:spcAft>
              <a:defRPr sz="1500" b="0">
                <a:solidFill>
                  <a:srgbClr val="102A3A"/>
                </a:solidFill>
                <a:latin typeface="Arial"/>
              </a:defRPr>
            </a:pPr>
            <a:r>
              <a:t>Constraint-aware method and probe concept; H04 example (3, 6).</a:t>
            </a:r>
          </a:p>
        </p:txBody>
      </p:sp>
      <p:cxnSp>
        <p:nvCxnSpPr>
          <p:cNvPr id="26" name="Connector 25"/>
          <p:cNvCxnSpPr/>
          <p:nvPr/>
        </p:nvCxnSpPr>
        <p:spPr>
          <a:xfrm>
            <a:off x="685800" y="3063240"/>
            <a:ext cx="10780776" cy="0"/>
          </a:xfrm>
          <a:prstGeom prst="line">
            <a:avLst/>
          </a:prstGeom>
          <a:ln w="7620">
            <a:solidFill>
              <a:srgbClr val="DCE5ED"/>
            </a:solidFill>
          </a:ln>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685800" y="3063240"/>
            <a:ext cx="10780776" cy="548640"/>
          </a:xfrm>
          <a:prstGeom prst="rect">
            <a:avLst/>
          </a:prstGeom>
          <a:solidFill>
            <a:srgbClr val="ECF1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2960" y="3182112"/>
            <a:ext cx="2724912" cy="384048"/>
          </a:xfrm>
          <a:prstGeom prst="rect">
            <a:avLst/>
          </a:prstGeom>
          <a:noFill/>
        </p:spPr>
        <p:txBody>
          <a:bodyPr wrap="square" lIns="0" rIns="0" tIns="0" bIns="0">
            <a:spAutoFit/>
          </a:bodyPr>
          <a:lstStyle/>
          <a:p>
            <a:pPr>
              <a:lnSpc>
                <a:spcPct val="107000"/>
              </a:lnSpc>
              <a:spcBef>
                <a:spcPts val="0"/>
              </a:spcBef>
              <a:spcAft>
                <a:spcPts val="359"/>
              </a:spcAft>
              <a:defRPr sz="1500" b="1">
                <a:solidFill>
                  <a:srgbClr val="102A3A"/>
                </a:solidFill>
                <a:latin typeface="Arial"/>
              </a:defRPr>
            </a:pPr>
            <a:r>
              <a:t>Use of AFS knowledge</a:t>
            </a:r>
          </a:p>
        </p:txBody>
      </p:sp>
      <p:sp>
        <p:nvSpPr>
          <p:cNvPr id="29" name="TextBox 28"/>
          <p:cNvSpPr txBox="1"/>
          <p:nvPr/>
        </p:nvSpPr>
        <p:spPr>
          <a:xfrm>
            <a:off x="3794760" y="3182112"/>
            <a:ext cx="621792" cy="384048"/>
          </a:xfrm>
          <a:prstGeom prst="rect">
            <a:avLst/>
          </a:prstGeom>
          <a:noFill/>
        </p:spPr>
        <p:txBody>
          <a:bodyPr wrap="square" lIns="0" rIns="0" tIns="0" bIns="0">
            <a:spAutoFit/>
          </a:bodyPr>
          <a:lstStyle/>
          <a:p>
            <a:pPr>
              <a:lnSpc>
                <a:spcPct val="107000"/>
              </a:lnSpc>
              <a:spcBef>
                <a:spcPts val="0"/>
              </a:spcBef>
              <a:spcAft>
                <a:spcPts val="359"/>
              </a:spcAft>
              <a:defRPr sz="1500" b="0">
                <a:solidFill>
                  <a:srgbClr val="102A3A"/>
                </a:solidFill>
                <a:latin typeface="Arial"/>
              </a:defRPr>
            </a:pPr>
            <a:r>
              <a:t>20%</a:t>
            </a:r>
          </a:p>
        </p:txBody>
      </p:sp>
      <p:sp>
        <p:nvSpPr>
          <p:cNvPr id="30" name="TextBox 29"/>
          <p:cNvSpPr txBox="1"/>
          <p:nvPr/>
        </p:nvSpPr>
        <p:spPr>
          <a:xfrm>
            <a:off x="4663440" y="3182112"/>
            <a:ext cx="6693408" cy="384048"/>
          </a:xfrm>
          <a:prstGeom prst="rect">
            <a:avLst/>
          </a:prstGeom>
          <a:noFill/>
        </p:spPr>
        <p:txBody>
          <a:bodyPr wrap="square" lIns="0" rIns="0" tIns="0" bIns="0">
            <a:spAutoFit/>
          </a:bodyPr>
          <a:lstStyle/>
          <a:p>
            <a:pPr>
              <a:lnSpc>
                <a:spcPct val="107000"/>
              </a:lnSpc>
              <a:spcBef>
                <a:spcPts val="0"/>
              </a:spcBef>
              <a:spcAft>
                <a:spcPts val="359"/>
              </a:spcAft>
              <a:defRPr sz="1500" b="0">
                <a:solidFill>
                  <a:srgbClr val="102A3A"/>
                </a:solidFill>
                <a:latin typeface="Arial"/>
              </a:defRPr>
            </a:pPr>
            <a:r>
              <a:t>Scoped corpus, citations and source checks (4, 8).</a:t>
            </a:r>
          </a:p>
        </p:txBody>
      </p:sp>
      <p:cxnSp>
        <p:nvCxnSpPr>
          <p:cNvPr id="31" name="Connector 30"/>
          <p:cNvCxnSpPr/>
          <p:nvPr/>
        </p:nvCxnSpPr>
        <p:spPr>
          <a:xfrm>
            <a:off x="685800" y="3611880"/>
            <a:ext cx="10780776" cy="0"/>
          </a:xfrm>
          <a:prstGeom prst="line">
            <a:avLst/>
          </a:prstGeom>
          <a:ln w="7620">
            <a:solidFill>
              <a:srgbClr val="DCE5ED"/>
            </a:solidFill>
          </a:ln>
        </p:spPr>
        <p:style>
          <a:lnRef idx="2">
            <a:schemeClr val="accent1"/>
          </a:lnRef>
          <a:fillRef idx="0">
            <a:schemeClr val="accent1"/>
          </a:fillRef>
          <a:effectRef idx="1">
            <a:schemeClr val="accent1"/>
          </a:effectRef>
          <a:fontRef idx="minor">
            <a:schemeClr val="tx1"/>
          </a:fontRef>
        </p:style>
      </p:cxnSp>
      <p:sp>
        <p:nvSpPr>
          <p:cNvPr id="32" name="Rectangle 31"/>
          <p:cNvSpPr/>
          <p:nvPr/>
        </p:nvSpPr>
        <p:spPr>
          <a:xfrm>
            <a:off x="685800" y="3611880"/>
            <a:ext cx="10780776" cy="5486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22960" y="3730752"/>
            <a:ext cx="2724912" cy="384048"/>
          </a:xfrm>
          <a:prstGeom prst="rect">
            <a:avLst/>
          </a:prstGeom>
          <a:noFill/>
        </p:spPr>
        <p:txBody>
          <a:bodyPr wrap="square" lIns="0" rIns="0" tIns="0" bIns="0">
            <a:spAutoFit/>
          </a:bodyPr>
          <a:lstStyle/>
          <a:p>
            <a:pPr>
              <a:lnSpc>
                <a:spcPct val="107000"/>
              </a:lnSpc>
              <a:spcBef>
                <a:spcPts val="0"/>
              </a:spcBef>
              <a:spcAft>
                <a:spcPts val="359"/>
              </a:spcAft>
              <a:defRPr sz="1500" b="1">
                <a:solidFill>
                  <a:srgbClr val="102A3A"/>
                </a:solidFill>
                <a:latin typeface="Arial"/>
              </a:defRPr>
            </a:pPr>
            <a:r>
              <a:t>Feasibility-study plan</a:t>
            </a:r>
          </a:p>
        </p:txBody>
      </p:sp>
      <p:sp>
        <p:nvSpPr>
          <p:cNvPr id="34" name="TextBox 33"/>
          <p:cNvSpPr txBox="1"/>
          <p:nvPr/>
        </p:nvSpPr>
        <p:spPr>
          <a:xfrm>
            <a:off x="3794760" y="3730752"/>
            <a:ext cx="621792" cy="384048"/>
          </a:xfrm>
          <a:prstGeom prst="rect">
            <a:avLst/>
          </a:prstGeom>
          <a:noFill/>
        </p:spPr>
        <p:txBody>
          <a:bodyPr wrap="square" lIns="0" rIns="0" tIns="0" bIns="0">
            <a:spAutoFit/>
          </a:bodyPr>
          <a:lstStyle/>
          <a:p>
            <a:pPr>
              <a:lnSpc>
                <a:spcPct val="107000"/>
              </a:lnSpc>
              <a:spcBef>
                <a:spcPts val="0"/>
              </a:spcBef>
              <a:spcAft>
                <a:spcPts val="359"/>
              </a:spcAft>
              <a:defRPr sz="1500" b="0">
                <a:solidFill>
                  <a:srgbClr val="102A3A"/>
                </a:solidFill>
                <a:latin typeface="Arial"/>
              </a:defRPr>
            </a:pPr>
            <a:r>
              <a:t>15%</a:t>
            </a:r>
          </a:p>
        </p:txBody>
      </p:sp>
      <p:sp>
        <p:nvSpPr>
          <p:cNvPr id="35" name="TextBox 34"/>
          <p:cNvSpPr txBox="1"/>
          <p:nvPr/>
        </p:nvSpPr>
        <p:spPr>
          <a:xfrm>
            <a:off x="4663440" y="3730752"/>
            <a:ext cx="6693408" cy="384048"/>
          </a:xfrm>
          <a:prstGeom prst="rect">
            <a:avLst/>
          </a:prstGeom>
          <a:noFill/>
        </p:spPr>
        <p:txBody>
          <a:bodyPr wrap="square" lIns="0" rIns="0" tIns="0" bIns="0">
            <a:spAutoFit/>
          </a:bodyPr>
          <a:lstStyle/>
          <a:p>
            <a:pPr>
              <a:lnSpc>
                <a:spcPct val="107000"/>
              </a:lnSpc>
              <a:spcBef>
                <a:spcPts val="0"/>
              </a:spcBef>
              <a:spcAft>
                <a:spcPts val="359"/>
              </a:spcAft>
              <a:defRPr sz="1500" b="0">
                <a:solidFill>
                  <a:srgbClr val="102A3A"/>
                </a:solidFill>
                <a:latin typeface="Arial"/>
              </a:defRPr>
            </a:pPr>
            <a:r>
              <a:t>Samples, references, comparisons and decision basis (7).</a:t>
            </a:r>
          </a:p>
        </p:txBody>
      </p:sp>
      <p:cxnSp>
        <p:nvCxnSpPr>
          <p:cNvPr id="36" name="Connector 35"/>
          <p:cNvCxnSpPr/>
          <p:nvPr/>
        </p:nvCxnSpPr>
        <p:spPr>
          <a:xfrm>
            <a:off x="685800" y="4160520"/>
            <a:ext cx="10780776" cy="0"/>
          </a:xfrm>
          <a:prstGeom prst="line">
            <a:avLst/>
          </a:prstGeom>
          <a:ln w="7620">
            <a:solidFill>
              <a:srgbClr val="DCE5ED"/>
            </a:solidFill>
          </a:ln>
        </p:spPr>
        <p:style>
          <a:lnRef idx="2">
            <a:schemeClr val="accent1"/>
          </a:lnRef>
          <a:fillRef idx="0">
            <a:schemeClr val="accent1"/>
          </a:fillRef>
          <a:effectRef idx="1">
            <a:schemeClr val="accent1"/>
          </a:effectRef>
          <a:fontRef idx="minor">
            <a:schemeClr val="tx1"/>
          </a:fontRef>
        </p:style>
      </p:cxnSp>
      <p:sp>
        <p:nvSpPr>
          <p:cNvPr id="37" name="Rectangle 36"/>
          <p:cNvSpPr/>
          <p:nvPr/>
        </p:nvSpPr>
        <p:spPr>
          <a:xfrm>
            <a:off x="685800" y="4160520"/>
            <a:ext cx="10780776" cy="548640"/>
          </a:xfrm>
          <a:prstGeom prst="rect">
            <a:avLst/>
          </a:prstGeom>
          <a:solidFill>
            <a:srgbClr val="ECF1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2960" y="4279392"/>
            <a:ext cx="2724912" cy="384048"/>
          </a:xfrm>
          <a:prstGeom prst="rect">
            <a:avLst/>
          </a:prstGeom>
          <a:noFill/>
        </p:spPr>
        <p:txBody>
          <a:bodyPr wrap="square" lIns="0" rIns="0" tIns="0" bIns="0">
            <a:spAutoFit/>
          </a:bodyPr>
          <a:lstStyle/>
          <a:p>
            <a:pPr>
              <a:lnSpc>
                <a:spcPct val="107000"/>
              </a:lnSpc>
              <a:spcBef>
                <a:spcPts val="0"/>
              </a:spcBef>
              <a:spcAft>
                <a:spcPts val="359"/>
              </a:spcAft>
              <a:defRPr sz="1500" b="1">
                <a:solidFill>
                  <a:srgbClr val="102A3A"/>
                </a:solidFill>
                <a:latin typeface="Arial"/>
              </a:defRPr>
            </a:pPr>
            <a:r>
              <a:t>Clarification &amp; uncertainty</a:t>
            </a:r>
          </a:p>
        </p:txBody>
      </p:sp>
      <p:sp>
        <p:nvSpPr>
          <p:cNvPr id="39" name="TextBox 38"/>
          <p:cNvSpPr txBox="1"/>
          <p:nvPr/>
        </p:nvSpPr>
        <p:spPr>
          <a:xfrm>
            <a:off x="3794760" y="4279392"/>
            <a:ext cx="621792" cy="384048"/>
          </a:xfrm>
          <a:prstGeom prst="rect">
            <a:avLst/>
          </a:prstGeom>
          <a:noFill/>
        </p:spPr>
        <p:txBody>
          <a:bodyPr wrap="square" lIns="0" rIns="0" tIns="0" bIns="0">
            <a:spAutoFit/>
          </a:bodyPr>
          <a:lstStyle/>
          <a:p>
            <a:pPr>
              <a:lnSpc>
                <a:spcPct val="107000"/>
              </a:lnSpc>
              <a:spcBef>
                <a:spcPts val="0"/>
              </a:spcBef>
              <a:spcAft>
                <a:spcPts val="359"/>
              </a:spcAft>
              <a:defRPr sz="1500" b="0">
                <a:solidFill>
                  <a:srgbClr val="102A3A"/>
                </a:solidFill>
                <a:latin typeface="Arial"/>
              </a:defRPr>
            </a:pPr>
            <a:r>
              <a:t>15%</a:t>
            </a:r>
          </a:p>
        </p:txBody>
      </p:sp>
      <p:sp>
        <p:nvSpPr>
          <p:cNvPr id="40" name="TextBox 39"/>
          <p:cNvSpPr txBox="1"/>
          <p:nvPr/>
        </p:nvSpPr>
        <p:spPr>
          <a:xfrm>
            <a:off x="4663440" y="4279392"/>
            <a:ext cx="6693408" cy="384048"/>
          </a:xfrm>
          <a:prstGeom prst="rect">
            <a:avLst/>
          </a:prstGeom>
          <a:noFill/>
        </p:spPr>
        <p:txBody>
          <a:bodyPr wrap="square" lIns="0" rIns="0" tIns="0" bIns="0">
            <a:spAutoFit/>
          </a:bodyPr>
          <a:lstStyle/>
          <a:p>
            <a:pPr>
              <a:lnSpc>
                <a:spcPct val="107000"/>
              </a:lnSpc>
              <a:spcBef>
                <a:spcPts val="0"/>
              </a:spcBef>
              <a:spcAft>
                <a:spcPts val="359"/>
              </a:spcAft>
              <a:defRPr sz="1500" b="0">
                <a:solidFill>
                  <a:srgbClr val="102A3A"/>
                </a:solidFill>
                <a:latin typeface="Arial"/>
              </a:defRPr>
            </a:pPr>
            <a:r>
              <a:t>Review dialog, missing facts and computed confidence (5, 8, 9).</a:t>
            </a:r>
          </a:p>
        </p:txBody>
      </p:sp>
      <p:cxnSp>
        <p:nvCxnSpPr>
          <p:cNvPr id="41" name="Connector 40"/>
          <p:cNvCxnSpPr/>
          <p:nvPr/>
        </p:nvCxnSpPr>
        <p:spPr>
          <a:xfrm>
            <a:off x="685800" y="4709159"/>
            <a:ext cx="10780776" cy="0"/>
          </a:xfrm>
          <a:prstGeom prst="line">
            <a:avLst/>
          </a:prstGeom>
          <a:ln w="7620">
            <a:solidFill>
              <a:srgbClr val="DCE5ED"/>
            </a:solidFill>
          </a:ln>
        </p:spPr>
        <p:style>
          <a:lnRef idx="2">
            <a:schemeClr val="accent1"/>
          </a:lnRef>
          <a:fillRef idx="0">
            <a:schemeClr val="accent1"/>
          </a:fillRef>
          <a:effectRef idx="1">
            <a:schemeClr val="accent1"/>
          </a:effectRef>
          <a:fontRef idx="minor">
            <a:schemeClr val="tx1"/>
          </a:fontRef>
        </p:style>
      </p:cxnSp>
      <p:sp>
        <p:nvSpPr>
          <p:cNvPr id="42" name="Rectangle 41"/>
          <p:cNvSpPr/>
          <p:nvPr/>
        </p:nvSpPr>
        <p:spPr>
          <a:xfrm>
            <a:off x="685800" y="4709160"/>
            <a:ext cx="10780776" cy="5486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22960" y="4828032"/>
            <a:ext cx="2724912" cy="384048"/>
          </a:xfrm>
          <a:prstGeom prst="rect">
            <a:avLst/>
          </a:prstGeom>
          <a:noFill/>
        </p:spPr>
        <p:txBody>
          <a:bodyPr wrap="square" lIns="0" rIns="0" tIns="0" bIns="0">
            <a:spAutoFit/>
          </a:bodyPr>
          <a:lstStyle/>
          <a:p>
            <a:pPr>
              <a:lnSpc>
                <a:spcPct val="107000"/>
              </a:lnSpc>
              <a:spcBef>
                <a:spcPts val="0"/>
              </a:spcBef>
              <a:spcAft>
                <a:spcPts val="359"/>
              </a:spcAft>
              <a:defRPr sz="1500" b="1">
                <a:solidFill>
                  <a:srgbClr val="102A3A"/>
                </a:solidFill>
                <a:latin typeface="Arial"/>
              </a:defRPr>
            </a:pPr>
            <a:r>
              <a:t>Explainability</a:t>
            </a:r>
          </a:p>
        </p:txBody>
      </p:sp>
      <p:sp>
        <p:nvSpPr>
          <p:cNvPr id="44" name="TextBox 43"/>
          <p:cNvSpPr txBox="1"/>
          <p:nvPr/>
        </p:nvSpPr>
        <p:spPr>
          <a:xfrm>
            <a:off x="3794760" y="4828032"/>
            <a:ext cx="621792" cy="384048"/>
          </a:xfrm>
          <a:prstGeom prst="rect">
            <a:avLst/>
          </a:prstGeom>
          <a:noFill/>
        </p:spPr>
        <p:txBody>
          <a:bodyPr wrap="square" lIns="0" rIns="0" tIns="0" bIns="0">
            <a:spAutoFit/>
          </a:bodyPr>
          <a:lstStyle/>
          <a:p>
            <a:pPr>
              <a:lnSpc>
                <a:spcPct val="107000"/>
              </a:lnSpc>
              <a:spcBef>
                <a:spcPts val="0"/>
              </a:spcBef>
              <a:spcAft>
                <a:spcPts val="359"/>
              </a:spcAft>
              <a:defRPr sz="1500" b="0">
                <a:solidFill>
                  <a:srgbClr val="102A3A"/>
                </a:solidFill>
                <a:latin typeface="Arial"/>
              </a:defRPr>
            </a:pPr>
            <a:r>
              <a:t>10%</a:t>
            </a:r>
          </a:p>
        </p:txBody>
      </p:sp>
      <p:sp>
        <p:nvSpPr>
          <p:cNvPr id="45" name="TextBox 44"/>
          <p:cNvSpPr txBox="1"/>
          <p:nvPr/>
        </p:nvSpPr>
        <p:spPr>
          <a:xfrm>
            <a:off x="4663440" y="4828032"/>
            <a:ext cx="6693408" cy="384048"/>
          </a:xfrm>
          <a:prstGeom prst="rect">
            <a:avLst/>
          </a:prstGeom>
          <a:noFill/>
        </p:spPr>
        <p:txBody>
          <a:bodyPr wrap="square" lIns="0" rIns="0" tIns="0" bIns="0">
            <a:spAutoFit/>
          </a:bodyPr>
          <a:lstStyle/>
          <a:p>
            <a:pPr>
              <a:lnSpc>
                <a:spcPct val="107000"/>
              </a:lnSpc>
              <a:spcBef>
                <a:spcPts val="0"/>
              </a:spcBef>
              <a:spcAft>
                <a:spcPts val="359"/>
              </a:spcAft>
              <a:defRPr sz="1500" b="0">
                <a:solidFill>
                  <a:srgbClr val="102A3A"/>
                </a:solidFill>
                <a:latin typeface="Arial"/>
              </a:defRPr>
            </a:pPr>
            <a:r>
              <a:t>Auditable pipeline and visible verification defects (3, 8).</a:t>
            </a:r>
          </a:p>
        </p:txBody>
      </p:sp>
      <p:cxnSp>
        <p:nvCxnSpPr>
          <p:cNvPr id="46" name="Connector 45"/>
          <p:cNvCxnSpPr/>
          <p:nvPr/>
        </p:nvCxnSpPr>
        <p:spPr>
          <a:xfrm>
            <a:off x="685800" y="5257800"/>
            <a:ext cx="10780776" cy="0"/>
          </a:xfrm>
          <a:prstGeom prst="line">
            <a:avLst/>
          </a:prstGeom>
          <a:ln w="7620">
            <a:solidFill>
              <a:srgbClr val="DCE5ED"/>
            </a:solidFill>
          </a:ln>
        </p:spPr>
        <p:style>
          <a:lnRef idx="2">
            <a:schemeClr val="accent1"/>
          </a:lnRef>
          <a:fillRef idx="0">
            <a:schemeClr val="accent1"/>
          </a:fillRef>
          <a:effectRef idx="1">
            <a:schemeClr val="accent1"/>
          </a:effectRef>
          <a:fontRef idx="minor">
            <a:schemeClr val="tx1"/>
          </a:fontRef>
        </p:style>
      </p:cxnSp>
      <p:sp>
        <p:nvSpPr>
          <p:cNvPr id="47" name="Rectangle 46"/>
          <p:cNvSpPr/>
          <p:nvPr/>
        </p:nvSpPr>
        <p:spPr>
          <a:xfrm>
            <a:off x="685800" y="5257800"/>
            <a:ext cx="10780776" cy="548640"/>
          </a:xfrm>
          <a:prstGeom prst="rect">
            <a:avLst/>
          </a:prstGeom>
          <a:solidFill>
            <a:srgbClr val="ECF1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22960" y="5376672"/>
            <a:ext cx="2724912" cy="384048"/>
          </a:xfrm>
          <a:prstGeom prst="rect">
            <a:avLst/>
          </a:prstGeom>
          <a:noFill/>
        </p:spPr>
        <p:txBody>
          <a:bodyPr wrap="square" lIns="0" rIns="0" tIns="0" bIns="0">
            <a:spAutoFit/>
          </a:bodyPr>
          <a:lstStyle/>
          <a:p>
            <a:pPr>
              <a:lnSpc>
                <a:spcPct val="107000"/>
              </a:lnSpc>
              <a:spcBef>
                <a:spcPts val="0"/>
              </a:spcBef>
              <a:spcAft>
                <a:spcPts val="359"/>
              </a:spcAft>
              <a:defRPr sz="1500" b="1">
                <a:solidFill>
                  <a:srgbClr val="102A3A"/>
                </a:solidFill>
                <a:latin typeface="Arial"/>
              </a:defRPr>
            </a:pPr>
            <a:r>
              <a:t>Prototype &amp; presentation</a:t>
            </a:r>
          </a:p>
        </p:txBody>
      </p:sp>
      <p:sp>
        <p:nvSpPr>
          <p:cNvPr id="49" name="TextBox 48"/>
          <p:cNvSpPr txBox="1"/>
          <p:nvPr/>
        </p:nvSpPr>
        <p:spPr>
          <a:xfrm>
            <a:off x="3794760" y="5376672"/>
            <a:ext cx="621792" cy="384048"/>
          </a:xfrm>
          <a:prstGeom prst="rect">
            <a:avLst/>
          </a:prstGeom>
          <a:noFill/>
        </p:spPr>
        <p:txBody>
          <a:bodyPr wrap="square" lIns="0" rIns="0" tIns="0" bIns="0">
            <a:spAutoFit/>
          </a:bodyPr>
          <a:lstStyle/>
          <a:p>
            <a:pPr>
              <a:lnSpc>
                <a:spcPct val="107000"/>
              </a:lnSpc>
              <a:spcBef>
                <a:spcPts val="0"/>
              </a:spcBef>
              <a:spcAft>
                <a:spcPts val="359"/>
              </a:spcAft>
              <a:defRPr sz="1500" b="0">
                <a:solidFill>
                  <a:srgbClr val="102A3A"/>
                </a:solidFill>
                <a:latin typeface="Arial"/>
              </a:defRPr>
            </a:pPr>
            <a:r>
              <a:t>10%</a:t>
            </a:r>
          </a:p>
        </p:txBody>
      </p:sp>
      <p:sp>
        <p:nvSpPr>
          <p:cNvPr id="50" name="TextBox 49"/>
          <p:cNvSpPr txBox="1"/>
          <p:nvPr/>
        </p:nvSpPr>
        <p:spPr>
          <a:xfrm>
            <a:off x="4663440" y="5376672"/>
            <a:ext cx="6693408" cy="384048"/>
          </a:xfrm>
          <a:prstGeom prst="rect">
            <a:avLst/>
          </a:prstGeom>
          <a:noFill/>
        </p:spPr>
        <p:txBody>
          <a:bodyPr wrap="square" lIns="0" rIns="0" tIns="0" bIns="0">
            <a:spAutoFit/>
          </a:bodyPr>
          <a:lstStyle/>
          <a:p>
            <a:pPr>
              <a:lnSpc>
                <a:spcPct val="107000"/>
              </a:lnSpc>
              <a:spcBef>
                <a:spcPts val="0"/>
              </a:spcBef>
              <a:spcAft>
                <a:spcPts val="359"/>
              </a:spcAft>
              <a:defRPr sz="1500" b="0">
                <a:solidFill>
                  <a:srgbClr val="102A3A"/>
                </a:solidFill>
                <a:latin typeface="Arial"/>
              </a:defRPr>
            </a:pPr>
            <a:r>
              <a:t>Current UI, timed demo and reproducible repository (5).</a:t>
            </a:r>
          </a:p>
        </p:txBody>
      </p:sp>
      <p:cxnSp>
        <p:nvCxnSpPr>
          <p:cNvPr id="51" name="Connector 50"/>
          <p:cNvCxnSpPr/>
          <p:nvPr/>
        </p:nvCxnSpPr>
        <p:spPr>
          <a:xfrm>
            <a:off x="685800" y="5806440"/>
            <a:ext cx="10780776" cy="0"/>
          </a:xfrm>
          <a:prstGeom prst="line">
            <a:avLst/>
          </a:prstGeom>
          <a:ln w="7620">
            <a:solidFill>
              <a:srgbClr val="DCE5ED"/>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3F6FA"/>
        </a:solidFill>
        <a:effectLst/>
      </p:bgPr>
    </p:bg>
    <p:spTree>
      <p:nvGrpSpPr>
        <p:cNvPr id="1" name=""/>
        <p:cNvGrpSpPr/>
        <p:nvPr/>
      </p:nvGrpSpPr>
      <p:grpSpPr/>
      <p:sp>
        <p:nvSpPr>
          <p:cNvPr id="2" name="Rectangle 1"/>
          <p:cNvSpPr/>
          <p:nvPr/>
        </p:nvSpPr>
        <p:spPr>
          <a:xfrm>
            <a:off x="0" y="0"/>
            <a:ext cx="1223771" cy="50292"/>
          </a:xfrm>
          <a:prstGeom prst="rect">
            <a:avLst/>
          </a:prstGeom>
          <a:solidFill>
            <a:srgbClr val="7044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19199" y="0"/>
            <a:ext cx="1223771" cy="50292"/>
          </a:xfrm>
          <a:prstGeom prst="rect">
            <a:avLst/>
          </a:prstGeom>
          <a:solidFill>
            <a:srgbClr val="5E4D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438399" y="0"/>
            <a:ext cx="1223771" cy="50292"/>
          </a:xfrm>
          <a:prstGeom prst="rect">
            <a:avLst/>
          </a:prstGeom>
          <a:solidFill>
            <a:srgbClr val="426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57599" y="0"/>
            <a:ext cx="1223771" cy="50292"/>
          </a:xfrm>
          <a:prstGeom prst="rect">
            <a:avLst/>
          </a:prstGeom>
          <a:solidFill>
            <a:srgbClr val="2886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876799" y="0"/>
            <a:ext cx="1223771" cy="50292"/>
          </a:xfrm>
          <a:prstGeom prst="rect">
            <a:avLst/>
          </a:prstGeom>
          <a:solidFill>
            <a:srgbClr val="1591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095999" y="0"/>
            <a:ext cx="1223771" cy="50292"/>
          </a:xfrm>
          <a:prstGeom prst="rect">
            <a:avLst/>
          </a:prstGeom>
          <a:solidFill>
            <a:srgbClr val="2999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199" y="0"/>
            <a:ext cx="1223771" cy="50292"/>
          </a:xfrm>
          <a:prstGeom prst="rect">
            <a:avLst/>
          </a:prstGeom>
          <a:solidFill>
            <a:srgbClr val="7DAD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534399" y="0"/>
            <a:ext cx="1223771" cy="50292"/>
          </a:xfrm>
          <a:prstGeom prst="rect">
            <a:avLst/>
          </a:prstGeom>
          <a:solidFill>
            <a:srgbClr val="C6A6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753599" y="0"/>
            <a:ext cx="1223771" cy="50292"/>
          </a:xfrm>
          <a:prstGeom prst="rect">
            <a:avLst/>
          </a:prstGeom>
          <a:solidFill>
            <a:srgbClr val="CC7B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0972799" y="0"/>
            <a:ext cx="1223771" cy="50292"/>
          </a:xfrm>
          <a:prstGeom prst="rect">
            <a:avLst/>
          </a:prstGeom>
          <a:solidFill>
            <a:srgbClr val="B84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1792" y="365760"/>
            <a:ext cx="10972800" cy="246888"/>
          </a:xfrm>
          <a:prstGeom prst="rect">
            <a:avLst/>
          </a:prstGeom>
          <a:noFill/>
        </p:spPr>
        <p:txBody>
          <a:bodyPr wrap="square" lIns="0" rIns="0" tIns="0" bIns="0">
            <a:spAutoFit/>
          </a:bodyPr>
          <a:lstStyle/>
          <a:p>
            <a:pPr>
              <a:lnSpc>
                <a:spcPct val="107000"/>
              </a:lnSpc>
              <a:spcBef>
                <a:spcPts val="0"/>
              </a:spcBef>
              <a:spcAft>
                <a:spcPts val="252"/>
              </a:spcAft>
              <a:defRPr sz="1050" b="1">
                <a:solidFill>
                  <a:srgbClr val="087F8C"/>
                </a:solidFill>
                <a:latin typeface="Arial"/>
              </a:defRPr>
            </a:pPr>
            <a:r>
              <a:t>APPENDIX B / STRUCTURED OUTPUT</a:t>
            </a:r>
          </a:p>
        </p:txBody>
      </p:sp>
      <p:sp>
        <p:nvSpPr>
          <p:cNvPr id="13" name="TextBox 12"/>
          <p:cNvSpPr txBox="1"/>
          <p:nvPr/>
        </p:nvSpPr>
        <p:spPr>
          <a:xfrm>
            <a:off x="621792" y="841248"/>
            <a:ext cx="10972800" cy="941832"/>
          </a:xfrm>
          <a:prstGeom prst="rect">
            <a:avLst/>
          </a:prstGeom>
          <a:noFill/>
        </p:spPr>
        <p:txBody>
          <a:bodyPr wrap="square" lIns="0" rIns="0" tIns="0" bIns="0">
            <a:spAutoFit/>
          </a:bodyPr>
          <a:lstStyle/>
          <a:p>
            <a:pPr>
              <a:lnSpc>
                <a:spcPct val="107000"/>
              </a:lnSpc>
              <a:spcBef>
                <a:spcPts val="0"/>
              </a:spcBef>
              <a:spcAft>
                <a:spcPts val="744"/>
              </a:spcAft>
              <a:defRPr sz="3100" b="1">
                <a:solidFill>
                  <a:srgbClr val="102A3A"/>
                </a:solidFill>
                <a:latin typeface="Arial"/>
              </a:defRPr>
            </a:pPr>
            <a:r>
              <a:t>One assessment, eleven review sections.</a:t>
            </a:r>
          </a:p>
        </p:txBody>
      </p:sp>
      <p:sp>
        <p:nvSpPr>
          <p:cNvPr id="14" name="TextBox 13"/>
          <p:cNvSpPr txBox="1"/>
          <p:nvPr/>
        </p:nvSpPr>
        <p:spPr>
          <a:xfrm>
            <a:off x="640080" y="1417320"/>
            <a:ext cx="10927080" cy="475488"/>
          </a:xfrm>
          <a:prstGeom prst="rect">
            <a:avLst/>
          </a:prstGeom>
          <a:noFill/>
        </p:spPr>
        <p:txBody>
          <a:bodyPr wrap="square" lIns="0" rIns="0" tIns="0" bIns="0">
            <a:spAutoFit/>
          </a:bodyPr>
          <a:lstStyle/>
          <a:p>
            <a:pPr>
              <a:lnSpc>
                <a:spcPct val="107000"/>
              </a:lnSpc>
              <a:spcBef>
                <a:spcPts val="0"/>
              </a:spcBef>
              <a:spcAft>
                <a:spcPts val="359"/>
              </a:spcAft>
              <a:defRPr sz="1500" b="0">
                <a:solidFill>
                  <a:srgbClr val="587080"/>
                </a:solidFill>
                <a:latin typeface="Arial"/>
              </a:defRPr>
            </a:pPr>
            <a:r>
              <a:t>The page and Markdown export share the same outline; Setup Overview is separate.</a:t>
            </a:r>
          </a:p>
        </p:txBody>
      </p:sp>
      <p:cxnSp>
        <p:nvCxnSpPr>
          <p:cNvPr id="15" name="Connector 14"/>
          <p:cNvCxnSpPr/>
          <p:nvPr/>
        </p:nvCxnSpPr>
        <p:spPr>
          <a:xfrm>
            <a:off x="621792" y="6318504"/>
            <a:ext cx="10945368" cy="0"/>
          </a:xfrm>
          <a:prstGeom prst="line">
            <a:avLst/>
          </a:prstGeom>
          <a:ln w="8890">
            <a:solidFill>
              <a:srgbClr val="DCE5ED"/>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40080" y="6428232"/>
            <a:ext cx="9875520" cy="182880"/>
          </a:xfrm>
          <a:prstGeom prst="rect">
            <a:avLst/>
          </a:prstGeom>
          <a:noFill/>
        </p:spPr>
        <p:txBody>
          <a:bodyPr wrap="square" lIns="0" rIns="0" tIns="0" bIns="0">
            <a:spAutoFit/>
          </a:bodyPr>
          <a:lstStyle/>
          <a:p>
            <a:pPr>
              <a:lnSpc>
                <a:spcPct val="107000"/>
              </a:lnSpc>
              <a:spcBef>
                <a:spcPts val="0"/>
              </a:spcBef>
              <a:spcAft>
                <a:spcPts val="204"/>
              </a:spcAft>
              <a:defRPr sz="850" b="0">
                <a:solidFill>
                  <a:srgbClr val="587080"/>
                </a:solidFill>
                <a:latin typeface="Arial"/>
              </a:defRPr>
            </a:pPr>
            <a:r>
              <a:t>docs/frontend-integration.md; backend/app/render/outline.py; current result presenter</a:t>
            </a:r>
          </a:p>
        </p:txBody>
      </p:sp>
      <p:sp>
        <p:nvSpPr>
          <p:cNvPr id="17" name="TextBox 16"/>
          <p:cNvSpPr txBox="1"/>
          <p:nvPr/>
        </p:nvSpPr>
        <p:spPr>
          <a:xfrm>
            <a:off x="10881360" y="6409944"/>
            <a:ext cx="658368" cy="228600"/>
          </a:xfrm>
          <a:prstGeom prst="rect">
            <a:avLst/>
          </a:prstGeom>
          <a:noFill/>
        </p:spPr>
        <p:txBody>
          <a:bodyPr wrap="square" lIns="0" rIns="0" tIns="0" bIns="0">
            <a:spAutoFit/>
          </a:bodyPr>
          <a:lstStyle/>
          <a:p>
            <a:pPr algn="r">
              <a:lnSpc>
                <a:spcPct val="107000"/>
              </a:lnSpc>
              <a:spcBef>
                <a:spcPts val="0"/>
              </a:spcBef>
              <a:spcAft>
                <a:spcPts val="216"/>
              </a:spcAft>
              <a:defRPr sz="900" b="0">
                <a:solidFill>
                  <a:srgbClr val="587080"/>
                </a:solidFill>
                <a:latin typeface="Arial"/>
              </a:defRPr>
            </a:pPr>
            <a:r>
              <a:t>12 / 14</a:t>
            </a:r>
          </a:p>
        </p:txBody>
      </p:sp>
      <p:sp>
        <p:nvSpPr>
          <p:cNvPr id="18" name="Rounded Rectangle 17"/>
          <p:cNvSpPr/>
          <p:nvPr/>
        </p:nvSpPr>
        <p:spPr>
          <a:xfrm>
            <a:off x="694944" y="2075688"/>
            <a:ext cx="5303520" cy="475488"/>
          </a:xfrm>
          <a:prstGeom prst="roundRect">
            <a:avLst>
              <a:gd name="adj" fmla="val 18000"/>
            </a:avLst>
          </a:prstGeom>
          <a:solidFill>
            <a:srgbClr val="FFFFFF"/>
          </a:solidFill>
          <a:ln w="8890">
            <a:solidFill>
              <a:srgbClr val="DC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41248" y="2185416"/>
            <a:ext cx="438912" cy="228600"/>
          </a:xfrm>
          <a:prstGeom prst="rect">
            <a:avLst/>
          </a:prstGeom>
          <a:noFill/>
        </p:spPr>
        <p:txBody>
          <a:bodyPr wrap="square" lIns="0" rIns="0" tIns="0" bIns="0">
            <a:spAutoFit/>
          </a:bodyPr>
          <a:lstStyle/>
          <a:p>
            <a:pPr>
              <a:lnSpc>
                <a:spcPct val="107000"/>
              </a:lnSpc>
              <a:spcBef>
                <a:spcPts val="0"/>
              </a:spcBef>
              <a:spcAft>
                <a:spcPts val="312"/>
              </a:spcAft>
              <a:defRPr sz="1300" b="1">
                <a:solidFill>
                  <a:srgbClr val="087F8C"/>
                </a:solidFill>
                <a:latin typeface="Arial"/>
              </a:defRPr>
            </a:pPr>
            <a:r>
              <a:t>01</a:t>
            </a:r>
          </a:p>
        </p:txBody>
      </p:sp>
      <p:sp>
        <p:nvSpPr>
          <p:cNvPr id="20" name="TextBox 19"/>
          <p:cNvSpPr txBox="1"/>
          <p:nvPr/>
        </p:nvSpPr>
        <p:spPr>
          <a:xfrm>
            <a:off x="1399032" y="2185416"/>
            <a:ext cx="4416552" cy="256032"/>
          </a:xfrm>
          <a:prstGeom prst="rect">
            <a:avLst/>
          </a:prstGeom>
          <a:noFill/>
        </p:spPr>
        <p:txBody>
          <a:bodyPr wrap="square" lIns="0" rIns="0" tIns="0" bIns="0">
            <a:spAutoFit/>
          </a:bodyPr>
          <a:lstStyle/>
          <a:p>
            <a:pPr>
              <a:lnSpc>
                <a:spcPct val="107000"/>
              </a:lnSpc>
              <a:spcBef>
                <a:spcPts val="0"/>
              </a:spcBef>
              <a:spcAft>
                <a:spcPts val="408"/>
              </a:spcAft>
              <a:defRPr sz="1700" b="1">
                <a:solidFill>
                  <a:srgbClr val="102A3A"/>
                </a:solidFill>
                <a:latin typeface="Arial"/>
              </a:defRPr>
            </a:pPr>
            <a:r>
              <a:t>Decision Status</a:t>
            </a:r>
          </a:p>
        </p:txBody>
      </p:sp>
      <p:sp>
        <p:nvSpPr>
          <p:cNvPr id="21" name="Rounded Rectangle 20"/>
          <p:cNvSpPr/>
          <p:nvPr/>
        </p:nvSpPr>
        <p:spPr>
          <a:xfrm>
            <a:off x="694944" y="2660904"/>
            <a:ext cx="5303520" cy="475488"/>
          </a:xfrm>
          <a:prstGeom prst="roundRect">
            <a:avLst>
              <a:gd name="adj" fmla="val 18000"/>
            </a:avLst>
          </a:prstGeom>
          <a:solidFill>
            <a:srgbClr val="FFFFFF"/>
          </a:solidFill>
          <a:ln w="8890">
            <a:solidFill>
              <a:srgbClr val="DC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41248" y="2770632"/>
            <a:ext cx="438912" cy="228600"/>
          </a:xfrm>
          <a:prstGeom prst="rect">
            <a:avLst/>
          </a:prstGeom>
          <a:noFill/>
        </p:spPr>
        <p:txBody>
          <a:bodyPr wrap="square" lIns="0" rIns="0" tIns="0" bIns="0">
            <a:spAutoFit/>
          </a:bodyPr>
          <a:lstStyle/>
          <a:p>
            <a:pPr>
              <a:lnSpc>
                <a:spcPct val="107000"/>
              </a:lnSpc>
              <a:spcBef>
                <a:spcPts val="0"/>
              </a:spcBef>
              <a:spcAft>
                <a:spcPts val="312"/>
              </a:spcAft>
              <a:defRPr sz="1300" b="1">
                <a:solidFill>
                  <a:srgbClr val="087F8C"/>
                </a:solidFill>
                <a:latin typeface="Arial"/>
              </a:defRPr>
            </a:pPr>
            <a:r>
              <a:t>02</a:t>
            </a:r>
          </a:p>
        </p:txBody>
      </p:sp>
      <p:sp>
        <p:nvSpPr>
          <p:cNvPr id="23" name="TextBox 22"/>
          <p:cNvSpPr txBox="1"/>
          <p:nvPr/>
        </p:nvSpPr>
        <p:spPr>
          <a:xfrm>
            <a:off x="1399032" y="2770632"/>
            <a:ext cx="4416552" cy="256032"/>
          </a:xfrm>
          <a:prstGeom prst="rect">
            <a:avLst/>
          </a:prstGeom>
          <a:noFill/>
        </p:spPr>
        <p:txBody>
          <a:bodyPr wrap="square" lIns="0" rIns="0" tIns="0" bIns="0">
            <a:spAutoFit/>
          </a:bodyPr>
          <a:lstStyle/>
          <a:p>
            <a:pPr>
              <a:lnSpc>
                <a:spcPct val="107000"/>
              </a:lnSpc>
              <a:spcBef>
                <a:spcPts val="0"/>
              </a:spcBef>
              <a:spcAft>
                <a:spcPts val="408"/>
              </a:spcAft>
              <a:defRPr sz="1700" b="1">
                <a:solidFill>
                  <a:srgbClr val="102A3A"/>
                </a:solidFill>
                <a:latin typeface="Arial"/>
              </a:defRPr>
            </a:pPr>
            <a:r>
              <a:t>Requirements stated</a:t>
            </a:r>
          </a:p>
        </p:txBody>
      </p:sp>
      <p:sp>
        <p:nvSpPr>
          <p:cNvPr id="24" name="Rounded Rectangle 23"/>
          <p:cNvSpPr/>
          <p:nvPr/>
        </p:nvSpPr>
        <p:spPr>
          <a:xfrm>
            <a:off x="694944" y="3246120"/>
            <a:ext cx="5303520" cy="475488"/>
          </a:xfrm>
          <a:prstGeom prst="roundRect">
            <a:avLst>
              <a:gd name="adj" fmla="val 18000"/>
            </a:avLst>
          </a:prstGeom>
          <a:solidFill>
            <a:srgbClr val="FFFFFF"/>
          </a:solidFill>
          <a:ln w="8890">
            <a:solidFill>
              <a:srgbClr val="DC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41248" y="3355848"/>
            <a:ext cx="438912" cy="228600"/>
          </a:xfrm>
          <a:prstGeom prst="rect">
            <a:avLst/>
          </a:prstGeom>
          <a:noFill/>
        </p:spPr>
        <p:txBody>
          <a:bodyPr wrap="square" lIns="0" rIns="0" tIns="0" bIns="0">
            <a:spAutoFit/>
          </a:bodyPr>
          <a:lstStyle/>
          <a:p>
            <a:pPr>
              <a:lnSpc>
                <a:spcPct val="107000"/>
              </a:lnSpc>
              <a:spcBef>
                <a:spcPts val="0"/>
              </a:spcBef>
              <a:spcAft>
                <a:spcPts val="312"/>
              </a:spcAft>
              <a:defRPr sz="1300" b="1">
                <a:solidFill>
                  <a:srgbClr val="087F8C"/>
                </a:solidFill>
                <a:latin typeface="Arial"/>
              </a:defRPr>
            </a:pPr>
            <a:r>
              <a:t>03</a:t>
            </a:r>
          </a:p>
        </p:txBody>
      </p:sp>
      <p:sp>
        <p:nvSpPr>
          <p:cNvPr id="26" name="TextBox 25"/>
          <p:cNvSpPr txBox="1"/>
          <p:nvPr/>
        </p:nvSpPr>
        <p:spPr>
          <a:xfrm>
            <a:off x="1399032" y="3355848"/>
            <a:ext cx="4416552" cy="256032"/>
          </a:xfrm>
          <a:prstGeom prst="rect">
            <a:avLst/>
          </a:prstGeom>
          <a:noFill/>
        </p:spPr>
        <p:txBody>
          <a:bodyPr wrap="square" lIns="0" rIns="0" tIns="0" bIns="0">
            <a:spAutoFit/>
          </a:bodyPr>
          <a:lstStyle/>
          <a:p>
            <a:pPr>
              <a:lnSpc>
                <a:spcPct val="107000"/>
              </a:lnSpc>
              <a:spcBef>
                <a:spcPts val="0"/>
              </a:spcBef>
              <a:spcAft>
                <a:spcPts val="408"/>
              </a:spcAft>
              <a:defRPr sz="1700" b="1">
                <a:solidFill>
                  <a:srgbClr val="102A3A"/>
                </a:solidFill>
                <a:latin typeface="Arial"/>
              </a:defRPr>
            </a:pPr>
            <a:r>
              <a:t>Key unknowns</a:t>
            </a:r>
          </a:p>
        </p:txBody>
      </p:sp>
      <p:sp>
        <p:nvSpPr>
          <p:cNvPr id="27" name="Rounded Rectangle 26"/>
          <p:cNvSpPr/>
          <p:nvPr/>
        </p:nvSpPr>
        <p:spPr>
          <a:xfrm>
            <a:off x="694944" y="3831335"/>
            <a:ext cx="5303520" cy="475488"/>
          </a:xfrm>
          <a:prstGeom prst="roundRect">
            <a:avLst>
              <a:gd name="adj" fmla="val 18000"/>
            </a:avLst>
          </a:prstGeom>
          <a:solidFill>
            <a:srgbClr val="FFFFFF"/>
          </a:solidFill>
          <a:ln w="8890">
            <a:solidFill>
              <a:srgbClr val="DC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41248" y="3941063"/>
            <a:ext cx="438912" cy="228600"/>
          </a:xfrm>
          <a:prstGeom prst="rect">
            <a:avLst/>
          </a:prstGeom>
          <a:noFill/>
        </p:spPr>
        <p:txBody>
          <a:bodyPr wrap="square" lIns="0" rIns="0" tIns="0" bIns="0">
            <a:spAutoFit/>
          </a:bodyPr>
          <a:lstStyle/>
          <a:p>
            <a:pPr>
              <a:lnSpc>
                <a:spcPct val="107000"/>
              </a:lnSpc>
              <a:spcBef>
                <a:spcPts val="0"/>
              </a:spcBef>
              <a:spcAft>
                <a:spcPts val="312"/>
              </a:spcAft>
              <a:defRPr sz="1300" b="1">
                <a:solidFill>
                  <a:srgbClr val="087F8C"/>
                </a:solidFill>
                <a:latin typeface="Arial"/>
              </a:defRPr>
            </a:pPr>
            <a:r>
              <a:t>04</a:t>
            </a:r>
          </a:p>
        </p:txBody>
      </p:sp>
      <p:sp>
        <p:nvSpPr>
          <p:cNvPr id="29" name="TextBox 28"/>
          <p:cNvSpPr txBox="1"/>
          <p:nvPr/>
        </p:nvSpPr>
        <p:spPr>
          <a:xfrm>
            <a:off x="1399032" y="3941063"/>
            <a:ext cx="4416552" cy="256032"/>
          </a:xfrm>
          <a:prstGeom prst="rect">
            <a:avLst/>
          </a:prstGeom>
          <a:noFill/>
        </p:spPr>
        <p:txBody>
          <a:bodyPr wrap="square" lIns="0" rIns="0" tIns="0" bIns="0">
            <a:spAutoFit/>
          </a:bodyPr>
          <a:lstStyle/>
          <a:p>
            <a:pPr>
              <a:lnSpc>
                <a:spcPct val="107000"/>
              </a:lnSpc>
              <a:spcBef>
                <a:spcPts val="0"/>
              </a:spcBef>
              <a:spcAft>
                <a:spcPts val="408"/>
              </a:spcAft>
              <a:defRPr sz="1700" b="1">
                <a:solidFill>
                  <a:srgbClr val="102A3A"/>
                </a:solidFill>
                <a:latin typeface="Arial"/>
              </a:defRPr>
            </a:pPr>
            <a:r>
              <a:t>Clarification questions</a:t>
            </a:r>
          </a:p>
        </p:txBody>
      </p:sp>
      <p:sp>
        <p:nvSpPr>
          <p:cNvPr id="30" name="Rounded Rectangle 29"/>
          <p:cNvSpPr/>
          <p:nvPr/>
        </p:nvSpPr>
        <p:spPr>
          <a:xfrm>
            <a:off x="694944" y="4416552"/>
            <a:ext cx="5303520" cy="475488"/>
          </a:xfrm>
          <a:prstGeom prst="roundRect">
            <a:avLst>
              <a:gd name="adj" fmla="val 18000"/>
            </a:avLst>
          </a:prstGeom>
          <a:solidFill>
            <a:srgbClr val="FFFFFF"/>
          </a:solidFill>
          <a:ln w="8890">
            <a:solidFill>
              <a:srgbClr val="DC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41248" y="4526280"/>
            <a:ext cx="438912" cy="228600"/>
          </a:xfrm>
          <a:prstGeom prst="rect">
            <a:avLst/>
          </a:prstGeom>
          <a:noFill/>
        </p:spPr>
        <p:txBody>
          <a:bodyPr wrap="square" lIns="0" rIns="0" tIns="0" bIns="0">
            <a:spAutoFit/>
          </a:bodyPr>
          <a:lstStyle/>
          <a:p>
            <a:pPr>
              <a:lnSpc>
                <a:spcPct val="107000"/>
              </a:lnSpc>
              <a:spcBef>
                <a:spcPts val="0"/>
              </a:spcBef>
              <a:spcAft>
                <a:spcPts val="312"/>
              </a:spcAft>
              <a:defRPr sz="1300" b="1">
                <a:solidFill>
                  <a:srgbClr val="087F8C"/>
                </a:solidFill>
                <a:latin typeface="Arial"/>
              </a:defRPr>
            </a:pPr>
            <a:r>
              <a:t>05</a:t>
            </a:r>
          </a:p>
        </p:txBody>
      </p:sp>
      <p:sp>
        <p:nvSpPr>
          <p:cNvPr id="32" name="TextBox 31"/>
          <p:cNvSpPr txBox="1"/>
          <p:nvPr/>
        </p:nvSpPr>
        <p:spPr>
          <a:xfrm>
            <a:off x="1399032" y="4526280"/>
            <a:ext cx="4416552" cy="256032"/>
          </a:xfrm>
          <a:prstGeom prst="rect">
            <a:avLst/>
          </a:prstGeom>
          <a:noFill/>
        </p:spPr>
        <p:txBody>
          <a:bodyPr wrap="square" lIns="0" rIns="0" tIns="0" bIns="0">
            <a:spAutoFit/>
          </a:bodyPr>
          <a:lstStyle/>
          <a:p>
            <a:pPr>
              <a:lnSpc>
                <a:spcPct val="107000"/>
              </a:lnSpc>
              <a:spcBef>
                <a:spcPts val="0"/>
              </a:spcBef>
              <a:spcAft>
                <a:spcPts val="408"/>
              </a:spcAft>
              <a:defRPr sz="1700" b="1">
                <a:solidFill>
                  <a:srgbClr val="102A3A"/>
                </a:solidFill>
                <a:latin typeface="Arial"/>
              </a:defRPr>
            </a:pPr>
            <a:r>
              <a:t>Recommendation</a:t>
            </a:r>
          </a:p>
        </p:txBody>
      </p:sp>
      <p:sp>
        <p:nvSpPr>
          <p:cNvPr id="33" name="Rounded Rectangle 32"/>
          <p:cNvSpPr/>
          <p:nvPr/>
        </p:nvSpPr>
        <p:spPr>
          <a:xfrm>
            <a:off x="694944" y="5001768"/>
            <a:ext cx="5303520" cy="475488"/>
          </a:xfrm>
          <a:prstGeom prst="roundRect">
            <a:avLst>
              <a:gd name="adj" fmla="val 18000"/>
            </a:avLst>
          </a:prstGeom>
          <a:solidFill>
            <a:srgbClr val="FFFFFF"/>
          </a:solidFill>
          <a:ln w="8890">
            <a:solidFill>
              <a:srgbClr val="DC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41248" y="5111496"/>
            <a:ext cx="438912" cy="228600"/>
          </a:xfrm>
          <a:prstGeom prst="rect">
            <a:avLst/>
          </a:prstGeom>
          <a:noFill/>
        </p:spPr>
        <p:txBody>
          <a:bodyPr wrap="square" lIns="0" rIns="0" tIns="0" bIns="0">
            <a:spAutoFit/>
          </a:bodyPr>
          <a:lstStyle/>
          <a:p>
            <a:pPr>
              <a:lnSpc>
                <a:spcPct val="107000"/>
              </a:lnSpc>
              <a:spcBef>
                <a:spcPts val="0"/>
              </a:spcBef>
              <a:spcAft>
                <a:spcPts val="312"/>
              </a:spcAft>
              <a:defRPr sz="1300" b="1">
                <a:solidFill>
                  <a:srgbClr val="087F8C"/>
                </a:solidFill>
                <a:latin typeface="Arial"/>
              </a:defRPr>
            </a:pPr>
            <a:r>
              <a:t>06</a:t>
            </a:r>
          </a:p>
        </p:txBody>
      </p:sp>
      <p:sp>
        <p:nvSpPr>
          <p:cNvPr id="35" name="TextBox 34"/>
          <p:cNvSpPr txBox="1"/>
          <p:nvPr/>
        </p:nvSpPr>
        <p:spPr>
          <a:xfrm>
            <a:off x="1399032" y="5111496"/>
            <a:ext cx="4416552" cy="256032"/>
          </a:xfrm>
          <a:prstGeom prst="rect">
            <a:avLst/>
          </a:prstGeom>
          <a:noFill/>
        </p:spPr>
        <p:txBody>
          <a:bodyPr wrap="square" lIns="0" rIns="0" tIns="0" bIns="0">
            <a:spAutoFit/>
          </a:bodyPr>
          <a:lstStyle/>
          <a:p>
            <a:pPr>
              <a:lnSpc>
                <a:spcPct val="107000"/>
              </a:lnSpc>
              <a:spcBef>
                <a:spcPts val="0"/>
              </a:spcBef>
              <a:spcAft>
                <a:spcPts val="408"/>
              </a:spcAft>
              <a:defRPr sz="1700" b="1">
                <a:solidFill>
                  <a:srgbClr val="102A3A"/>
                </a:solidFill>
                <a:latin typeface="Arial"/>
              </a:defRPr>
            </a:pPr>
            <a:r>
              <a:t>Measurement concept</a:t>
            </a:r>
          </a:p>
        </p:txBody>
      </p:sp>
      <p:sp>
        <p:nvSpPr>
          <p:cNvPr id="36" name="Rounded Rectangle 35"/>
          <p:cNvSpPr/>
          <p:nvPr/>
        </p:nvSpPr>
        <p:spPr>
          <a:xfrm>
            <a:off x="6227064" y="2075688"/>
            <a:ext cx="5303520" cy="475488"/>
          </a:xfrm>
          <a:prstGeom prst="roundRect">
            <a:avLst>
              <a:gd name="adj" fmla="val 18000"/>
            </a:avLst>
          </a:prstGeom>
          <a:solidFill>
            <a:srgbClr val="FFFFFF"/>
          </a:solidFill>
          <a:ln w="8890">
            <a:solidFill>
              <a:srgbClr val="DC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373368" y="2185416"/>
            <a:ext cx="438912" cy="228600"/>
          </a:xfrm>
          <a:prstGeom prst="rect">
            <a:avLst/>
          </a:prstGeom>
          <a:noFill/>
        </p:spPr>
        <p:txBody>
          <a:bodyPr wrap="square" lIns="0" rIns="0" tIns="0" bIns="0">
            <a:spAutoFit/>
          </a:bodyPr>
          <a:lstStyle/>
          <a:p>
            <a:pPr>
              <a:lnSpc>
                <a:spcPct val="107000"/>
              </a:lnSpc>
              <a:spcBef>
                <a:spcPts val="0"/>
              </a:spcBef>
              <a:spcAft>
                <a:spcPts val="312"/>
              </a:spcAft>
              <a:defRPr sz="1300" b="1">
                <a:solidFill>
                  <a:srgbClr val="087F8C"/>
                </a:solidFill>
                <a:latin typeface="Arial"/>
              </a:defRPr>
            </a:pPr>
            <a:r>
              <a:t>07</a:t>
            </a:r>
          </a:p>
        </p:txBody>
      </p:sp>
      <p:sp>
        <p:nvSpPr>
          <p:cNvPr id="38" name="TextBox 37"/>
          <p:cNvSpPr txBox="1"/>
          <p:nvPr/>
        </p:nvSpPr>
        <p:spPr>
          <a:xfrm>
            <a:off x="6931152" y="2185416"/>
            <a:ext cx="4416552" cy="256032"/>
          </a:xfrm>
          <a:prstGeom prst="rect">
            <a:avLst/>
          </a:prstGeom>
          <a:noFill/>
        </p:spPr>
        <p:txBody>
          <a:bodyPr wrap="square" lIns="0" rIns="0" tIns="0" bIns="0">
            <a:spAutoFit/>
          </a:bodyPr>
          <a:lstStyle/>
          <a:p>
            <a:pPr>
              <a:lnSpc>
                <a:spcPct val="107000"/>
              </a:lnSpc>
              <a:spcBef>
                <a:spcPts val="0"/>
              </a:spcBef>
              <a:spcAft>
                <a:spcPts val="408"/>
              </a:spcAft>
              <a:defRPr sz="1700" b="1">
                <a:solidFill>
                  <a:srgbClr val="102A3A"/>
                </a:solidFill>
                <a:latin typeface="Arial"/>
              </a:defRPr>
            </a:pPr>
            <a:r>
              <a:t>Spectral range</a:t>
            </a:r>
          </a:p>
        </p:txBody>
      </p:sp>
      <p:sp>
        <p:nvSpPr>
          <p:cNvPr id="39" name="Rounded Rectangle 38"/>
          <p:cNvSpPr/>
          <p:nvPr/>
        </p:nvSpPr>
        <p:spPr>
          <a:xfrm>
            <a:off x="6227064" y="2660904"/>
            <a:ext cx="5303520" cy="475488"/>
          </a:xfrm>
          <a:prstGeom prst="roundRect">
            <a:avLst>
              <a:gd name="adj" fmla="val 18000"/>
            </a:avLst>
          </a:prstGeom>
          <a:solidFill>
            <a:srgbClr val="FFFFFF"/>
          </a:solidFill>
          <a:ln w="8890">
            <a:solidFill>
              <a:srgbClr val="DC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373368" y="2770632"/>
            <a:ext cx="438912" cy="228600"/>
          </a:xfrm>
          <a:prstGeom prst="rect">
            <a:avLst/>
          </a:prstGeom>
          <a:noFill/>
        </p:spPr>
        <p:txBody>
          <a:bodyPr wrap="square" lIns="0" rIns="0" tIns="0" bIns="0">
            <a:spAutoFit/>
          </a:bodyPr>
          <a:lstStyle/>
          <a:p>
            <a:pPr>
              <a:lnSpc>
                <a:spcPct val="107000"/>
              </a:lnSpc>
              <a:spcBef>
                <a:spcPts val="0"/>
              </a:spcBef>
              <a:spcAft>
                <a:spcPts val="312"/>
              </a:spcAft>
              <a:defRPr sz="1300" b="1">
                <a:solidFill>
                  <a:srgbClr val="087F8C"/>
                </a:solidFill>
                <a:latin typeface="Arial"/>
              </a:defRPr>
            </a:pPr>
            <a:r>
              <a:t>08</a:t>
            </a:r>
          </a:p>
        </p:txBody>
      </p:sp>
      <p:sp>
        <p:nvSpPr>
          <p:cNvPr id="41" name="TextBox 40"/>
          <p:cNvSpPr txBox="1"/>
          <p:nvPr/>
        </p:nvSpPr>
        <p:spPr>
          <a:xfrm>
            <a:off x="6931152" y="2770632"/>
            <a:ext cx="4416552" cy="256032"/>
          </a:xfrm>
          <a:prstGeom prst="rect">
            <a:avLst/>
          </a:prstGeom>
          <a:noFill/>
        </p:spPr>
        <p:txBody>
          <a:bodyPr wrap="square" lIns="0" rIns="0" tIns="0" bIns="0">
            <a:spAutoFit/>
          </a:bodyPr>
          <a:lstStyle/>
          <a:p>
            <a:pPr>
              <a:lnSpc>
                <a:spcPct val="107000"/>
              </a:lnSpc>
              <a:spcBef>
                <a:spcPts val="0"/>
              </a:spcBef>
              <a:spcAft>
                <a:spcPts val="408"/>
              </a:spcAft>
              <a:defRPr sz="1700" b="1">
                <a:solidFill>
                  <a:srgbClr val="102A3A"/>
                </a:solidFill>
                <a:latin typeface="Arial"/>
              </a:defRPr>
            </a:pPr>
            <a:r>
              <a:t>Risks and uncertainty</a:t>
            </a:r>
          </a:p>
        </p:txBody>
      </p:sp>
      <p:sp>
        <p:nvSpPr>
          <p:cNvPr id="42" name="Rounded Rectangle 41"/>
          <p:cNvSpPr/>
          <p:nvPr/>
        </p:nvSpPr>
        <p:spPr>
          <a:xfrm>
            <a:off x="6227064" y="3246120"/>
            <a:ext cx="5303520" cy="475488"/>
          </a:xfrm>
          <a:prstGeom prst="roundRect">
            <a:avLst>
              <a:gd name="adj" fmla="val 18000"/>
            </a:avLst>
          </a:prstGeom>
          <a:solidFill>
            <a:srgbClr val="FFFFFF"/>
          </a:solidFill>
          <a:ln w="8890">
            <a:solidFill>
              <a:srgbClr val="DC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373368" y="3355848"/>
            <a:ext cx="438912" cy="228600"/>
          </a:xfrm>
          <a:prstGeom prst="rect">
            <a:avLst/>
          </a:prstGeom>
          <a:noFill/>
        </p:spPr>
        <p:txBody>
          <a:bodyPr wrap="square" lIns="0" rIns="0" tIns="0" bIns="0">
            <a:spAutoFit/>
          </a:bodyPr>
          <a:lstStyle/>
          <a:p>
            <a:pPr>
              <a:lnSpc>
                <a:spcPct val="107000"/>
              </a:lnSpc>
              <a:spcBef>
                <a:spcPts val="0"/>
              </a:spcBef>
              <a:spcAft>
                <a:spcPts val="312"/>
              </a:spcAft>
              <a:defRPr sz="1300" b="1">
                <a:solidFill>
                  <a:srgbClr val="087F8C"/>
                </a:solidFill>
                <a:latin typeface="Arial"/>
              </a:defRPr>
            </a:pPr>
            <a:r>
              <a:t>09</a:t>
            </a:r>
          </a:p>
        </p:txBody>
      </p:sp>
      <p:sp>
        <p:nvSpPr>
          <p:cNvPr id="44" name="TextBox 43"/>
          <p:cNvSpPr txBox="1"/>
          <p:nvPr/>
        </p:nvSpPr>
        <p:spPr>
          <a:xfrm>
            <a:off x="6931152" y="3355848"/>
            <a:ext cx="4416552" cy="256032"/>
          </a:xfrm>
          <a:prstGeom prst="rect">
            <a:avLst/>
          </a:prstGeom>
          <a:noFill/>
        </p:spPr>
        <p:txBody>
          <a:bodyPr wrap="square" lIns="0" rIns="0" tIns="0" bIns="0">
            <a:spAutoFit/>
          </a:bodyPr>
          <a:lstStyle/>
          <a:p>
            <a:pPr>
              <a:lnSpc>
                <a:spcPct val="107000"/>
              </a:lnSpc>
              <a:spcBef>
                <a:spcPts val="0"/>
              </a:spcBef>
              <a:spcAft>
                <a:spcPts val="408"/>
              </a:spcAft>
              <a:defRPr sz="1700" b="1">
                <a:solidFill>
                  <a:srgbClr val="102A3A"/>
                </a:solidFill>
                <a:latin typeface="Arial"/>
              </a:defRPr>
            </a:pPr>
            <a:r>
              <a:t>Decision basis</a:t>
            </a:r>
          </a:p>
        </p:txBody>
      </p:sp>
      <p:sp>
        <p:nvSpPr>
          <p:cNvPr id="45" name="Rounded Rectangle 44"/>
          <p:cNvSpPr/>
          <p:nvPr/>
        </p:nvSpPr>
        <p:spPr>
          <a:xfrm>
            <a:off x="6227064" y="3831335"/>
            <a:ext cx="5303520" cy="475488"/>
          </a:xfrm>
          <a:prstGeom prst="roundRect">
            <a:avLst>
              <a:gd name="adj" fmla="val 18000"/>
            </a:avLst>
          </a:prstGeom>
          <a:solidFill>
            <a:srgbClr val="FFFFFF"/>
          </a:solidFill>
          <a:ln w="8890">
            <a:solidFill>
              <a:srgbClr val="DC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373368" y="3941063"/>
            <a:ext cx="438912" cy="228600"/>
          </a:xfrm>
          <a:prstGeom prst="rect">
            <a:avLst/>
          </a:prstGeom>
          <a:noFill/>
        </p:spPr>
        <p:txBody>
          <a:bodyPr wrap="square" lIns="0" rIns="0" tIns="0" bIns="0">
            <a:spAutoFit/>
          </a:bodyPr>
          <a:lstStyle/>
          <a:p>
            <a:pPr>
              <a:lnSpc>
                <a:spcPct val="107000"/>
              </a:lnSpc>
              <a:spcBef>
                <a:spcPts val="0"/>
              </a:spcBef>
              <a:spcAft>
                <a:spcPts val="312"/>
              </a:spcAft>
              <a:defRPr sz="1300" b="1">
                <a:solidFill>
                  <a:srgbClr val="087F8C"/>
                </a:solidFill>
                <a:latin typeface="Arial"/>
              </a:defRPr>
            </a:pPr>
            <a:r>
              <a:t>10</a:t>
            </a:r>
          </a:p>
        </p:txBody>
      </p:sp>
      <p:sp>
        <p:nvSpPr>
          <p:cNvPr id="47" name="TextBox 46"/>
          <p:cNvSpPr txBox="1"/>
          <p:nvPr/>
        </p:nvSpPr>
        <p:spPr>
          <a:xfrm>
            <a:off x="6931152" y="3941063"/>
            <a:ext cx="4416552" cy="256032"/>
          </a:xfrm>
          <a:prstGeom prst="rect">
            <a:avLst/>
          </a:prstGeom>
          <a:noFill/>
        </p:spPr>
        <p:txBody>
          <a:bodyPr wrap="square" lIns="0" rIns="0" tIns="0" bIns="0">
            <a:spAutoFit/>
          </a:bodyPr>
          <a:lstStyle/>
          <a:p>
            <a:pPr>
              <a:lnSpc>
                <a:spcPct val="107000"/>
              </a:lnSpc>
              <a:spcBef>
                <a:spcPts val="0"/>
              </a:spcBef>
              <a:spcAft>
                <a:spcPts val="408"/>
              </a:spcAft>
              <a:defRPr sz="1700" b="1">
                <a:solidFill>
                  <a:srgbClr val="102A3A"/>
                </a:solidFill>
                <a:latin typeface="Arial"/>
              </a:defRPr>
            </a:pPr>
            <a:r>
              <a:t>Sources</a:t>
            </a:r>
          </a:p>
        </p:txBody>
      </p:sp>
      <p:sp>
        <p:nvSpPr>
          <p:cNvPr id="48" name="Rounded Rectangle 47"/>
          <p:cNvSpPr/>
          <p:nvPr/>
        </p:nvSpPr>
        <p:spPr>
          <a:xfrm>
            <a:off x="6227064" y="4416552"/>
            <a:ext cx="5303520" cy="475488"/>
          </a:xfrm>
          <a:prstGeom prst="roundRect">
            <a:avLst>
              <a:gd name="adj" fmla="val 18000"/>
            </a:avLst>
          </a:prstGeom>
          <a:solidFill>
            <a:srgbClr val="FFFFFF"/>
          </a:solidFill>
          <a:ln w="8890">
            <a:solidFill>
              <a:srgbClr val="DC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373368" y="4526280"/>
            <a:ext cx="438912" cy="228600"/>
          </a:xfrm>
          <a:prstGeom prst="rect">
            <a:avLst/>
          </a:prstGeom>
          <a:noFill/>
        </p:spPr>
        <p:txBody>
          <a:bodyPr wrap="square" lIns="0" rIns="0" tIns="0" bIns="0">
            <a:spAutoFit/>
          </a:bodyPr>
          <a:lstStyle/>
          <a:p>
            <a:pPr>
              <a:lnSpc>
                <a:spcPct val="107000"/>
              </a:lnSpc>
              <a:spcBef>
                <a:spcPts val="0"/>
              </a:spcBef>
              <a:spcAft>
                <a:spcPts val="312"/>
              </a:spcAft>
              <a:defRPr sz="1300" b="1">
                <a:solidFill>
                  <a:srgbClr val="087F8C"/>
                </a:solidFill>
                <a:latin typeface="Arial"/>
              </a:defRPr>
            </a:pPr>
            <a:r>
              <a:t>11</a:t>
            </a:r>
          </a:p>
        </p:txBody>
      </p:sp>
      <p:sp>
        <p:nvSpPr>
          <p:cNvPr id="50" name="TextBox 49"/>
          <p:cNvSpPr txBox="1"/>
          <p:nvPr/>
        </p:nvSpPr>
        <p:spPr>
          <a:xfrm>
            <a:off x="6931152" y="4526280"/>
            <a:ext cx="4416552" cy="256032"/>
          </a:xfrm>
          <a:prstGeom prst="rect">
            <a:avLst/>
          </a:prstGeom>
          <a:noFill/>
        </p:spPr>
        <p:txBody>
          <a:bodyPr wrap="square" lIns="0" rIns="0" tIns="0" bIns="0">
            <a:spAutoFit/>
          </a:bodyPr>
          <a:lstStyle/>
          <a:p>
            <a:pPr>
              <a:lnSpc>
                <a:spcPct val="107000"/>
              </a:lnSpc>
              <a:spcBef>
                <a:spcPts val="0"/>
              </a:spcBef>
              <a:spcAft>
                <a:spcPts val="408"/>
              </a:spcAft>
              <a:defRPr sz="1700" b="1">
                <a:solidFill>
                  <a:srgbClr val="102A3A"/>
                </a:solidFill>
                <a:latin typeface="Arial"/>
              </a:defRPr>
            </a:pPr>
            <a:r>
              <a:t>First feasibility experiment</a:t>
            </a:r>
          </a:p>
        </p:txBody>
      </p:sp>
      <p:sp>
        <p:nvSpPr>
          <p:cNvPr id="51" name="TextBox 50"/>
          <p:cNvSpPr txBox="1"/>
          <p:nvPr/>
        </p:nvSpPr>
        <p:spPr>
          <a:xfrm>
            <a:off x="6400800" y="5330952"/>
            <a:ext cx="4882896" cy="466344"/>
          </a:xfrm>
          <a:prstGeom prst="rect">
            <a:avLst/>
          </a:prstGeom>
          <a:noFill/>
        </p:spPr>
        <p:txBody>
          <a:bodyPr wrap="square" lIns="0" rIns="0" tIns="0" bIns="0">
            <a:spAutoFit/>
          </a:bodyPr>
          <a:lstStyle/>
          <a:p>
            <a:pPr>
              <a:lnSpc>
                <a:spcPct val="107000"/>
              </a:lnSpc>
              <a:spcBef>
                <a:spcPts val="0"/>
              </a:spcBef>
              <a:spcAft>
                <a:spcPts val="359"/>
              </a:spcAft>
              <a:defRPr sz="1500" b="0">
                <a:solidFill>
                  <a:srgbClr val="587080"/>
                </a:solidFill>
                <a:latin typeface="Arial"/>
              </a:defRPr>
            </a:pPr>
            <a:r>
              <a:t>Separate Setup Overview diagrams illustrate the proposed Path A / B / C systems.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3F6FA"/>
        </a:solidFill>
        <a:effectLst/>
      </p:bgPr>
    </p:bg>
    <p:spTree>
      <p:nvGrpSpPr>
        <p:cNvPr id="1" name=""/>
        <p:cNvGrpSpPr/>
        <p:nvPr/>
      </p:nvGrpSpPr>
      <p:grpSpPr/>
      <p:sp>
        <p:nvSpPr>
          <p:cNvPr id="2" name="Rectangle 1"/>
          <p:cNvSpPr/>
          <p:nvPr/>
        </p:nvSpPr>
        <p:spPr>
          <a:xfrm>
            <a:off x="0" y="0"/>
            <a:ext cx="1223771" cy="50292"/>
          </a:xfrm>
          <a:prstGeom prst="rect">
            <a:avLst/>
          </a:prstGeom>
          <a:solidFill>
            <a:srgbClr val="7044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19199" y="0"/>
            <a:ext cx="1223771" cy="50292"/>
          </a:xfrm>
          <a:prstGeom prst="rect">
            <a:avLst/>
          </a:prstGeom>
          <a:solidFill>
            <a:srgbClr val="5E4D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438399" y="0"/>
            <a:ext cx="1223771" cy="50292"/>
          </a:xfrm>
          <a:prstGeom prst="rect">
            <a:avLst/>
          </a:prstGeom>
          <a:solidFill>
            <a:srgbClr val="426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57599" y="0"/>
            <a:ext cx="1223771" cy="50292"/>
          </a:xfrm>
          <a:prstGeom prst="rect">
            <a:avLst/>
          </a:prstGeom>
          <a:solidFill>
            <a:srgbClr val="2886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876799" y="0"/>
            <a:ext cx="1223771" cy="50292"/>
          </a:xfrm>
          <a:prstGeom prst="rect">
            <a:avLst/>
          </a:prstGeom>
          <a:solidFill>
            <a:srgbClr val="1591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095999" y="0"/>
            <a:ext cx="1223771" cy="50292"/>
          </a:xfrm>
          <a:prstGeom prst="rect">
            <a:avLst/>
          </a:prstGeom>
          <a:solidFill>
            <a:srgbClr val="2999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199" y="0"/>
            <a:ext cx="1223771" cy="50292"/>
          </a:xfrm>
          <a:prstGeom prst="rect">
            <a:avLst/>
          </a:prstGeom>
          <a:solidFill>
            <a:srgbClr val="7DAD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534399" y="0"/>
            <a:ext cx="1223771" cy="50292"/>
          </a:xfrm>
          <a:prstGeom prst="rect">
            <a:avLst/>
          </a:prstGeom>
          <a:solidFill>
            <a:srgbClr val="C6A6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753599" y="0"/>
            <a:ext cx="1223771" cy="50292"/>
          </a:xfrm>
          <a:prstGeom prst="rect">
            <a:avLst/>
          </a:prstGeom>
          <a:solidFill>
            <a:srgbClr val="CC7B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0972799" y="0"/>
            <a:ext cx="1223771" cy="50292"/>
          </a:xfrm>
          <a:prstGeom prst="rect">
            <a:avLst/>
          </a:prstGeom>
          <a:solidFill>
            <a:srgbClr val="B84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1792" y="365760"/>
            <a:ext cx="10972800" cy="246888"/>
          </a:xfrm>
          <a:prstGeom prst="rect">
            <a:avLst/>
          </a:prstGeom>
          <a:noFill/>
        </p:spPr>
        <p:txBody>
          <a:bodyPr wrap="square" lIns="0" rIns="0" tIns="0" bIns="0">
            <a:spAutoFit/>
          </a:bodyPr>
          <a:lstStyle/>
          <a:p>
            <a:pPr>
              <a:lnSpc>
                <a:spcPct val="107000"/>
              </a:lnSpc>
              <a:spcBef>
                <a:spcPts val="0"/>
              </a:spcBef>
              <a:spcAft>
                <a:spcPts val="252"/>
              </a:spcAft>
              <a:defRPr sz="1050" b="1">
                <a:solidFill>
                  <a:srgbClr val="087F8C"/>
                </a:solidFill>
                <a:latin typeface="Arial"/>
              </a:defRPr>
            </a:pPr>
            <a:r>
              <a:t>APPENDIX C / SUBMISSION HANDOFF</a:t>
            </a:r>
          </a:p>
        </p:txBody>
      </p:sp>
      <p:sp>
        <p:nvSpPr>
          <p:cNvPr id="13" name="TextBox 12"/>
          <p:cNvSpPr txBox="1"/>
          <p:nvPr/>
        </p:nvSpPr>
        <p:spPr>
          <a:xfrm>
            <a:off x="621792" y="841248"/>
            <a:ext cx="10972800" cy="941832"/>
          </a:xfrm>
          <a:prstGeom prst="rect">
            <a:avLst/>
          </a:prstGeom>
          <a:noFill/>
        </p:spPr>
        <p:txBody>
          <a:bodyPr wrap="square" lIns="0" rIns="0" tIns="0" bIns="0">
            <a:spAutoFit/>
          </a:bodyPr>
          <a:lstStyle/>
          <a:p>
            <a:pPr>
              <a:lnSpc>
                <a:spcPct val="107000"/>
              </a:lnSpc>
              <a:spcBef>
                <a:spcPts val="0"/>
              </a:spcBef>
              <a:spcAft>
                <a:spcPts val="744"/>
              </a:spcAft>
              <a:defRPr sz="3100" b="1">
                <a:solidFill>
                  <a:srgbClr val="102A3A"/>
                </a:solidFill>
                <a:latin typeface="Arial"/>
              </a:defRPr>
            </a:pPr>
            <a:r>
              <a:t>A complete submission needs more than slides.</a:t>
            </a:r>
          </a:p>
        </p:txBody>
      </p:sp>
      <p:sp>
        <p:nvSpPr>
          <p:cNvPr id="14" name="TextBox 13"/>
          <p:cNvSpPr txBox="1"/>
          <p:nvPr/>
        </p:nvSpPr>
        <p:spPr>
          <a:xfrm>
            <a:off x="640080" y="1417320"/>
            <a:ext cx="10927080" cy="475488"/>
          </a:xfrm>
          <a:prstGeom prst="rect">
            <a:avLst/>
          </a:prstGeom>
          <a:noFill/>
        </p:spPr>
        <p:txBody>
          <a:bodyPr wrap="square" lIns="0" rIns="0" tIns="0" bIns="0">
            <a:spAutoFit/>
          </a:bodyPr>
          <a:lstStyle/>
          <a:p>
            <a:pPr>
              <a:lnSpc>
                <a:spcPct val="107000"/>
              </a:lnSpc>
              <a:spcBef>
                <a:spcPts val="0"/>
              </a:spcBef>
              <a:spcAft>
                <a:spcPts val="359"/>
              </a:spcAft>
              <a:defRPr sz="1500" b="0">
                <a:solidFill>
                  <a:srgbClr val="587080"/>
                </a:solidFill>
                <a:latin typeface="Arial"/>
              </a:defRPr>
            </a:pPr>
            <a:r>
              <a:t>Checklist from the supplied form. Listed items are requirements, not a claim of submission.</a:t>
            </a:r>
          </a:p>
        </p:txBody>
      </p:sp>
      <p:cxnSp>
        <p:nvCxnSpPr>
          <p:cNvPr id="15" name="Connector 14"/>
          <p:cNvCxnSpPr/>
          <p:nvPr/>
        </p:nvCxnSpPr>
        <p:spPr>
          <a:xfrm>
            <a:off x="621792" y="6318504"/>
            <a:ext cx="10945368" cy="0"/>
          </a:xfrm>
          <a:prstGeom prst="line">
            <a:avLst/>
          </a:prstGeom>
          <a:ln w="8890">
            <a:solidFill>
              <a:srgbClr val="DCE5ED"/>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40080" y="6428232"/>
            <a:ext cx="9875520" cy="182880"/>
          </a:xfrm>
          <a:prstGeom prst="rect">
            <a:avLst/>
          </a:prstGeom>
          <a:noFill/>
        </p:spPr>
        <p:txBody>
          <a:bodyPr wrap="square" lIns="0" rIns="0" tIns="0" bIns="0">
            <a:spAutoFit/>
          </a:bodyPr>
          <a:lstStyle/>
          <a:p>
            <a:pPr>
              <a:lnSpc>
                <a:spcPct val="107000"/>
              </a:lnSpc>
              <a:spcBef>
                <a:spcPts val="0"/>
              </a:spcBef>
              <a:spcAft>
                <a:spcPts val="204"/>
              </a:spcAft>
              <a:defRPr sz="850" b="0">
                <a:solidFill>
                  <a:srgbClr val="587080"/>
                </a:solidFill>
                <a:latin typeface="Arial"/>
              </a:defRPr>
            </a:pPr>
            <a:r>
              <a:t>Submission form pp.1–4; deadline stated there: 18 Oct 2026, 23:59 CEST</a:t>
            </a:r>
          </a:p>
        </p:txBody>
      </p:sp>
      <p:sp>
        <p:nvSpPr>
          <p:cNvPr id="17" name="TextBox 16"/>
          <p:cNvSpPr txBox="1"/>
          <p:nvPr/>
        </p:nvSpPr>
        <p:spPr>
          <a:xfrm>
            <a:off x="10881360" y="6409944"/>
            <a:ext cx="658368" cy="228600"/>
          </a:xfrm>
          <a:prstGeom prst="rect">
            <a:avLst/>
          </a:prstGeom>
          <a:noFill/>
        </p:spPr>
        <p:txBody>
          <a:bodyPr wrap="square" lIns="0" rIns="0" tIns="0" bIns="0">
            <a:spAutoFit/>
          </a:bodyPr>
          <a:lstStyle/>
          <a:p>
            <a:pPr algn="r">
              <a:lnSpc>
                <a:spcPct val="107000"/>
              </a:lnSpc>
              <a:spcBef>
                <a:spcPts val="0"/>
              </a:spcBef>
              <a:spcAft>
                <a:spcPts val="216"/>
              </a:spcAft>
              <a:defRPr sz="900" b="0">
                <a:solidFill>
                  <a:srgbClr val="587080"/>
                </a:solidFill>
                <a:latin typeface="Arial"/>
              </a:defRPr>
            </a:pPr>
            <a:r>
              <a:t>13 / 14</a:t>
            </a:r>
          </a:p>
        </p:txBody>
      </p:sp>
      <p:sp>
        <p:nvSpPr>
          <p:cNvPr id="18" name="Rectangle 17"/>
          <p:cNvSpPr/>
          <p:nvPr/>
        </p:nvSpPr>
        <p:spPr>
          <a:xfrm>
            <a:off x="685800" y="2066543"/>
            <a:ext cx="10780776" cy="438912"/>
          </a:xfrm>
          <a:prstGeom prst="rect">
            <a:avLst/>
          </a:prstGeom>
          <a:solidFill>
            <a:srgbClr val="10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2176272"/>
            <a:ext cx="2651760" cy="301751"/>
          </a:xfrm>
          <a:prstGeom prst="rect">
            <a:avLst/>
          </a:prstGeom>
          <a:noFill/>
        </p:spPr>
        <p:txBody>
          <a:bodyPr wrap="square" lIns="0" rIns="0" tIns="0" bIns="0">
            <a:spAutoFit/>
          </a:bodyPr>
          <a:lstStyle/>
          <a:p>
            <a:pPr>
              <a:lnSpc>
                <a:spcPct val="107000"/>
              </a:lnSpc>
              <a:spcBef>
                <a:spcPts val="0"/>
              </a:spcBef>
              <a:spcAft>
                <a:spcPts val="288"/>
              </a:spcAft>
              <a:defRPr sz="1200" b="1">
                <a:solidFill>
                  <a:srgbClr val="FFFFFF"/>
                </a:solidFill>
                <a:latin typeface="Arial"/>
              </a:defRPr>
            </a:pPr>
            <a:r>
              <a:t>Required item</a:t>
            </a:r>
          </a:p>
        </p:txBody>
      </p:sp>
      <p:sp>
        <p:nvSpPr>
          <p:cNvPr id="20" name="TextBox 19"/>
          <p:cNvSpPr txBox="1"/>
          <p:nvPr/>
        </p:nvSpPr>
        <p:spPr>
          <a:xfrm>
            <a:off x="3703320" y="2176272"/>
            <a:ext cx="7671816" cy="301751"/>
          </a:xfrm>
          <a:prstGeom prst="rect">
            <a:avLst/>
          </a:prstGeom>
          <a:noFill/>
        </p:spPr>
        <p:txBody>
          <a:bodyPr wrap="square" lIns="0" rIns="0" tIns="0" bIns="0">
            <a:spAutoFit/>
          </a:bodyPr>
          <a:lstStyle/>
          <a:p>
            <a:pPr>
              <a:lnSpc>
                <a:spcPct val="107000"/>
              </a:lnSpc>
              <a:spcBef>
                <a:spcPts val="0"/>
              </a:spcBef>
              <a:spcAft>
                <a:spcPts val="288"/>
              </a:spcAft>
              <a:defRPr sz="1200" b="1">
                <a:solidFill>
                  <a:srgbClr val="FFFFFF"/>
                </a:solidFill>
                <a:latin typeface="Arial"/>
              </a:defRPr>
            </a:pPr>
            <a:r>
              <a:t>Handoff / check before submitting</a:t>
            </a:r>
          </a:p>
        </p:txBody>
      </p:sp>
      <p:sp>
        <p:nvSpPr>
          <p:cNvPr id="21" name="Rectangle 20"/>
          <p:cNvSpPr/>
          <p:nvPr/>
        </p:nvSpPr>
        <p:spPr>
          <a:xfrm>
            <a:off x="685800" y="2505456"/>
            <a:ext cx="10780776" cy="58521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2960" y="2624327"/>
            <a:ext cx="2633472" cy="420624"/>
          </a:xfrm>
          <a:prstGeom prst="rect">
            <a:avLst/>
          </a:prstGeom>
          <a:noFill/>
        </p:spPr>
        <p:txBody>
          <a:bodyPr wrap="square" lIns="0" rIns="0" tIns="0" bIns="0">
            <a:spAutoFit/>
          </a:bodyPr>
          <a:lstStyle/>
          <a:p>
            <a:pPr>
              <a:lnSpc>
                <a:spcPct val="107000"/>
              </a:lnSpc>
              <a:spcBef>
                <a:spcPts val="0"/>
              </a:spcBef>
              <a:spcAft>
                <a:spcPts val="348"/>
              </a:spcAft>
              <a:defRPr sz="1450" b="1">
                <a:solidFill>
                  <a:srgbClr val="102A3A"/>
                </a:solidFill>
                <a:latin typeface="Arial"/>
              </a:defRPr>
            </a:pPr>
            <a:r>
              <a:t>Public repository</a:t>
            </a:r>
          </a:p>
        </p:txBody>
      </p:sp>
      <p:sp>
        <p:nvSpPr>
          <p:cNvPr id="23" name="TextBox 22"/>
          <p:cNvSpPr txBox="1"/>
          <p:nvPr/>
        </p:nvSpPr>
        <p:spPr>
          <a:xfrm>
            <a:off x="3703320" y="2624327"/>
            <a:ext cx="7653528" cy="420624"/>
          </a:xfrm>
          <a:prstGeom prst="rect">
            <a:avLst/>
          </a:prstGeom>
          <a:noFill/>
        </p:spPr>
        <p:txBody>
          <a:bodyPr wrap="square" lIns="0" rIns="0" tIns="0" bIns="0">
            <a:spAutoFit/>
          </a:bodyPr>
          <a:lstStyle/>
          <a:p>
            <a:pPr>
              <a:lnSpc>
                <a:spcPct val="107000"/>
              </a:lnSpc>
              <a:spcBef>
                <a:spcPts val="0"/>
              </a:spcBef>
              <a:spcAft>
                <a:spcPts val="348"/>
              </a:spcAft>
              <a:defRPr sz="1450" b="0">
                <a:solidFill>
                  <a:srgbClr val="102A3A"/>
                </a:solidFill>
                <a:latin typeface="Arial"/>
              </a:defRPr>
            </a:pPr>
            <a:r>
              <a:t>Code, setup, models/tools, material-loading instructions and architecture. Verify public access.</a:t>
            </a:r>
          </a:p>
        </p:txBody>
      </p:sp>
      <p:cxnSp>
        <p:nvCxnSpPr>
          <p:cNvPr id="24" name="Connector 23"/>
          <p:cNvCxnSpPr/>
          <p:nvPr/>
        </p:nvCxnSpPr>
        <p:spPr>
          <a:xfrm>
            <a:off x="685800" y="3090672"/>
            <a:ext cx="10780776" cy="0"/>
          </a:xfrm>
          <a:prstGeom prst="line">
            <a:avLst/>
          </a:prstGeom>
          <a:ln w="7620">
            <a:solidFill>
              <a:srgbClr val="DCE5ED"/>
            </a:solidFill>
          </a:ln>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685800" y="3090672"/>
            <a:ext cx="10780776" cy="585216"/>
          </a:xfrm>
          <a:prstGeom prst="rect">
            <a:avLst/>
          </a:prstGeom>
          <a:solidFill>
            <a:srgbClr val="ECF1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2960" y="3209544"/>
            <a:ext cx="2633472" cy="420624"/>
          </a:xfrm>
          <a:prstGeom prst="rect">
            <a:avLst/>
          </a:prstGeom>
          <a:noFill/>
        </p:spPr>
        <p:txBody>
          <a:bodyPr wrap="square" lIns="0" rIns="0" tIns="0" bIns="0">
            <a:spAutoFit/>
          </a:bodyPr>
          <a:lstStyle/>
          <a:p>
            <a:pPr>
              <a:lnSpc>
                <a:spcPct val="107000"/>
              </a:lnSpc>
              <a:spcBef>
                <a:spcPts val="0"/>
              </a:spcBef>
              <a:spcAft>
                <a:spcPts val="348"/>
              </a:spcAft>
              <a:defRPr sz="1450" b="1">
                <a:solidFill>
                  <a:srgbClr val="102A3A"/>
                </a:solidFill>
                <a:latin typeface="Arial"/>
              </a:defRPr>
            </a:pPr>
            <a:r>
              <a:t>Six generated answers</a:t>
            </a:r>
          </a:p>
        </p:txBody>
      </p:sp>
      <p:sp>
        <p:nvSpPr>
          <p:cNvPr id="27" name="TextBox 26"/>
          <p:cNvSpPr txBox="1"/>
          <p:nvPr/>
        </p:nvSpPr>
        <p:spPr>
          <a:xfrm>
            <a:off x="3703320" y="3209544"/>
            <a:ext cx="7653528" cy="420624"/>
          </a:xfrm>
          <a:prstGeom prst="rect">
            <a:avLst/>
          </a:prstGeom>
          <a:noFill/>
        </p:spPr>
        <p:txBody>
          <a:bodyPr wrap="square" lIns="0" rIns="0" tIns="0" bIns="0">
            <a:spAutoFit/>
          </a:bodyPr>
          <a:lstStyle/>
          <a:p>
            <a:pPr>
              <a:lnSpc>
                <a:spcPct val="107000"/>
              </a:lnSpc>
              <a:spcBef>
                <a:spcPts val="0"/>
              </a:spcBef>
              <a:spcAft>
                <a:spcPts val="348"/>
              </a:spcAft>
              <a:defRPr sz="1450" b="0">
                <a:solidFill>
                  <a:srgbClr val="102A3A"/>
                </a:solidFill>
                <a:latin typeface="Arial"/>
              </a:defRPr>
            </a:pPr>
            <a:r>
              <a:t>Publish H01–H06, unedited and without case-specific hard-coding.</a:t>
            </a:r>
          </a:p>
        </p:txBody>
      </p:sp>
      <p:cxnSp>
        <p:nvCxnSpPr>
          <p:cNvPr id="28" name="Connector 27"/>
          <p:cNvCxnSpPr/>
          <p:nvPr/>
        </p:nvCxnSpPr>
        <p:spPr>
          <a:xfrm>
            <a:off x="685800" y="3675887"/>
            <a:ext cx="10780776" cy="0"/>
          </a:xfrm>
          <a:prstGeom prst="line">
            <a:avLst/>
          </a:prstGeom>
          <a:ln w="7620">
            <a:solidFill>
              <a:srgbClr val="DCE5ED"/>
            </a:solidFill>
          </a:ln>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685800" y="3675887"/>
            <a:ext cx="10780776" cy="58521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2960" y="3794759"/>
            <a:ext cx="2633472" cy="420624"/>
          </a:xfrm>
          <a:prstGeom prst="rect">
            <a:avLst/>
          </a:prstGeom>
          <a:noFill/>
        </p:spPr>
        <p:txBody>
          <a:bodyPr wrap="square" lIns="0" rIns="0" tIns="0" bIns="0">
            <a:spAutoFit/>
          </a:bodyPr>
          <a:lstStyle/>
          <a:p>
            <a:pPr>
              <a:lnSpc>
                <a:spcPct val="107000"/>
              </a:lnSpc>
              <a:spcBef>
                <a:spcPts val="0"/>
              </a:spcBef>
              <a:spcAft>
                <a:spcPts val="348"/>
              </a:spcAft>
              <a:defRPr sz="1450" b="1">
                <a:solidFill>
                  <a:srgbClr val="102A3A"/>
                </a:solidFill>
                <a:latin typeface="Arial"/>
              </a:defRPr>
            </a:pPr>
            <a:r>
              <a:t>Accessible slide PDF</a:t>
            </a:r>
          </a:p>
        </p:txBody>
      </p:sp>
      <p:sp>
        <p:nvSpPr>
          <p:cNvPr id="31" name="TextBox 30"/>
          <p:cNvSpPr txBox="1"/>
          <p:nvPr/>
        </p:nvSpPr>
        <p:spPr>
          <a:xfrm>
            <a:off x="3703320" y="3794759"/>
            <a:ext cx="7653528" cy="420624"/>
          </a:xfrm>
          <a:prstGeom prst="rect">
            <a:avLst/>
          </a:prstGeom>
          <a:noFill/>
        </p:spPr>
        <p:txBody>
          <a:bodyPr wrap="square" lIns="0" rIns="0" tIns="0" bIns="0">
            <a:spAutoFit/>
          </a:bodyPr>
          <a:lstStyle/>
          <a:p>
            <a:pPr>
              <a:lnSpc>
                <a:spcPct val="107000"/>
              </a:lnSpc>
              <a:spcBef>
                <a:spcPts val="0"/>
              </a:spcBef>
              <a:spcAft>
                <a:spcPts val="348"/>
              </a:spcAft>
              <a:defRPr sz="1450" b="0">
                <a:solidFill>
                  <a:srgbClr val="102A3A"/>
                </a:solidFill>
                <a:latin typeface="Arial"/>
              </a:defRPr>
            </a:pPr>
            <a:r>
              <a:t>Use the companion PDF; publish it with access for the jury.</a:t>
            </a:r>
          </a:p>
        </p:txBody>
      </p:sp>
      <p:cxnSp>
        <p:nvCxnSpPr>
          <p:cNvPr id="32" name="Connector 31"/>
          <p:cNvCxnSpPr/>
          <p:nvPr/>
        </p:nvCxnSpPr>
        <p:spPr>
          <a:xfrm>
            <a:off x="685800" y="4261103"/>
            <a:ext cx="10780776" cy="0"/>
          </a:xfrm>
          <a:prstGeom prst="line">
            <a:avLst/>
          </a:prstGeom>
          <a:ln w="7620">
            <a:solidFill>
              <a:srgbClr val="DCE5ED"/>
            </a:solidFill>
          </a:ln>
        </p:spPr>
        <p:style>
          <a:lnRef idx="2">
            <a:schemeClr val="accent1"/>
          </a:lnRef>
          <a:fillRef idx="0">
            <a:schemeClr val="accent1"/>
          </a:fillRef>
          <a:effectRef idx="1">
            <a:schemeClr val="accent1"/>
          </a:effectRef>
          <a:fontRef idx="minor">
            <a:schemeClr val="tx1"/>
          </a:fontRef>
        </p:style>
      </p:cxnSp>
      <p:sp>
        <p:nvSpPr>
          <p:cNvPr id="33" name="Rectangle 32"/>
          <p:cNvSpPr/>
          <p:nvPr/>
        </p:nvSpPr>
        <p:spPr>
          <a:xfrm>
            <a:off x="685800" y="4261104"/>
            <a:ext cx="10780776" cy="585216"/>
          </a:xfrm>
          <a:prstGeom prst="rect">
            <a:avLst/>
          </a:prstGeom>
          <a:solidFill>
            <a:srgbClr val="ECF1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22960" y="4379976"/>
            <a:ext cx="2633472" cy="420624"/>
          </a:xfrm>
          <a:prstGeom prst="rect">
            <a:avLst/>
          </a:prstGeom>
          <a:noFill/>
        </p:spPr>
        <p:txBody>
          <a:bodyPr wrap="square" lIns="0" rIns="0" tIns="0" bIns="0">
            <a:spAutoFit/>
          </a:bodyPr>
          <a:lstStyle/>
          <a:p>
            <a:pPr>
              <a:lnSpc>
                <a:spcPct val="107000"/>
              </a:lnSpc>
              <a:spcBef>
                <a:spcPts val="0"/>
              </a:spcBef>
              <a:spcAft>
                <a:spcPts val="348"/>
              </a:spcAft>
              <a:defRPr sz="1450" b="1">
                <a:solidFill>
                  <a:srgbClr val="102A3A"/>
                </a:solidFill>
                <a:latin typeface="Arial"/>
              </a:defRPr>
            </a:pPr>
            <a:r>
              <a:t>Video: max. 5 minutes</a:t>
            </a:r>
          </a:p>
        </p:txBody>
      </p:sp>
      <p:sp>
        <p:nvSpPr>
          <p:cNvPr id="35" name="TextBox 34"/>
          <p:cNvSpPr txBox="1"/>
          <p:nvPr/>
        </p:nvSpPr>
        <p:spPr>
          <a:xfrm>
            <a:off x="3703320" y="4379976"/>
            <a:ext cx="7653528" cy="420624"/>
          </a:xfrm>
          <a:prstGeom prst="rect">
            <a:avLst/>
          </a:prstGeom>
          <a:noFill/>
        </p:spPr>
        <p:txBody>
          <a:bodyPr wrap="square" lIns="0" rIns="0" tIns="0" bIns="0">
            <a:spAutoFit/>
          </a:bodyPr>
          <a:lstStyle/>
          <a:p>
            <a:pPr>
              <a:lnSpc>
                <a:spcPct val="107000"/>
              </a:lnSpc>
              <a:spcBef>
                <a:spcPts val="0"/>
              </a:spcBef>
              <a:spcAft>
                <a:spcPts val="348"/>
              </a:spcAft>
              <a:defRPr sz="1450" b="0">
                <a:solidFill>
                  <a:srgbClr val="102A3A"/>
                </a:solidFill>
                <a:latin typeface="Arial"/>
              </a:defRPr>
            </a:pPr>
            <a:r>
              <a:t>Demonstrate questions, methods, sources and the experiment; explain limits and architecture.</a:t>
            </a:r>
          </a:p>
        </p:txBody>
      </p:sp>
      <p:cxnSp>
        <p:nvCxnSpPr>
          <p:cNvPr id="36" name="Connector 35"/>
          <p:cNvCxnSpPr/>
          <p:nvPr/>
        </p:nvCxnSpPr>
        <p:spPr>
          <a:xfrm>
            <a:off x="685800" y="4846320"/>
            <a:ext cx="10780776" cy="0"/>
          </a:xfrm>
          <a:prstGeom prst="line">
            <a:avLst/>
          </a:prstGeom>
          <a:ln w="7620">
            <a:solidFill>
              <a:srgbClr val="DCE5ED"/>
            </a:solidFill>
          </a:ln>
        </p:spPr>
        <p:style>
          <a:lnRef idx="2">
            <a:schemeClr val="accent1"/>
          </a:lnRef>
          <a:fillRef idx="0">
            <a:schemeClr val="accent1"/>
          </a:fillRef>
          <a:effectRef idx="1">
            <a:schemeClr val="accent1"/>
          </a:effectRef>
          <a:fontRef idx="minor">
            <a:schemeClr val="tx1"/>
          </a:fontRef>
        </p:style>
      </p:cxnSp>
      <p:sp>
        <p:nvSpPr>
          <p:cNvPr id="37" name="Rectangle 36"/>
          <p:cNvSpPr/>
          <p:nvPr/>
        </p:nvSpPr>
        <p:spPr>
          <a:xfrm>
            <a:off x="685800" y="4846320"/>
            <a:ext cx="10780776" cy="58521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2960" y="4965192"/>
            <a:ext cx="2633472" cy="420624"/>
          </a:xfrm>
          <a:prstGeom prst="rect">
            <a:avLst/>
          </a:prstGeom>
          <a:noFill/>
        </p:spPr>
        <p:txBody>
          <a:bodyPr wrap="square" lIns="0" rIns="0" tIns="0" bIns="0">
            <a:spAutoFit/>
          </a:bodyPr>
          <a:lstStyle/>
          <a:p>
            <a:pPr>
              <a:lnSpc>
                <a:spcPct val="107000"/>
              </a:lnSpc>
              <a:spcBef>
                <a:spcPts val="0"/>
              </a:spcBef>
              <a:spcAft>
                <a:spcPts val="348"/>
              </a:spcAft>
              <a:defRPr sz="1450" b="1">
                <a:solidFill>
                  <a:srgbClr val="102A3A"/>
                </a:solidFill>
                <a:latin typeface="Arial"/>
              </a:defRPr>
            </a:pPr>
            <a:r>
              <a:t>All five team members</a:t>
            </a:r>
          </a:p>
        </p:txBody>
      </p:sp>
      <p:sp>
        <p:nvSpPr>
          <p:cNvPr id="39" name="TextBox 38"/>
          <p:cNvSpPr txBox="1"/>
          <p:nvPr/>
        </p:nvSpPr>
        <p:spPr>
          <a:xfrm>
            <a:off x="3703320" y="4965192"/>
            <a:ext cx="7653528" cy="420624"/>
          </a:xfrm>
          <a:prstGeom prst="rect">
            <a:avLst/>
          </a:prstGeom>
          <a:noFill/>
        </p:spPr>
        <p:txBody>
          <a:bodyPr wrap="square" lIns="0" rIns="0" tIns="0" bIns="0">
            <a:spAutoFit/>
          </a:bodyPr>
          <a:lstStyle/>
          <a:p>
            <a:pPr>
              <a:lnSpc>
                <a:spcPct val="107000"/>
              </a:lnSpc>
              <a:spcBef>
                <a:spcPts val="0"/>
              </a:spcBef>
              <a:spcAft>
                <a:spcPts val="348"/>
              </a:spcAft>
              <a:defRPr sz="1450" b="0">
                <a:solidFill>
                  <a:srgbClr val="102A3A"/>
                </a:solidFill>
                <a:latin typeface="Arial"/>
              </a:defRPr>
            </a:pPr>
            <a:r>
              <a:t>Enter all names and their registered emails in the same order; credits are on slides 1 and 10.</a:t>
            </a:r>
          </a:p>
        </p:txBody>
      </p:sp>
      <p:cxnSp>
        <p:nvCxnSpPr>
          <p:cNvPr id="40" name="Connector 39"/>
          <p:cNvCxnSpPr/>
          <p:nvPr/>
        </p:nvCxnSpPr>
        <p:spPr>
          <a:xfrm>
            <a:off x="685800" y="5431536"/>
            <a:ext cx="10780776" cy="0"/>
          </a:xfrm>
          <a:prstGeom prst="line">
            <a:avLst/>
          </a:prstGeom>
          <a:ln w="7620">
            <a:solidFill>
              <a:srgbClr val="DCE5ED"/>
            </a:solidFill>
          </a:ln>
        </p:spPr>
        <p:style>
          <a:lnRef idx="2">
            <a:schemeClr val="accent1"/>
          </a:lnRef>
          <a:fillRef idx="0">
            <a:schemeClr val="accent1"/>
          </a:fillRef>
          <a:effectRef idx="1">
            <a:schemeClr val="accent1"/>
          </a:effectRef>
          <a:fontRef idx="minor">
            <a:schemeClr val="tx1"/>
          </a:fontRef>
        </p:style>
      </p:cxnSp>
      <p:sp>
        <p:nvSpPr>
          <p:cNvPr id="41" name="Rounded Rectangle 40"/>
          <p:cNvSpPr/>
          <p:nvPr/>
        </p:nvSpPr>
        <p:spPr>
          <a:xfrm>
            <a:off x="694944" y="5660136"/>
            <a:ext cx="10789920" cy="402336"/>
          </a:xfrm>
          <a:prstGeom prst="roundRect">
            <a:avLst>
              <a:gd name="adj" fmla="val 18000"/>
            </a:avLst>
          </a:prstGeom>
          <a:solidFill>
            <a:srgbClr val="FFF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50392" y="5751576"/>
            <a:ext cx="10442448" cy="228600"/>
          </a:xfrm>
          <a:prstGeom prst="rect">
            <a:avLst/>
          </a:prstGeom>
          <a:noFill/>
        </p:spPr>
        <p:txBody>
          <a:bodyPr wrap="square" lIns="0" rIns="0" tIns="0" bIns="0">
            <a:spAutoFit/>
          </a:bodyPr>
          <a:lstStyle/>
          <a:p>
            <a:pPr>
              <a:lnSpc>
                <a:spcPct val="107000"/>
              </a:lnSpc>
              <a:spcBef>
                <a:spcPts val="0"/>
              </a:spcBef>
              <a:spcAft>
                <a:spcPts val="304"/>
              </a:spcAft>
              <a:defRPr sz="1270" b="1">
                <a:solidFill>
                  <a:srgbClr val="B06A16"/>
                </a:solidFill>
                <a:latin typeface="Arial"/>
              </a:defRPr>
            </a:pPr>
            <a:r>
              <a:t>Checkout check: only H01 and H04 output pairs are present. Complete and verify the remaining four before submission.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3F6FA"/>
        </a:solidFill>
        <a:effectLst/>
      </p:bgPr>
    </p:bg>
    <p:spTree>
      <p:nvGrpSpPr>
        <p:cNvPr id="1" name=""/>
        <p:cNvGrpSpPr/>
        <p:nvPr/>
      </p:nvGrpSpPr>
      <p:grpSpPr/>
      <p:sp>
        <p:nvSpPr>
          <p:cNvPr id="2" name="Rectangle 1"/>
          <p:cNvSpPr/>
          <p:nvPr/>
        </p:nvSpPr>
        <p:spPr>
          <a:xfrm>
            <a:off x="0" y="0"/>
            <a:ext cx="1223771" cy="50292"/>
          </a:xfrm>
          <a:prstGeom prst="rect">
            <a:avLst/>
          </a:prstGeom>
          <a:solidFill>
            <a:srgbClr val="7044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19199" y="0"/>
            <a:ext cx="1223771" cy="50292"/>
          </a:xfrm>
          <a:prstGeom prst="rect">
            <a:avLst/>
          </a:prstGeom>
          <a:solidFill>
            <a:srgbClr val="5E4D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438399" y="0"/>
            <a:ext cx="1223771" cy="50292"/>
          </a:xfrm>
          <a:prstGeom prst="rect">
            <a:avLst/>
          </a:prstGeom>
          <a:solidFill>
            <a:srgbClr val="426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57599" y="0"/>
            <a:ext cx="1223771" cy="50292"/>
          </a:xfrm>
          <a:prstGeom prst="rect">
            <a:avLst/>
          </a:prstGeom>
          <a:solidFill>
            <a:srgbClr val="2886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876799" y="0"/>
            <a:ext cx="1223771" cy="50292"/>
          </a:xfrm>
          <a:prstGeom prst="rect">
            <a:avLst/>
          </a:prstGeom>
          <a:solidFill>
            <a:srgbClr val="1591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095999" y="0"/>
            <a:ext cx="1223771" cy="50292"/>
          </a:xfrm>
          <a:prstGeom prst="rect">
            <a:avLst/>
          </a:prstGeom>
          <a:solidFill>
            <a:srgbClr val="2999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199" y="0"/>
            <a:ext cx="1223771" cy="50292"/>
          </a:xfrm>
          <a:prstGeom prst="rect">
            <a:avLst/>
          </a:prstGeom>
          <a:solidFill>
            <a:srgbClr val="7DAD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534399" y="0"/>
            <a:ext cx="1223771" cy="50292"/>
          </a:xfrm>
          <a:prstGeom prst="rect">
            <a:avLst/>
          </a:prstGeom>
          <a:solidFill>
            <a:srgbClr val="C6A6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753599" y="0"/>
            <a:ext cx="1223771" cy="50292"/>
          </a:xfrm>
          <a:prstGeom prst="rect">
            <a:avLst/>
          </a:prstGeom>
          <a:solidFill>
            <a:srgbClr val="CC7B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0972799" y="0"/>
            <a:ext cx="1223771" cy="50292"/>
          </a:xfrm>
          <a:prstGeom prst="rect">
            <a:avLst/>
          </a:prstGeom>
          <a:solidFill>
            <a:srgbClr val="B84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1792" y="365760"/>
            <a:ext cx="10972800" cy="246888"/>
          </a:xfrm>
          <a:prstGeom prst="rect">
            <a:avLst/>
          </a:prstGeom>
          <a:noFill/>
        </p:spPr>
        <p:txBody>
          <a:bodyPr wrap="square" lIns="0" rIns="0" tIns="0" bIns="0">
            <a:spAutoFit/>
          </a:bodyPr>
          <a:lstStyle/>
          <a:p>
            <a:pPr>
              <a:lnSpc>
                <a:spcPct val="107000"/>
              </a:lnSpc>
              <a:spcBef>
                <a:spcPts val="0"/>
              </a:spcBef>
              <a:spcAft>
                <a:spcPts val="252"/>
              </a:spcAft>
              <a:defRPr sz="1050" b="1">
                <a:solidFill>
                  <a:srgbClr val="087F8C"/>
                </a:solidFill>
                <a:latin typeface="Arial"/>
              </a:defRPr>
            </a:pPr>
            <a:r>
              <a:t>APPENDIX D / SOURCES AND TRACEABILITY</a:t>
            </a:r>
          </a:p>
        </p:txBody>
      </p:sp>
      <p:sp>
        <p:nvSpPr>
          <p:cNvPr id="13" name="TextBox 12"/>
          <p:cNvSpPr txBox="1"/>
          <p:nvPr/>
        </p:nvSpPr>
        <p:spPr>
          <a:xfrm>
            <a:off x="621792" y="841248"/>
            <a:ext cx="10972800" cy="941832"/>
          </a:xfrm>
          <a:prstGeom prst="rect">
            <a:avLst/>
          </a:prstGeom>
          <a:noFill/>
        </p:spPr>
        <p:txBody>
          <a:bodyPr wrap="square" lIns="0" rIns="0" tIns="0" bIns="0">
            <a:spAutoFit/>
          </a:bodyPr>
          <a:lstStyle/>
          <a:p>
            <a:pPr>
              <a:lnSpc>
                <a:spcPct val="107000"/>
              </a:lnSpc>
              <a:spcBef>
                <a:spcPts val="0"/>
              </a:spcBef>
              <a:spcAft>
                <a:spcPts val="744"/>
              </a:spcAft>
              <a:defRPr sz="3100" b="1">
                <a:solidFill>
                  <a:srgbClr val="102A3A"/>
                </a:solidFill>
                <a:latin typeface="Arial"/>
              </a:defRPr>
            </a:pPr>
            <a:r>
              <a:t>Built from the supplied materials and current code.</a:t>
            </a:r>
          </a:p>
        </p:txBody>
      </p:sp>
      <p:sp>
        <p:nvSpPr>
          <p:cNvPr id="14" name="TextBox 13"/>
          <p:cNvSpPr txBox="1"/>
          <p:nvPr/>
        </p:nvSpPr>
        <p:spPr>
          <a:xfrm>
            <a:off x="640080" y="1417320"/>
            <a:ext cx="10927080" cy="475488"/>
          </a:xfrm>
          <a:prstGeom prst="rect">
            <a:avLst/>
          </a:prstGeom>
          <a:noFill/>
        </p:spPr>
        <p:txBody>
          <a:bodyPr wrap="square" lIns="0" rIns="0" tIns="0" bIns="0">
            <a:spAutoFit/>
          </a:bodyPr>
          <a:lstStyle/>
          <a:p>
            <a:pPr>
              <a:lnSpc>
                <a:spcPct val="107000"/>
              </a:lnSpc>
              <a:spcBef>
                <a:spcPts val="0"/>
              </a:spcBef>
              <a:spcAft>
                <a:spcPts val="359"/>
              </a:spcAft>
              <a:defRPr sz="1500" b="0">
                <a:solidFill>
                  <a:srgbClr val="587080"/>
                </a:solidFill>
                <a:latin typeface="Arial"/>
              </a:defRPr>
            </a:pPr>
            <a:r>
              <a:t>Current repository: ght007/SchubKI • feature_dialog @18e4f84</a:t>
            </a:r>
          </a:p>
        </p:txBody>
      </p:sp>
      <p:cxnSp>
        <p:nvCxnSpPr>
          <p:cNvPr id="15" name="Connector 14"/>
          <p:cNvCxnSpPr/>
          <p:nvPr/>
        </p:nvCxnSpPr>
        <p:spPr>
          <a:xfrm>
            <a:off x="621792" y="6318504"/>
            <a:ext cx="10945368" cy="0"/>
          </a:xfrm>
          <a:prstGeom prst="line">
            <a:avLst/>
          </a:prstGeom>
          <a:ln w="8890">
            <a:solidFill>
              <a:srgbClr val="DCE5ED"/>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40080" y="6428232"/>
            <a:ext cx="9875520" cy="182880"/>
          </a:xfrm>
          <a:prstGeom prst="rect">
            <a:avLst/>
          </a:prstGeom>
          <a:noFill/>
        </p:spPr>
        <p:txBody>
          <a:bodyPr wrap="square" lIns="0" rIns="0" tIns="0" bIns="0">
            <a:spAutoFit/>
          </a:bodyPr>
          <a:lstStyle/>
          <a:p>
            <a:pPr>
              <a:lnSpc>
                <a:spcPct val="107000"/>
              </a:lnSpc>
              <a:spcBef>
                <a:spcPts val="0"/>
              </a:spcBef>
              <a:spcAft>
                <a:spcPts val="204"/>
              </a:spcAft>
              <a:defRPr sz="850" b="0">
                <a:solidFill>
                  <a:srgbClr val="587080"/>
                </a:solidFill>
                <a:latin typeface="Arial"/>
              </a:defRPr>
            </a:pPr>
            <a:r>
              <a:t>Prepared 18 October 2026  •  Source details are also recorded in each slide’s speaker notes</a:t>
            </a:r>
          </a:p>
        </p:txBody>
      </p:sp>
      <p:sp>
        <p:nvSpPr>
          <p:cNvPr id="17" name="TextBox 16"/>
          <p:cNvSpPr txBox="1"/>
          <p:nvPr/>
        </p:nvSpPr>
        <p:spPr>
          <a:xfrm>
            <a:off x="10881360" y="6409944"/>
            <a:ext cx="658368" cy="228600"/>
          </a:xfrm>
          <a:prstGeom prst="rect">
            <a:avLst/>
          </a:prstGeom>
          <a:noFill/>
        </p:spPr>
        <p:txBody>
          <a:bodyPr wrap="square" lIns="0" rIns="0" tIns="0" bIns="0">
            <a:spAutoFit/>
          </a:bodyPr>
          <a:lstStyle/>
          <a:p>
            <a:pPr algn="r">
              <a:lnSpc>
                <a:spcPct val="107000"/>
              </a:lnSpc>
              <a:spcBef>
                <a:spcPts val="0"/>
              </a:spcBef>
              <a:spcAft>
                <a:spcPts val="216"/>
              </a:spcAft>
              <a:defRPr sz="900" b="0">
                <a:solidFill>
                  <a:srgbClr val="587080"/>
                </a:solidFill>
                <a:latin typeface="Arial"/>
              </a:defRPr>
            </a:pPr>
            <a:r>
              <a:t>14 / 14</a:t>
            </a:r>
          </a:p>
        </p:txBody>
      </p:sp>
      <p:sp>
        <p:nvSpPr>
          <p:cNvPr id="18" name="TextBox 17"/>
          <p:cNvSpPr txBox="1"/>
          <p:nvPr/>
        </p:nvSpPr>
        <p:spPr>
          <a:xfrm>
            <a:off x="731520" y="2011680"/>
            <a:ext cx="10607040" cy="246888"/>
          </a:xfrm>
          <a:prstGeom prst="rect">
            <a:avLst/>
          </a:prstGeom>
          <a:noFill/>
        </p:spPr>
        <p:txBody>
          <a:bodyPr wrap="square" lIns="0" rIns="0" tIns="0" bIns="0">
            <a:spAutoFit/>
          </a:bodyPr>
          <a:lstStyle/>
          <a:p>
            <a:pPr>
              <a:lnSpc>
                <a:spcPct val="107000"/>
              </a:lnSpc>
              <a:spcBef>
                <a:spcPts val="0"/>
              </a:spcBef>
              <a:spcAft>
                <a:spcPts val="359"/>
              </a:spcAft>
              <a:defRPr sz="1500" b="1">
                <a:solidFill>
                  <a:srgbClr val="087F8C"/>
                </a:solidFill>
                <a:latin typeface="Arial"/>
              </a:defRPr>
            </a:pPr>
            <a:r>
              <a:t>1  Official challenge brief</a:t>
            </a:r>
          </a:p>
        </p:txBody>
      </p:sp>
      <p:sp>
        <p:nvSpPr>
          <p:cNvPr id="19" name="TextBox 18"/>
          <p:cNvSpPr txBox="1"/>
          <p:nvPr/>
        </p:nvSpPr>
        <p:spPr>
          <a:xfrm>
            <a:off x="731520" y="2286000"/>
            <a:ext cx="10607040" cy="274320"/>
          </a:xfrm>
          <a:prstGeom prst="rect">
            <a:avLst/>
          </a:prstGeom>
          <a:noFill/>
        </p:spPr>
        <p:txBody>
          <a:bodyPr wrap="square" lIns="0" rIns="0" tIns="0" bIns="0">
            <a:spAutoFit/>
          </a:bodyPr>
          <a:lstStyle/>
          <a:p>
            <a:pPr>
              <a:lnSpc>
                <a:spcPct val="107000"/>
              </a:lnSpc>
              <a:spcBef>
                <a:spcPts val="0"/>
              </a:spcBef>
              <a:spcAft>
                <a:spcPts val="324"/>
              </a:spcAft>
              <a:defRPr sz="1350" b="0">
                <a:solidFill>
                  <a:srgbClr val="587080"/>
                </a:solidFill>
                <a:latin typeface="Arial"/>
              </a:defRPr>
            </a:pPr>
            <a:r>
              <a:t>AI-based molecular media analysis by process-spectroscopy in-line.pdf, pp.1–3.</a:t>
            </a:r>
          </a:p>
        </p:txBody>
      </p:sp>
      <p:sp>
        <p:nvSpPr>
          <p:cNvPr id="20" name="TextBox 19"/>
          <p:cNvSpPr txBox="1"/>
          <p:nvPr/>
        </p:nvSpPr>
        <p:spPr>
          <a:xfrm>
            <a:off x="731520" y="2596896"/>
            <a:ext cx="10607040" cy="246888"/>
          </a:xfrm>
          <a:prstGeom prst="rect">
            <a:avLst/>
          </a:prstGeom>
          <a:noFill/>
        </p:spPr>
        <p:txBody>
          <a:bodyPr wrap="square" lIns="0" rIns="0" tIns="0" bIns="0">
            <a:spAutoFit/>
          </a:bodyPr>
          <a:lstStyle/>
          <a:p>
            <a:pPr>
              <a:lnSpc>
                <a:spcPct val="107000"/>
              </a:lnSpc>
              <a:spcBef>
                <a:spcPts val="0"/>
              </a:spcBef>
              <a:spcAft>
                <a:spcPts val="359"/>
              </a:spcAft>
              <a:defRPr sz="1500" b="1">
                <a:solidFill>
                  <a:srgbClr val="087F8C"/>
                </a:solidFill>
                <a:latin typeface="Arial"/>
              </a:defRPr>
            </a:pPr>
            <a:r>
              <a:t>2  Submission requirements</a:t>
            </a:r>
          </a:p>
        </p:txBody>
      </p:sp>
      <p:sp>
        <p:nvSpPr>
          <p:cNvPr id="21" name="TextBox 20"/>
          <p:cNvSpPr txBox="1"/>
          <p:nvPr/>
        </p:nvSpPr>
        <p:spPr>
          <a:xfrm>
            <a:off x="731520" y="2871216"/>
            <a:ext cx="10607040" cy="274320"/>
          </a:xfrm>
          <a:prstGeom prst="rect">
            <a:avLst/>
          </a:prstGeom>
          <a:noFill/>
        </p:spPr>
        <p:txBody>
          <a:bodyPr wrap="square" lIns="0" rIns="0" tIns="0" bIns="0">
            <a:spAutoFit/>
          </a:bodyPr>
          <a:lstStyle/>
          <a:p>
            <a:pPr>
              <a:lnSpc>
                <a:spcPct val="107000"/>
              </a:lnSpc>
              <a:spcBef>
                <a:spcPts val="0"/>
              </a:spcBef>
              <a:spcAft>
                <a:spcPts val="324"/>
              </a:spcAft>
              <a:defRPr sz="1350" b="0">
                <a:solidFill>
                  <a:srgbClr val="587080"/>
                </a:solidFill>
                <a:latin typeface="Arial"/>
              </a:defRPr>
            </a:pPr>
            <a:r>
              <a:t>Art Fiber Systems: AI Assistant for In-line Spectroscopy Solution Design.pdf, pp.1–4.</a:t>
            </a:r>
          </a:p>
        </p:txBody>
      </p:sp>
      <p:sp>
        <p:nvSpPr>
          <p:cNvPr id="22" name="TextBox 21"/>
          <p:cNvSpPr txBox="1"/>
          <p:nvPr/>
        </p:nvSpPr>
        <p:spPr>
          <a:xfrm>
            <a:off x="731520" y="3182112"/>
            <a:ext cx="10607040" cy="246888"/>
          </a:xfrm>
          <a:prstGeom prst="rect">
            <a:avLst/>
          </a:prstGeom>
          <a:noFill/>
        </p:spPr>
        <p:txBody>
          <a:bodyPr wrap="square" lIns="0" rIns="0" tIns="0" bIns="0">
            <a:spAutoFit/>
          </a:bodyPr>
          <a:lstStyle/>
          <a:p>
            <a:pPr>
              <a:lnSpc>
                <a:spcPct val="107000"/>
              </a:lnSpc>
              <a:spcBef>
                <a:spcPts val="0"/>
              </a:spcBef>
              <a:spcAft>
                <a:spcPts val="359"/>
              </a:spcAft>
              <a:defRPr sz="1500" b="1">
                <a:solidFill>
                  <a:srgbClr val="087F8C"/>
                </a:solidFill>
                <a:latin typeface="Arial"/>
              </a:defRPr>
            </a:pPr>
            <a:r>
              <a:t>3  Earlier project presentation</a:t>
            </a:r>
          </a:p>
        </p:txBody>
      </p:sp>
      <p:sp>
        <p:nvSpPr>
          <p:cNvPr id="23" name="TextBox 22"/>
          <p:cNvSpPr txBox="1"/>
          <p:nvPr/>
        </p:nvSpPr>
        <p:spPr>
          <a:xfrm>
            <a:off x="731520" y="3456432"/>
            <a:ext cx="10607040" cy="274320"/>
          </a:xfrm>
          <a:prstGeom prst="rect">
            <a:avLst/>
          </a:prstGeom>
          <a:noFill/>
        </p:spPr>
        <p:txBody>
          <a:bodyPr wrap="square" lIns="0" rIns="0" tIns="0" bIns="0">
            <a:spAutoFit/>
          </a:bodyPr>
          <a:lstStyle/>
          <a:p>
            <a:pPr>
              <a:lnSpc>
                <a:spcPct val="107000"/>
              </a:lnSpc>
              <a:spcBef>
                <a:spcPts val="0"/>
              </a:spcBef>
              <a:spcAft>
                <a:spcPts val="324"/>
              </a:spcAft>
              <a:defRPr sz="1350" b="0">
                <a:solidFill>
                  <a:srgbClr val="587080"/>
                </a:solidFill>
                <a:latin typeface="Arial"/>
              </a:defRPr>
            </a:pPr>
            <a:r>
              <a:t>AFS_Assistant_Presentation.pdf, 8 pages; used as background, with claims checked.</a:t>
            </a:r>
          </a:p>
        </p:txBody>
      </p:sp>
      <p:sp>
        <p:nvSpPr>
          <p:cNvPr id="24" name="TextBox 23"/>
          <p:cNvSpPr txBox="1"/>
          <p:nvPr/>
        </p:nvSpPr>
        <p:spPr>
          <a:xfrm>
            <a:off x="731520" y="3767328"/>
            <a:ext cx="10607040" cy="246888"/>
          </a:xfrm>
          <a:prstGeom prst="rect">
            <a:avLst/>
          </a:prstGeom>
          <a:noFill/>
        </p:spPr>
        <p:txBody>
          <a:bodyPr wrap="square" lIns="0" rIns="0" tIns="0" bIns="0">
            <a:spAutoFit/>
          </a:bodyPr>
          <a:lstStyle/>
          <a:p>
            <a:pPr>
              <a:lnSpc>
                <a:spcPct val="107000"/>
              </a:lnSpc>
              <a:spcBef>
                <a:spcPts val="0"/>
              </a:spcBef>
              <a:spcAft>
                <a:spcPts val="359"/>
              </a:spcAft>
              <a:defRPr sz="1500" b="1">
                <a:solidFill>
                  <a:srgbClr val="087F8C"/>
                </a:solidFill>
                <a:latin typeface="Arial"/>
              </a:defRPr>
            </a:pPr>
            <a:r>
              <a:t>4  Project documentation</a:t>
            </a:r>
          </a:p>
        </p:txBody>
      </p:sp>
      <p:sp>
        <p:nvSpPr>
          <p:cNvPr id="25" name="TextBox 24"/>
          <p:cNvSpPr txBox="1"/>
          <p:nvPr/>
        </p:nvSpPr>
        <p:spPr>
          <a:xfrm>
            <a:off x="731520" y="4041648"/>
            <a:ext cx="10607040" cy="274320"/>
          </a:xfrm>
          <a:prstGeom prst="rect">
            <a:avLst/>
          </a:prstGeom>
          <a:noFill/>
        </p:spPr>
        <p:txBody>
          <a:bodyPr wrap="square" lIns="0" rIns="0" tIns="0" bIns="0">
            <a:spAutoFit/>
          </a:bodyPr>
          <a:lstStyle/>
          <a:p>
            <a:pPr>
              <a:lnSpc>
                <a:spcPct val="107000"/>
              </a:lnSpc>
              <a:spcBef>
                <a:spcPts val="0"/>
              </a:spcBef>
              <a:spcAft>
                <a:spcPts val="324"/>
              </a:spcAft>
              <a:defRPr sz="1350" b="0">
                <a:solidFill>
                  <a:srgbClr val="587080"/>
                </a:solidFill>
                <a:latin typeface="Arial"/>
              </a:defRPr>
            </a:pPr>
            <a:r>
              <a:t>README.md and docs/frontend-integration.md: approach, UI, evaluation, limits and storage.</a:t>
            </a:r>
          </a:p>
        </p:txBody>
      </p:sp>
      <p:sp>
        <p:nvSpPr>
          <p:cNvPr id="26" name="TextBox 25"/>
          <p:cNvSpPr txBox="1"/>
          <p:nvPr/>
        </p:nvSpPr>
        <p:spPr>
          <a:xfrm>
            <a:off x="731520" y="4352544"/>
            <a:ext cx="10607040" cy="246888"/>
          </a:xfrm>
          <a:prstGeom prst="rect">
            <a:avLst/>
          </a:prstGeom>
          <a:noFill/>
        </p:spPr>
        <p:txBody>
          <a:bodyPr wrap="square" lIns="0" rIns="0" tIns="0" bIns="0">
            <a:spAutoFit/>
          </a:bodyPr>
          <a:lstStyle/>
          <a:p>
            <a:pPr>
              <a:lnSpc>
                <a:spcPct val="107000"/>
              </a:lnSpc>
              <a:spcBef>
                <a:spcPts val="0"/>
              </a:spcBef>
              <a:spcAft>
                <a:spcPts val="359"/>
              </a:spcAft>
              <a:defRPr sz="1500" b="1">
                <a:solidFill>
                  <a:srgbClr val="087F8C"/>
                </a:solidFill>
                <a:latin typeface="Arial"/>
              </a:defRPr>
            </a:pPr>
            <a:r>
              <a:t>5  Implementation and evidence</a:t>
            </a:r>
          </a:p>
        </p:txBody>
      </p:sp>
      <p:sp>
        <p:nvSpPr>
          <p:cNvPr id="27" name="TextBox 26"/>
          <p:cNvSpPr txBox="1"/>
          <p:nvPr/>
        </p:nvSpPr>
        <p:spPr>
          <a:xfrm>
            <a:off x="731520" y="4626864"/>
            <a:ext cx="10607040" cy="274320"/>
          </a:xfrm>
          <a:prstGeom prst="rect">
            <a:avLst/>
          </a:prstGeom>
          <a:noFill/>
        </p:spPr>
        <p:txBody>
          <a:bodyPr wrap="square" lIns="0" rIns="0" tIns="0" bIns="0">
            <a:spAutoFit/>
          </a:bodyPr>
          <a:lstStyle/>
          <a:p>
            <a:pPr>
              <a:lnSpc>
                <a:spcPct val="107000"/>
              </a:lnSpc>
              <a:spcBef>
                <a:spcPts val="0"/>
              </a:spcBef>
              <a:spcAft>
                <a:spcPts val="324"/>
              </a:spcAft>
              <a:defRPr sz="1350" b="0">
                <a:solidFill>
                  <a:srgbClr val="587080"/>
                </a:solidFill>
                <a:latin typeface="Arial"/>
              </a:defRPr>
            </a:pPr>
            <a:r>
              <a:t>Current pipeline, presenter and render code; data/kb/claims.jsonl and rules.yaml.</a:t>
            </a:r>
          </a:p>
        </p:txBody>
      </p:sp>
      <p:sp>
        <p:nvSpPr>
          <p:cNvPr id="28" name="TextBox 27"/>
          <p:cNvSpPr txBox="1"/>
          <p:nvPr/>
        </p:nvSpPr>
        <p:spPr>
          <a:xfrm>
            <a:off x="731520" y="4937760"/>
            <a:ext cx="10607040" cy="246888"/>
          </a:xfrm>
          <a:prstGeom prst="rect">
            <a:avLst/>
          </a:prstGeom>
          <a:noFill/>
        </p:spPr>
        <p:txBody>
          <a:bodyPr wrap="square" lIns="0" rIns="0" tIns="0" bIns="0">
            <a:spAutoFit/>
          </a:bodyPr>
          <a:lstStyle/>
          <a:p>
            <a:pPr>
              <a:lnSpc>
                <a:spcPct val="107000"/>
              </a:lnSpc>
              <a:spcBef>
                <a:spcPts val="0"/>
              </a:spcBef>
              <a:spcAft>
                <a:spcPts val="359"/>
              </a:spcAft>
              <a:defRPr sz="1500" b="1">
                <a:solidFill>
                  <a:srgbClr val="087F8C"/>
                </a:solidFill>
                <a:latin typeface="Arial"/>
              </a:defRPr>
            </a:pPr>
            <a:r>
              <a:t>6  Stored examples</a:t>
            </a:r>
          </a:p>
        </p:txBody>
      </p:sp>
      <p:sp>
        <p:nvSpPr>
          <p:cNvPr id="29" name="TextBox 28"/>
          <p:cNvSpPr txBox="1"/>
          <p:nvPr/>
        </p:nvSpPr>
        <p:spPr>
          <a:xfrm>
            <a:off x="731520" y="5212080"/>
            <a:ext cx="10607040" cy="274320"/>
          </a:xfrm>
          <a:prstGeom prst="rect">
            <a:avLst/>
          </a:prstGeom>
          <a:noFill/>
        </p:spPr>
        <p:txBody>
          <a:bodyPr wrap="square" lIns="0" rIns="0" tIns="0" bIns="0">
            <a:spAutoFit/>
          </a:bodyPr>
          <a:lstStyle/>
          <a:p>
            <a:pPr>
              <a:lnSpc>
                <a:spcPct val="107000"/>
              </a:lnSpc>
              <a:spcBef>
                <a:spcPts val="0"/>
              </a:spcBef>
              <a:spcAft>
                <a:spcPts val="324"/>
              </a:spcAft>
              <a:defRPr sz="1350" b="0">
                <a:solidFill>
                  <a:srgbClr val="587080"/>
                </a:solidFill>
                <a:latin typeface="Arial"/>
              </a:defRPr>
            </a:pPr>
            <a:r>
              <a:t>outputs/H01.json and H04.json, created 17 Oct 2026; screenshots replay those archived data.</a:t>
            </a:r>
          </a:p>
        </p:txBody>
      </p:sp>
      <p:sp>
        <p:nvSpPr>
          <p:cNvPr id="30" name="TextBox 29"/>
          <p:cNvSpPr txBox="1"/>
          <p:nvPr/>
        </p:nvSpPr>
        <p:spPr>
          <a:xfrm>
            <a:off x="731520" y="5724144"/>
            <a:ext cx="10607040" cy="365760"/>
          </a:xfrm>
          <a:prstGeom prst="rect">
            <a:avLst/>
          </a:prstGeom>
          <a:noFill/>
        </p:spPr>
        <p:txBody>
          <a:bodyPr wrap="square" lIns="0" rIns="0" tIns="0" bIns="0">
            <a:spAutoFit/>
          </a:bodyPr>
          <a:lstStyle/>
          <a:p>
            <a:pPr>
              <a:lnSpc>
                <a:spcPct val="107000"/>
              </a:lnSpc>
              <a:spcBef>
                <a:spcPts val="0"/>
              </a:spcBef>
              <a:spcAft>
                <a:spcPts val="336"/>
              </a:spcAft>
              <a:defRPr sz="1400" b="1">
                <a:solidFill>
                  <a:srgbClr val="102A3A"/>
                </a:solidFill>
                <a:latin typeface="Arial"/>
              </a:defRPr>
            </a:pPr>
            <a:r>
              <a:t>Reproduce through the repository README with the required raw AFS documents. Slides alone do not establish runtime readiness.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AFS Assessment Assistant — Hackathon Presentation</dc:title>
  <dc:subject>Art Fiber Systems challenge | National AI Hackathon 2026</dc:subject>
  <dc:creator>Eisa Atif, Marie Habermann, Atfan Deshmukh, Akshdeep Singh, Naumanurrahman Shaikmujeeburrahman</dc:creator>
  <cp:keywords>AFS, SchubKI, spectroscopy, grounded AI, feasibility study</cp:keywords>
  <dc:description>Prepared from supplied hackathon documents and the SchubKI repository. See slide notes for sources and evidence limits.</dc:description>
  <cp:lastModifiedBy>Steve Canny</cp:lastModifiedBy>
  <cp:revision>1</cp:revision>
  <dcterms:created xsi:type="dcterms:W3CDTF">2013-01-27T09:14:16Z</dcterms:created>
  <dcterms:modified xsi:type="dcterms:W3CDTF">2013-01-27T09:15:58Z</dcterms:modified>
  <cp:category/>
</cp:coreProperties>
</file>