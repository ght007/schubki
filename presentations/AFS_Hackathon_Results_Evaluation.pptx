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10 seconds</a:t>
            </a:r>
          </a:p>
          <a:p/>
          <a:p>
            <a:r>
              <a:t>PRESENTER SCRIPT</a:t>
            </a:r>
          </a:p>
          <a:p>
            <a:r>
              <a:t>Our assistant turns enquiries into reviewable spectroscopy experiments. Here are six final-case results and four working features: clarification, evidence review, the Coach, and knowledge expansion.</a:t>
            </a:r>
          </a:p>
          <a:p/>
          <a:p>
            <a:r>
              <a:t>EVIDENCE &amp; REPRODUCTION</a:t>
            </a:r>
          </a:p>
          <a:p>
            <a:r>
              <a:t>README; current code at 40dd40b; official challenge brief pp.1–3; user-supplied team names.</a:t>
            </a:r>
          </a:p>
          <a:p/>
          <a:p>
            <a:r>
              <a:t>LIMITS / DEMO DETAIL</a:t>
            </a:r>
          </a:p>
          <a:p>
            <a:r>
              <a:t>All five names are credited equally; no individual roles have been invented. The deck updates both supplied drafts. Main talk totals 260 seconds, leaving 40 seconds for transitions within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 seconds</a:t>
            </a:r>
          </a:p>
          <a:p/>
          <a:p>
            <a:r>
              <a:t>PRESENTER SCRIPT</a:t>
            </a:r>
          </a:p>
          <a:p>
            <a:r>
              <a:t>The evaluation uses all six official final scenarios. They test calibration transfer, optical geometry, selectivity, fiber physics, an undefined target, and the scope of research evidence. These are decision tests, not a presentation of measurement accuracy. The feature demos connect directly to the weighted judging criteria shown here.</a:t>
            </a:r>
          </a:p>
          <a:p/>
          <a:p>
            <a:r>
              <a:t>EVIDENCE &amp; REPRODUCTION</a:t>
            </a:r>
          </a:p>
          <a:p>
            <a:r>
              <a:t>customer_scenarios_for_final_evaluation.txt from materials.zip; challenge brief p.3; six archived H01–H06 Council answers.</a:t>
            </a:r>
          </a:p>
          <a:p/>
          <a:p>
            <a:r>
              <a:t>LIMITS / DEMO DETAIL</a:t>
            </a:r>
          </a:p>
          <a:p>
            <a:r>
              <a:t>H01–H04 archived runs include extra path answers. H05 still receives a provisional status despite an undefined target; this is a reported evaluation gap, not a pass.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35 seconds</a:t>
            </a:r>
          </a:p>
          <a:p/>
          <a:p>
            <a:r>
              <a:t>PRESENTER SCRIPT</a:t>
            </a:r>
          </a:p>
          <a:p>
            <a:r>
              <a:t>Here are the actual saved Council results, before showing the demos. Thirty-five of forty-four counted source checks verify. Four unsupported-number flags remain, and none of the six reports claims high confidence. The check totals range from twelve to fifteen out of sixteen. H06 is outside scope, as it should be. H05 still says provisional despite the undefined target. We treat these as inspectable results and remaining defects, rather than claiming a perfect score.</a:t>
            </a:r>
          </a:p>
          <a:p/>
          <a:p>
            <a:r>
              <a:t>EVIDENCE &amp; REPRODUCTION</a:t>
            </a:r>
          </a:p>
          <a:p>
            <a:r>
              <a:t>evaluation/council_archive_audit.json; archived Markdown from origin/presentation@807609d. Ratios are from each report’s own verification totals; 35/44 = 79.5%.</a:t>
            </a:r>
          </a:p>
          <a:p/>
          <a:p>
            <a:r>
              <a:t>LIMITS / DEMO DETAIL</a:t>
            </a:r>
          </a:p>
          <a:p>
            <a:r>
              <a:t>These are stored Council outputs, not fresh paid LLM runs. Some include expert path answers, so they cannot be compared as controlled paired trials with the unanswered offline baseline. Quality checks include heuristic rules, can produce false positives, and do not cover every sentence or prove semantic correctness. There is no jury score or spectral prediction benchmark.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 seconds</a:t>
            </a:r>
          </a:p>
          <a:p/>
          <a:p>
            <a:r>
              <a:t>PRESENTER SCRIPT</a:t>
            </a:r>
          </a:p>
          <a:p>
            <a:r>
              <a:t>The model interprets the enquiry and drafts an assessment. Code applies sourced rules, retrieves evidence, checks claims and numbers, and computes confidence. Council adds multiple drafts and review. The starting knowledge base has ninety-five claim cards and thirty-five rules; the report has sixteen quality checks.</a:t>
            </a:r>
          </a:p>
          <a:p/>
          <a:p>
            <a:r>
              <a:t>EVIDENCE &amp; REPRODUCTION</a:t>
            </a:r>
          </a:p>
          <a:p>
            <a:r>
              <a:t>README; docs/frontend-integration.md; backend/app modules pipeline, understand, rules, retrieve, report, verify, quality, confidence, coach, whatif; data/kb. Snapshot 40dd40b.</a:t>
            </a:r>
          </a:p>
          <a:p/>
          <a:p>
            <a:r>
              <a:t>LIMITS / DEMO DETAIL</a:t>
            </a:r>
          </a:p>
          <a:p>
            <a:r>
              <a:t>Source inventory: six supplied AFS sources, 65 PDF pages, 275 index records; a separately registered three-page business brief brings the complete initial test index to 68 pages / 281 records. Cards and rules are curated, not all automatically learned. Council uses three model endpoints from two model families; agreement is not three independent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seconds</a:t>
            </a:r>
          </a:p>
          <a:p/>
          <a:p>
            <a:r>
              <a:t>PRESENTER SCRIPT</a:t>
            </a:r>
          </a:p>
          <a:p>
            <a:r>
              <a:t>Start with the enquiry review. The assistant exposes its reading and the customer’s own claims, including the silica-to-MIR conflict. The user can correct facts and answer the questions that matter before selecting Yes, assess. The original enquiry stays visible; answers are recorded separately. This makes clarification part of the workflow instead of burying it after a confident recommendation.</a:t>
            </a:r>
          </a:p>
          <a:p/>
          <a:p>
            <a:r>
              <a:t>EVIDENCE &amp; REPRODUCTION</a:t>
            </a:r>
          </a:p>
          <a:p>
            <a:r>
              <a:t>assets/clarification-review.png and clarification-questions.png; real browser and unmodified local API. Run 990e8459a5, generated from official H04 input, LLM_MOCK=1, hashing embeddings, SQLite.</a:t>
            </a:r>
          </a:p>
          <a:p/>
          <a:p>
            <a:r>
              <a:t>LIMITS / DEMO DETAIL</a:t>
            </a:r>
          </a:p>
          <a:p>
            <a:r>
              <a:t>Screenshots are actual local rule-only behavior, not the saved Council run on slide 3. Optional answers do not imply that missing information has been supplied. The dialog has Yes, assess and return/close behavior; no skip button or every-run checkbox is advertised.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a:t>
            </a:r>
          </a:p>
          <a:p/>
          <a:p>
            <a:r>
              <a:t>PRESENTER SCRIPT</a:t>
            </a:r>
          </a:p>
          <a:p>
            <a:r>
              <a:t>Click a citation to open the PDF alongside the report. Here, S02 page six gives the fiber transmission ranges. The central result is physical: the existing silica cable cannot simply carry the requested MIR signal. A new infrared fiber and the actual route require confirmation. S02 page thirteen supports investigating water in petroleum in the lab; it does not establish a validated remote process installation.</a:t>
            </a:r>
          </a:p>
          <a:p/>
          <a:p>
            <a:r>
              <a:t>EVIDENCE &amp; REPRODUCTION</a:t>
            </a:r>
          </a:p>
          <a:p>
            <a:r>
              <a:t>Actual screenshot assets/evidence-split.png, cropped to enlarge the unchanged PDF pane. Supplied S02_Process_Control_Slides, pp.6,9,13; manual image transcription in data/kb/s02_notes.md and curated claim cards.</a:t>
            </a:r>
          </a:p>
          <a:p/>
          <a:p>
            <a:r>
              <a:t>LIMITS / DEMO DETAIL</a:t>
            </a:r>
          </a:p>
          <a:p>
            <a:r>
              <a:t>The UI supports a draggable split and starts at 50/50; the app header hides while the PDF is open. The source page is image-based, so curated transcription is an additional verification dependency. The saved Council H04 output cites S11 p.13 in some sections; S11 is not in the committed source registry. That gap is disclosed on slide 10. Wavelength ranges describe source specifications, not a promised installation distance or detection limit.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seconds</a:t>
            </a:r>
          </a:p>
          <a:p/>
          <a:p>
            <a:r>
              <a:t>PRESENTER SCRIPT</a:t>
            </a:r>
          </a:p>
          <a:p>
            <a:r>
              <a:t>Use representative samples and an independent water reference such as Karl Fischer. Compare NIR on the existing silica link with MIR ATR only if an infrared link is confirmed. Validate on held-out samples against customer-agreed error, robustness and installation constraints. The acceptance limits must come from the customer, rather than an arbitrary R-squared threshold.</a:t>
            </a:r>
          </a:p>
          <a:p/>
          <a:p>
            <a:r>
              <a:t>EVIDENCE &amp; REPRODUCTION</a:t>
            </a:r>
          </a:p>
          <a:p>
            <a:r>
              <a:t>Archived H04 Council report §11, compressed and edited as a presentation example; supplied S02 p.13 shows lab petroleum spectra, not process accuracy. The complete saved Council answer remains unedited in its original archive.</a:t>
            </a:r>
          </a:p>
          <a:p/>
          <a:p>
            <a:r>
              <a:t>LIMITS / DEMO DETAIL</a:t>
            </a:r>
          </a:p>
          <a:p>
            <a:r>
              <a:t>This is a proposed feasibility plan; no experiment has been performed here. The Council plan uses the illustrative source range 0.1–2.0% and its decision basis includes R² &gt; 0.95; neither is an established client requirement. The fresh keyword fallback also introduces irrelevant formulation-reuse steps in H04. Those are limitations rather than examples to reproduce in the recommended plan.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seconds</a:t>
            </a:r>
          </a:p>
          <a:p/>
          <a:p>
            <a:r>
              <a:t>PRESENTER SCRIPT</a:t>
            </a:r>
          </a:p>
          <a:p>
            <a:r>
              <a:t>In this real Coach re-run, we add illustrative customer answers about optical behavior, a reference method, operating conditions and acceptance criteria. Completeness moves from two to nine of ten. Confidence stays low because answering questions does not repair the silica-to-MIR incompatibility. The re-run retains its parent and shows a comparison, so the expert can see what changed.</a:t>
            </a:r>
          </a:p>
          <a:p/>
          <a:p>
            <a:r>
              <a:t>EVIDENCE &amp; REPRODUCTION</a:t>
            </a:r>
          </a:p>
          <a:p>
            <a:r>
              <a:t>evaluation/coach_after.json; evaluation/demo_evidence.json; actual screenshot coach-after.png. Before run 990e8459a5; after c36bf79f5c. Diff: completeness 2/10→9/10; MIR and NIR screening scores change; low confidence remains.</a:t>
            </a:r>
          </a:p>
          <a:p/>
          <a:p>
            <a:r>
              <a:t>LIMITS / DEMO DETAIL</a:t>
            </a:r>
          </a:p>
          <a:p>
            <a:r>
              <a:t>The seven entered answers are explicitly illustrative and are not final evaluation-case ground truth. Rule-only, hashing, SQLite. Completeness is a ten-field information checklist, not measured scientific correctness. The checker marks some information as stated based on answer text; customer confirmation remains necessary.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a:t>
            </a:r>
          </a:p>
          <a:p/>
          <a:p>
            <a:r>
              <a:t>PRESENTER SCRIPT</a:t>
            </a:r>
          </a:p>
          <a:p>
            <a:r>
              <a:t>The knowledge base can grow through the actual editor. We upload a short excerpt from supplied S01, register its source and evidence scope, and try an invented quotation. Validation rejects it. An exact quotation passes, and saving creates a version with a human comment before rebuilding the index. The isolated index grows from two hundred eighty-one to two hundred eighty-three records: one document chunk and one claim card.</a:t>
            </a:r>
          </a:p>
          <a:p/>
          <a:p>
            <a:r>
              <a:t>EVIDENCE &amp; REPRODUCTION</a:t>
            </a:r>
          </a:p>
          <a:p>
            <a:r>
              <a:t>assets/kb-register.png, kb-rejected-quote.png, kb-validated-diff.png and kb-version-history.png; evaluation/demo_evidence.json; backend/app/kb/files.py, api/kb_admin.py and kb/ingest.py. Source S07 is a demonstration excerpt of S01 p.8. claims.jsonl version 2.</a:t>
            </a:r>
          </a:p>
          <a:p/>
          <a:p>
            <a:r>
              <a:t>LIMITS / DEMO DETAIL</a:t>
            </a:r>
          </a:p>
          <a:p>
            <a:r>
              <a:t>This demonstrates controlled expansion, not autonomous science or automatic rule learning. The card keeps S01’s overview scope. Rejected quotation is absent from the uploaded page. Local KB_EDIT=open and guest attribution are demo-only; the project includes authenticated owner/admin controls for deployed settings. The demo changed only scratch files outside the repository and did not write to Supabase.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a:t>
            </a:r>
          </a:p>
          <a:p/>
          <a:p>
            <a:r>
              <a:t>PRESENTER SCRIPT</a:t>
            </a:r>
          </a:p>
          <a:p>
            <a:r>
              <a:t>Three priorities remain. Verify every report section: an R-squared threshold escapes the number checker, and H04 cites S11, absent from the committed registry. Tighten the undefined-target gate and reduce heuristic false warnings. Validate usefulness with experts and samples. Separately, fresh offline checks completed twenty-one runs, met seven adversarial expectations, and passed eighty-one tests. Those establish regression coverage; model quality still needs expert evaluation.</a:t>
            </a:r>
          </a:p>
          <a:p/>
          <a:p>
            <a:r>
              <a:t>EVIDENCE &amp; REPRODUCTION</a:t>
            </a:r>
          </a:p>
          <a:p>
            <a:r>
              <a:t>Council audit: H02 one number flag, H05 three; H04 S11 and R² &gt;0.95; H05 provisional. Fresh baseline: 6 final + 8 dev + 7 adversarial; pytest 81 passed, 20 skipped, 2 warnings. Current snapshot 40dd40b.</a:t>
            </a:r>
          </a:p>
          <a:p/>
          <a:p>
            <a:r>
              <a:t>LIMITS / DEMO DETAIL</a:t>
            </a:r>
          </a:p>
          <a:p>
            <a:r>
              <a:t>Saved Council trace durations 72.289–188.733 seconds, median 141.4535 s; includes cached calls/failures/fallbacks, not a controlled latency benchmark. Some H06 flags arise around negated readiness language; do not treat every heuristic flag as a confirmed scientific error. The rule-only fallback’s quote checks can pass even when its plan includes irrelevant formulation steps in H04. No spectra, reference labels or expert ratings were supplied for quantitative sensor-performance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10 seconds</a:t>
            </a:r>
          </a:p>
          <a:p/>
          <a:p>
            <a:r>
              <a:t>PRESENTER SCRIPT</a:t>
            </a:r>
          </a:p>
          <a:p>
            <a:r>
              <a:t>Clarify the request, inspect the evidence, and agree the next experiment. Our working prototype makes both its recommendations and its remaining validation gaps visible. Thank you.</a:t>
            </a:r>
          </a:p>
          <a:p/>
          <a:p>
            <a:r>
              <a:t>EVIDENCE &amp; REPRODUCTION</a:t>
            </a:r>
          </a:p>
          <a:p>
            <a:r>
              <a:t>Repository ght007/SchubKI; current code, captured demos and archived final outputs. Team names supplied by the user.</a:t>
            </a:r>
          </a:p>
          <a:p/>
          <a:p>
            <a:r>
              <a:t>LIMITS / DEMO DETAIL</a:t>
            </a:r>
          </a:p>
          <a:p>
            <a:r>
              <a:t>End the main talk here at approximately 4 minutes 20 seconds. The following two slides are backup material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 (appendix; outside main talk)</a:t>
            </a:r>
          </a:p>
          <a:p/>
          <a:p>
            <a:r>
              <a:t>PRESENTER SCRIPT</a:t>
            </a:r>
          </a:p>
          <a:p>
            <a:r>
              <a:t>If asked about evaluation rigor, use this slide to explain which claim each evidence set supports. The Council archive shows actual model-generated final answers. The fresh deterministic baseline checks the current pipeline and guard behavior without spending LLM calls. Tests cover software behavior; the UI captures prove workflows. None is a measured spectral prediction result.</a:t>
            </a:r>
          </a:p>
          <a:p/>
          <a:p>
            <a:r>
              <a:t>EVIDENCE &amp; REPRODUCTION</a:t>
            </a:r>
          </a:p>
          <a:p>
            <a:r>
              <a:t>evaluation/run_baseline.py calls the unchanged application pipeline with official H01–H06, eval/cases/dev_cases.yaml and eval/cases/adversarial_cases.yaml, using the existing check_expect helper. pytest.xml records full-suite outcome. See accompanying Evaluation_Audit.md for commands, per-case metrics and limitations.</a:t>
            </a:r>
          </a:p>
          <a:p/>
          <a:p>
            <a:r>
              <a:t>LIMITS / DEMO DETAIL</a:t>
            </a:r>
          </a:p>
          <a:p>
            <a:r>
              <a:t>The full source registry is needed for the suite. Supplied challenge brief was restored in the isolated raw corpus under its already-registered name, resolving a source-missing setup failure before the final suite run. 20 account/database variants require AUTH_TEST_PG_URL and were skipped. Two pre-existing deprecation warnings remain. The 179/179 count is exact-quote checking of selected typed fields, not all assertions or independent fact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 (appendix; outside main talk)</a:t>
            </a:r>
          </a:p>
          <a:p/>
          <a:p>
            <a:r>
              <a:t>PRESENTER SCRIPT</a:t>
            </a:r>
          </a:p>
          <a:p>
            <a:r>
              <a:t>Use this source map when asked about AFS knowledge. Overview material supports screening; company slides show the relevant fiber and application examples; the kidney and combined-method papers remain within their laboratory scope. Flyers and links are business context, not a detection-limit or readiness claim.</a:t>
            </a:r>
          </a:p>
          <a:p/>
          <a:p>
            <a:r>
              <a:t>EVIDENCE &amp; REPRODUCTION</a:t>
            </a:r>
          </a:p>
          <a:p>
            <a:r>
              <a:t>Reviewed current repository snapshot 40dd40b, including README.md and docs/frontend-integration.md; AST inventory of 126 source/doc/config files (14,820 lines); all core pipeline, UI, KB and evaluation paths. Both supplied presentation drafts and the submission/challenge documents were read. Sources are the materials.zip versions and supplied PDFs.</a:t>
            </a:r>
          </a:p>
          <a:p/>
          <a:p>
            <a:r>
              <a:t>LIMITS / DEMO DETAIL</a:t>
            </a:r>
          </a:p>
          <a:p>
            <a:r>
              <a:t>Document instructions were treated as challenge context; no hackathon form was submitted and no third-party messages were sent. Source PDFs are not redistributed in the presentation package. Embedded slide notes retain precise context, demo conditions and limits. Old draft claims of perfect tests or missing final answers have been replaced with the current auditable findings.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330"/>
        </a:solidFill>
        <a:effectLst/>
      </p:bgPr>
    </p:bg>
    <p:spTree>
      <p:nvGrpSpPr>
        <p:cNvPr id="1" name=""/>
        <p:cNvGrpSpPr/>
        <p:nvPr/>
      </p:nvGrpSpPr>
      <p:grpSpPr/>
      <p:sp>
        <p:nvSpPr>
          <p:cNvPr id="2" name="Rectangle 1"/>
          <p:cNvSpPr/>
          <p:nvPr/>
        </p:nvSpPr>
        <p:spPr>
          <a:xfrm>
            <a:off x="0" y="0"/>
            <a:ext cx="1221028" cy="50292"/>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1028" cy="50292"/>
          </a:xfrm>
          <a:prstGeom prst="rect">
            <a:avLst/>
          </a:prstGeom>
          <a:solidFill>
            <a:srgbClr val="655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1028" cy="50292"/>
          </a:xfrm>
          <a:prstGeom prst="rect">
            <a:avLst/>
          </a:prstGeom>
          <a:solidFill>
            <a:srgbClr val="456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1028" cy="50292"/>
          </a:xfrm>
          <a:prstGeom prst="rect">
            <a:avLst/>
          </a:prstGeom>
          <a:solidFill>
            <a:srgbClr val="268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1028" cy="50292"/>
          </a:xfrm>
          <a:prstGeom prst="rect">
            <a:avLst/>
          </a:prstGeom>
          <a:solidFill>
            <a:srgbClr val="149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1028" cy="50292"/>
          </a:xfrm>
          <a:prstGeom prst="rect">
            <a:avLst/>
          </a:prstGeom>
          <a:solidFill>
            <a:srgbClr val="269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1028" cy="50292"/>
          </a:xfrm>
          <a:prstGeom prst="rect">
            <a:avLst/>
          </a:prstGeom>
          <a:solidFill>
            <a:srgbClr val="75A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1028" cy="50292"/>
          </a:xfrm>
          <a:prstGeom prst="rect">
            <a:avLst/>
          </a:prstGeom>
          <a:solidFill>
            <a:srgbClr val="B6A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1028" cy="50292"/>
          </a:xfrm>
          <a:prstGeom prst="rect">
            <a:avLst/>
          </a:prstGeom>
          <a:solidFill>
            <a:srgbClr val="C5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1028" cy="50292"/>
          </a:xfrm>
          <a:prstGeom prst="rect">
            <a:avLst/>
          </a:prstGeom>
          <a:solidFill>
            <a:srgbClr val="B64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28600"/>
          </a:xfrm>
          <a:prstGeom prst="rect">
            <a:avLst/>
          </a:prstGeom>
          <a:noFill/>
        </p:spPr>
        <p:txBody>
          <a:bodyPr wrap="square" lIns="0" rIns="0" tIns="0" bIns="0">
            <a:spAutoFit/>
          </a:bodyPr>
          <a:lstStyle/>
          <a:p>
            <a:pPr>
              <a:lnSpc>
                <a:spcPct val="104000"/>
              </a:lnSpc>
              <a:spcAft>
                <a:spcPts val="210"/>
              </a:spcAft>
              <a:defRPr sz="1050" b="1">
                <a:solidFill>
                  <a:srgbClr val="C9DAE5"/>
                </a:solidFill>
                <a:latin typeface="Arial"/>
              </a:defRPr>
            </a:pPr>
            <a:r>
              <a:t>ART FIBER SYSTEMS CHALLENGE · NATIONAL AI HACKATHON 2026</a:t>
            </a:r>
          </a:p>
        </p:txBody>
      </p:sp>
      <p:sp>
        <p:nvSpPr>
          <p:cNvPr id="13" name="TextBox 12"/>
          <p:cNvSpPr txBox="1"/>
          <p:nvPr/>
        </p:nvSpPr>
        <p:spPr>
          <a:xfrm>
            <a:off x="621792" y="841248"/>
            <a:ext cx="10972800" cy="621792"/>
          </a:xfrm>
          <a:prstGeom prst="rect">
            <a:avLst/>
          </a:prstGeom>
          <a:noFill/>
        </p:spPr>
        <p:txBody>
          <a:bodyPr wrap="square" lIns="0" rIns="0" tIns="0" bIns="0">
            <a:spAutoFit/>
          </a:bodyPr>
          <a:lstStyle/>
          <a:p>
            <a:pPr>
              <a:lnSpc>
                <a:spcPct val="104000"/>
              </a:lnSpc>
              <a:spcAft>
                <a:spcPts val="620"/>
              </a:spcAft>
              <a:defRPr sz="3100" b="1">
                <a:solidFill>
                  <a:srgbClr val="FFFFFF"/>
                </a:solidFill>
                <a:latin typeface="Arial"/>
              </a:defRPr>
            </a:pPr>
            <a:r>
              <a:t>AFS Assessment Assistant</a:t>
            </a:r>
          </a:p>
        </p:txBody>
      </p:sp>
      <p:cxnSp>
        <p:nvCxnSpPr>
          <p:cNvPr id="14" name="Connector 13"/>
          <p:cNvCxnSpPr/>
          <p:nvPr/>
        </p:nvCxnSpPr>
        <p:spPr>
          <a:xfrm>
            <a:off x="594360" y="6382512"/>
            <a:ext cx="11000232" cy="0"/>
          </a:xfrm>
          <a:prstGeom prst="line">
            <a:avLst/>
          </a:prstGeom>
          <a:ln w="10160">
            <a:solidFill>
              <a:srgbClr val="17364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12648" y="6492240"/>
            <a:ext cx="10104120" cy="155448"/>
          </a:xfrm>
          <a:prstGeom prst="rect">
            <a:avLst/>
          </a:prstGeom>
          <a:noFill/>
        </p:spPr>
        <p:txBody>
          <a:bodyPr wrap="square" lIns="0" rIns="0" tIns="0" bIns="0">
            <a:spAutoFit/>
          </a:bodyPr>
          <a:lstStyle/>
          <a:p>
            <a:pPr>
              <a:lnSpc>
                <a:spcPct val="104000"/>
              </a:lnSpc>
              <a:spcAft>
                <a:spcPts val="166"/>
              </a:spcAft>
              <a:defRPr sz="830" b="0">
                <a:solidFill>
                  <a:srgbClr val="C9DAE5"/>
                </a:solidFill>
                <a:latin typeface="Arial"/>
              </a:defRPr>
            </a:pPr>
            <a:r>
              <a:t>github.com/ght007/SchubKI  •  Results review, 18 October 2026</a:t>
            </a:r>
          </a:p>
        </p:txBody>
      </p:sp>
      <p:sp>
        <p:nvSpPr>
          <p:cNvPr id="16" name="TextBox 15"/>
          <p:cNvSpPr txBox="1"/>
          <p:nvPr/>
        </p:nvSpPr>
        <p:spPr>
          <a:xfrm>
            <a:off x="10853928" y="6464808"/>
            <a:ext cx="731520" cy="210312"/>
          </a:xfrm>
          <a:prstGeom prst="rect">
            <a:avLst/>
          </a:prstGeom>
          <a:noFill/>
        </p:spPr>
        <p:txBody>
          <a:bodyPr wrap="square" lIns="0" rIns="0" tIns="0" bIns="0">
            <a:spAutoFit/>
          </a:bodyPr>
          <a:lstStyle/>
          <a:p>
            <a:pPr algn="r">
              <a:lnSpc>
                <a:spcPct val="104000"/>
              </a:lnSpc>
              <a:spcAft>
                <a:spcPts val="180"/>
              </a:spcAft>
              <a:defRPr sz="900" b="0">
                <a:solidFill>
                  <a:srgbClr val="C9DAE5"/>
                </a:solidFill>
                <a:latin typeface="Arial"/>
              </a:defRPr>
            </a:pPr>
            <a:r>
              <a:t>01 / 13</a:t>
            </a:r>
          </a:p>
        </p:txBody>
      </p:sp>
      <p:sp>
        <p:nvSpPr>
          <p:cNvPr id="17" name="TextBox 16"/>
          <p:cNvSpPr txBox="1"/>
          <p:nvPr/>
        </p:nvSpPr>
        <p:spPr>
          <a:xfrm>
            <a:off x="685800" y="1901952"/>
            <a:ext cx="7863840" cy="1280160"/>
          </a:xfrm>
          <a:prstGeom prst="rect">
            <a:avLst/>
          </a:prstGeom>
          <a:noFill/>
        </p:spPr>
        <p:txBody>
          <a:bodyPr wrap="square" lIns="0" rIns="0" tIns="0" bIns="0">
            <a:spAutoFit/>
          </a:bodyPr>
          <a:lstStyle/>
          <a:p>
            <a:pPr>
              <a:lnSpc>
                <a:spcPct val="104000"/>
              </a:lnSpc>
              <a:spcAft>
                <a:spcPts val="720"/>
              </a:spcAft>
              <a:defRPr sz="3600" b="1">
                <a:solidFill>
                  <a:srgbClr val="FFFFFF"/>
                </a:solidFill>
                <a:latin typeface="Arial"/>
              </a:defRPr>
            </a:pPr>
            <a:r>
              <a:t>A reviewable first experiment</a:t>
            </a:r>
          </a:p>
          <a:p>
            <a:pPr>
              <a:lnSpc>
                <a:spcPct val="104000"/>
              </a:lnSpc>
              <a:spcAft>
                <a:spcPts val="720"/>
              </a:spcAft>
              <a:defRPr sz="3600" b="1">
                <a:solidFill>
                  <a:srgbClr val="FFFFFF"/>
                </a:solidFill>
                <a:latin typeface="Arial"/>
              </a:defRPr>
            </a:pPr>
            <a:r>
              <a:t>for in-line spectroscopy.</a:t>
            </a:r>
          </a:p>
        </p:txBody>
      </p:sp>
      <p:sp>
        <p:nvSpPr>
          <p:cNvPr id="18" name="TextBox 17"/>
          <p:cNvSpPr txBox="1"/>
          <p:nvPr/>
        </p:nvSpPr>
        <p:spPr>
          <a:xfrm>
            <a:off x="713232" y="3456432"/>
            <a:ext cx="8138160" cy="557784"/>
          </a:xfrm>
          <a:prstGeom prst="rect">
            <a:avLst/>
          </a:prstGeom>
          <a:noFill/>
        </p:spPr>
        <p:txBody>
          <a:bodyPr wrap="square" lIns="0" rIns="0" tIns="0" bIns="0">
            <a:spAutoFit/>
          </a:bodyPr>
          <a:lstStyle/>
          <a:p>
            <a:pPr>
              <a:lnSpc>
                <a:spcPct val="104000"/>
              </a:lnSpc>
              <a:spcAft>
                <a:spcPts val="420"/>
              </a:spcAft>
              <a:defRPr sz="2100" b="0">
                <a:solidFill>
                  <a:srgbClr val="C9DAE5"/>
                </a:solidFill>
                <a:latin typeface="Arial"/>
              </a:defRPr>
            </a:pPr>
            <a:r>
              <a:t>Six final cases. Visible evidence. Explicit uncertainty.</a:t>
            </a:r>
          </a:p>
        </p:txBody>
      </p:sp>
      <p:sp>
        <p:nvSpPr>
          <p:cNvPr id="19" name="Rounded Rectangle 18"/>
          <p:cNvSpPr/>
          <p:nvPr/>
        </p:nvSpPr>
        <p:spPr>
          <a:xfrm>
            <a:off x="713232" y="4270248"/>
            <a:ext cx="2468880" cy="850392"/>
          </a:xfrm>
          <a:prstGeom prst="roundRect">
            <a:avLst>
              <a:gd name="adj" fmla="val 12903"/>
            </a:avLst>
          </a:prstGeom>
          <a:solidFill>
            <a:srgbClr val="173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07408"/>
            <a:ext cx="594360" cy="502920"/>
          </a:xfrm>
          <a:prstGeom prst="rect">
            <a:avLst/>
          </a:prstGeom>
          <a:noFill/>
        </p:spPr>
        <p:txBody>
          <a:bodyPr wrap="square" lIns="0" rIns="0" tIns="0" bIns="0">
            <a:spAutoFit/>
          </a:bodyPr>
          <a:lstStyle/>
          <a:p>
            <a:pPr>
              <a:lnSpc>
                <a:spcPct val="104000"/>
              </a:lnSpc>
              <a:spcAft>
                <a:spcPts val="580"/>
              </a:spcAft>
              <a:defRPr sz="2900" b="1">
                <a:solidFill>
                  <a:srgbClr val="FFFFFF"/>
                </a:solidFill>
                <a:latin typeface="Arial"/>
              </a:defRPr>
            </a:pPr>
            <a:r>
              <a:t>6</a:t>
            </a:r>
          </a:p>
        </p:txBody>
      </p:sp>
      <p:sp>
        <p:nvSpPr>
          <p:cNvPr id="21" name="TextBox 20"/>
          <p:cNvSpPr txBox="1"/>
          <p:nvPr/>
        </p:nvSpPr>
        <p:spPr>
          <a:xfrm>
            <a:off x="1545336" y="4572000"/>
            <a:ext cx="1508760" cy="201168"/>
          </a:xfrm>
          <a:prstGeom prst="rect">
            <a:avLst/>
          </a:prstGeom>
          <a:noFill/>
        </p:spPr>
        <p:txBody>
          <a:bodyPr wrap="square" lIns="0" rIns="0" tIns="0" bIns="0">
            <a:spAutoFit/>
          </a:bodyPr>
          <a:lstStyle/>
          <a:p>
            <a:pPr>
              <a:lnSpc>
                <a:spcPct val="104000"/>
              </a:lnSpc>
              <a:spcAft>
                <a:spcPts val="200"/>
              </a:spcAft>
              <a:defRPr sz="1000" b="1">
                <a:solidFill>
                  <a:srgbClr val="C9DAE5"/>
                </a:solidFill>
                <a:latin typeface="Arial"/>
              </a:defRPr>
            </a:pPr>
            <a:r>
              <a:t>FINAL CASES</a:t>
            </a:r>
          </a:p>
        </p:txBody>
      </p:sp>
      <p:sp>
        <p:nvSpPr>
          <p:cNvPr id="22" name="Rounded Rectangle 21"/>
          <p:cNvSpPr/>
          <p:nvPr/>
        </p:nvSpPr>
        <p:spPr>
          <a:xfrm>
            <a:off x="3364991" y="4270248"/>
            <a:ext cx="2468880" cy="850392"/>
          </a:xfrm>
          <a:prstGeom prst="roundRect">
            <a:avLst>
              <a:gd name="adj" fmla="val 12903"/>
            </a:avLst>
          </a:prstGeom>
          <a:solidFill>
            <a:srgbClr val="173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20439" y="4407408"/>
            <a:ext cx="594360" cy="502920"/>
          </a:xfrm>
          <a:prstGeom prst="rect">
            <a:avLst/>
          </a:prstGeom>
          <a:noFill/>
        </p:spPr>
        <p:txBody>
          <a:bodyPr wrap="square" lIns="0" rIns="0" tIns="0" bIns="0">
            <a:spAutoFit/>
          </a:bodyPr>
          <a:lstStyle/>
          <a:p>
            <a:pPr>
              <a:lnSpc>
                <a:spcPct val="104000"/>
              </a:lnSpc>
              <a:spcAft>
                <a:spcPts val="580"/>
              </a:spcAft>
              <a:defRPr sz="2900" b="1">
                <a:solidFill>
                  <a:srgbClr val="FFFFFF"/>
                </a:solidFill>
                <a:latin typeface="Arial"/>
              </a:defRPr>
            </a:pPr>
            <a:r>
              <a:t>4</a:t>
            </a:r>
          </a:p>
        </p:txBody>
      </p:sp>
      <p:sp>
        <p:nvSpPr>
          <p:cNvPr id="24" name="TextBox 23"/>
          <p:cNvSpPr txBox="1"/>
          <p:nvPr/>
        </p:nvSpPr>
        <p:spPr>
          <a:xfrm>
            <a:off x="4197096" y="4572000"/>
            <a:ext cx="1508760" cy="201168"/>
          </a:xfrm>
          <a:prstGeom prst="rect">
            <a:avLst/>
          </a:prstGeom>
          <a:noFill/>
        </p:spPr>
        <p:txBody>
          <a:bodyPr wrap="square" lIns="0" rIns="0" tIns="0" bIns="0">
            <a:spAutoFit/>
          </a:bodyPr>
          <a:lstStyle/>
          <a:p>
            <a:pPr>
              <a:lnSpc>
                <a:spcPct val="104000"/>
              </a:lnSpc>
              <a:spcAft>
                <a:spcPts val="200"/>
              </a:spcAft>
              <a:defRPr sz="1000" b="1">
                <a:solidFill>
                  <a:srgbClr val="C9DAE5"/>
                </a:solidFill>
                <a:latin typeface="Arial"/>
              </a:defRPr>
            </a:pPr>
            <a:r>
              <a:t>FEATURE DEMOS</a:t>
            </a:r>
          </a:p>
        </p:txBody>
      </p:sp>
      <p:sp>
        <p:nvSpPr>
          <p:cNvPr id="25" name="Rounded Rectangle 24"/>
          <p:cNvSpPr/>
          <p:nvPr/>
        </p:nvSpPr>
        <p:spPr>
          <a:xfrm>
            <a:off x="6016752" y="4270248"/>
            <a:ext cx="2468880" cy="850392"/>
          </a:xfrm>
          <a:prstGeom prst="roundRect">
            <a:avLst>
              <a:gd name="adj" fmla="val 12903"/>
            </a:avLst>
          </a:prstGeom>
          <a:solidFill>
            <a:srgbClr val="173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200" y="4407408"/>
            <a:ext cx="594360" cy="502920"/>
          </a:xfrm>
          <a:prstGeom prst="rect">
            <a:avLst/>
          </a:prstGeom>
          <a:noFill/>
        </p:spPr>
        <p:txBody>
          <a:bodyPr wrap="square" lIns="0" rIns="0" tIns="0" bIns="0">
            <a:spAutoFit/>
          </a:bodyPr>
          <a:lstStyle/>
          <a:p>
            <a:pPr>
              <a:lnSpc>
                <a:spcPct val="104000"/>
              </a:lnSpc>
              <a:spcAft>
                <a:spcPts val="580"/>
              </a:spcAft>
              <a:defRPr sz="2900" b="1">
                <a:solidFill>
                  <a:srgbClr val="FFFFFF"/>
                </a:solidFill>
                <a:latin typeface="Arial"/>
              </a:defRPr>
            </a:pPr>
            <a:r>
              <a:t>16</a:t>
            </a:r>
          </a:p>
        </p:txBody>
      </p:sp>
      <p:sp>
        <p:nvSpPr>
          <p:cNvPr id="27" name="TextBox 26"/>
          <p:cNvSpPr txBox="1"/>
          <p:nvPr/>
        </p:nvSpPr>
        <p:spPr>
          <a:xfrm>
            <a:off x="6848856" y="4572000"/>
            <a:ext cx="1508760" cy="201168"/>
          </a:xfrm>
          <a:prstGeom prst="rect">
            <a:avLst/>
          </a:prstGeom>
          <a:noFill/>
        </p:spPr>
        <p:txBody>
          <a:bodyPr wrap="square" lIns="0" rIns="0" tIns="0" bIns="0">
            <a:spAutoFit/>
          </a:bodyPr>
          <a:lstStyle/>
          <a:p>
            <a:pPr>
              <a:lnSpc>
                <a:spcPct val="104000"/>
              </a:lnSpc>
              <a:spcAft>
                <a:spcPts val="200"/>
              </a:spcAft>
              <a:defRPr sz="1000" b="1">
                <a:solidFill>
                  <a:srgbClr val="C9DAE5"/>
                </a:solidFill>
                <a:latin typeface="Arial"/>
              </a:defRPr>
            </a:pPr>
            <a:r>
              <a:t>QUALITY CHECKS</a:t>
            </a:r>
          </a:p>
        </p:txBody>
      </p:sp>
      <p:cxnSp>
        <p:nvCxnSpPr>
          <p:cNvPr id="28" name="Connector 27"/>
          <p:cNvCxnSpPr/>
          <p:nvPr/>
        </p:nvCxnSpPr>
        <p:spPr>
          <a:xfrm>
            <a:off x="9144000" y="2331720"/>
            <a:ext cx="59436" cy="129519"/>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03436" y="2461239"/>
            <a:ext cx="59436" cy="124858"/>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262872" y="2586097"/>
            <a:ext cx="59436" cy="115702"/>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322308" y="2701799"/>
            <a:ext cx="59436" cy="102383"/>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381744" y="2804182"/>
            <a:ext cx="59436" cy="85378"/>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441180" y="2889560"/>
            <a:ext cx="59436" cy="65300"/>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500616" y="2954860"/>
            <a:ext cx="59436" cy="42873"/>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560052" y="2997733"/>
            <a:ext cx="59436" cy="18902"/>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9619488" y="3010886"/>
            <a:ext cx="59436" cy="5749"/>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9678924" y="2980692"/>
            <a:ext cx="59436" cy="30194"/>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9738360" y="2927141"/>
            <a:ext cx="59436" cy="53551"/>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9797796" y="2852160"/>
            <a:ext cx="59436" cy="74981"/>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9857232" y="2758447"/>
            <a:ext cx="59436" cy="93713"/>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9916668" y="2649376"/>
            <a:ext cx="59436" cy="109071"/>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976104" y="2528872"/>
            <a:ext cx="59436" cy="120504"/>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035540" y="2401272"/>
            <a:ext cx="59436" cy="127600"/>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094976" y="2271169"/>
            <a:ext cx="59436" cy="130103"/>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0154412" y="2143245"/>
            <a:ext cx="59436" cy="127924"/>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213848" y="2022104"/>
            <a:ext cx="59436" cy="121141"/>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0273284" y="1912107"/>
            <a:ext cx="59436" cy="109997"/>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0332720" y="1817213"/>
            <a:ext cx="59436" cy="94894"/>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392156" y="1740836"/>
            <a:ext cx="59436" cy="76377"/>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0451592" y="1685727"/>
            <a:ext cx="59436" cy="55109"/>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0511028" y="1653867"/>
            <a:ext cx="59436" cy="31860"/>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0570464" y="1646405"/>
            <a:ext cx="59436" cy="7462"/>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629900" y="1646405"/>
            <a:ext cx="59436" cy="17202"/>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0689336" y="1663607"/>
            <a:ext cx="59436" cy="41250"/>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748772" y="1704857"/>
            <a:ext cx="59436" cy="63811"/>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808208" y="1768668"/>
            <a:ext cx="59436" cy="84076"/>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867644" y="1852744"/>
            <a:ext cx="59436" cy="101315"/>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927080" y="1954059"/>
            <a:ext cx="59436" cy="114908"/>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986516" y="2068967"/>
            <a:ext cx="59436" cy="124365"/>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1045952" y="2193332"/>
            <a:ext cx="59436" cy="129345"/>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1105388" y="2322677"/>
            <a:ext cx="59436" cy="129671"/>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144000" y="3189442"/>
            <a:ext cx="59436" cy="81384"/>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203436" y="3270826"/>
            <a:ext cx="59436" cy="60748"/>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262872" y="3331574"/>
            <a:ext cx="59436" cy="37926"/>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322308" y="3369500"/>
            <a:ext cx="59436" cy="13740"/>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9381744" y="3372297"/>
            <a:ext cx="59436" cy="10943"/>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9441180" y="3337067"/>
            <a:ext cx="59436" cy="35230"/>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9500616" y="3278817"/>
            <a:ext cx="59436" cy="58250"/>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9560052" y="3199644"/>
            <a:ext cx="59436" cy="79173"/>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9619488" y="3102397"/>
            <a:ext cx="59436" cy="97247"/>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9678924" y="2990577"/>
            <a:ext cx="59436" cy="111820"/>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9738360" y="2868207"/>
            <a:ext cx="59436" cy="122370"/>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9797796" y="2739693"/>
            <a:ext cx="59436" cy="128514"/>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9857232" y="2609660"/>
            <a:ext cx="59436" cy="130033"/>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9916668" y="2482787"/>
            <a:ext cx="59436" cy="126873"/>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9976104" y="2363641"/>
            <a:ext cx="59436" cy="119146"/>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0035540" y="2256511"/>
            <a:ext cx="59436" cy="107130"/>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0094976" y="2165252"/>
            <a:ext cx="59436" cy="91259"/>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0154412" y="2093148"/>
            <a:ext cx="59436" cy="72104"/>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0213848" y="2042796"/>
            <a:ext cx="59436" cy="50352"/>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0273284" y="2016006"/>
            <a:ext cx="59436" cy="26790"/>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0332720" y="2013744"/>
            <a:ext cx="59436" cy="2262"/>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392156" y="2013744"/>
            <a:ext cx="59436" cy="22346"/>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451592" y="2036090"/>
            <a:ext cx="59436" cy="46151"/>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511028" y="2082241"/>
            <a:ext cx="59436" cy="68294"/>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570464" y="2150535"/>
            <a:ext cx="59436" cy="87980"/>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629900" y="2238515"/>
            <a:ext cx="59436" cy="104498"/>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0689336" y="2343013"/>
            <a:ext cx="59436" cy="117256"/>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0748772" y="2460269"/>
            <a:ext cx="59436" cy="125794"/>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0808208" y="2586063"/>
            <a:ext cx="59436" cy="129804"/>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0867644" y="2715867"/>
            <a:ext cx="59436" cy="129142"/>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0927080" y="2845009"/>
            <a:ext cx="59436" cy="123832"/>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0986516" y="2968841"/>
            <a:ext cx="59436" cy="114065"/>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1045952" y="3082906"/>
            <a:ext cx="59436" cy="100194"/>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1105388" y="3183100"/>
            <a:ext cx="59436" cy="82715"/>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144000" y="3732629"/>
            <a:ext cx="59436" cy="16118"/>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9203436" y="3692418"/>
            <a:ext cx="59436" cy="40211"/>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9262872" y="3629563"/>
            <a:ext cx="59436" cy="62855"/>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322308" y="3546324"/>
            <a:ext cx="59436" cy="83239"/>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381744" y="3445699"/>
            <a:ext cx="59436" cy="100625"/>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9441180" y="3331308"/>
            <a:ext cx="59436" cy="114391"/>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9500616" y="3207269"/>
            <a:ext cx="59436" cy="124039"/>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9560052" y="3078047"/>
            <a:ext cx="59436" cy="129222"/>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9619488" y="2948291"/>
            <a:ext cx="59436" cy="129756"/>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9678924" y="2822672"/>
            <a:ext cx="59436" cy="125619"/>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9738360" y="2705712"/>
            <a:ext cx="59436" cy="116960"/>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9797796" y="2601620"/>
            <a:ext cx="59436" cy="104092"/>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9857232" y="2514142"/>
            <a:ext cx="59436" cy="87478"/>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9916668" y="2446427"/>
            <a:ext cx="59436" cy="67715"/>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9976104" y="2400912"/>
            <a:ext cx="59436" cy="45515"/>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10035540" y="2379236"/>
            <a:ext cx="59436" cy="21676"/>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094976" y="2379236"/>
            <a:ext cx="59436" cy="2941"/>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10154412" y="2382177"/>
            <a:ext cx="59436" cy="27454"/>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10213848" y="2409631"/>
            <a:ext cx="59436" cy="50979"/>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273284" y="2460610"/>
            <a:ext cx="59436" cy="72668"/>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332720" y="2533278"/>
            <a:ext cx="59436" cy="91742"/>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392156" y="2625020"/>
            <a:ext cx="59436" cy="107514"/>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451592" y="2732534"/>
            <a:ext cx="59436" cy="119417"/>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511028" y="2851951"/>
            <a:ext cx="59436" cy="127022"/>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570464" y="2978973"/>
            <a:ext cx="59436" cy="130054"/>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629900" y="3109027"/>
            <a:ext cx="59436" cy="128406"/>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89336" y="3237433"/>
            <a:ext cx="59436" cy="122137"/>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748772" y="3359570"/>
            <a:ext cx="59436" cy="111472"/>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808208" y="3471042"/>
            <a:ext cx="59436" cy="96794"/>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67644" y="3567836"/>
            <a:ext cx="59436" cy="78633"/>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27080" y="3646469"/>
            <a:ext cx="59436" cy="57642"/>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10986516" y="3704111"/>
            <a:ext cx="59436" cy="34575"/>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11045952" y="3738686"/>
            <a:ext cx="59436" cy="10266"/>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11105388" y="3734537"/>
            <a:ext cx="59436" cy="14415"/>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713232" y="5422392"/>
            <a:ext cx="10789920" cy="274320"/>
          </a:xfrm>
          <a:prstGeom prst="rect">
            <a:avLst/>
          </a:prstGeom>
          <a:noFill/>
        </p:spPr>
        <p:txBody>
          <a:bodyPr wrap="square" lIns="0" rIns="0" tIns="0" bIns="0">
            <a:spAutoFit/>
          </a:bodyPr>
          <a:lstStyle/>
          <a:p>
            <a:pPr>
              <a:lnSpc>
                <a:spcPct val="104000"/>
              </a:lnSpc>
              <a:spcAft>
                <a:spcPts val="300"/>
              </a:spcAft>
              <a:defRPr sz="1500" b="1">
                <a:solidFill>
                  <a:srgbClr val="FFFFFF"/>
                </a:solidFill>
                <a:latin typeface="Arial"/>
              </a:defRPr>
            </a:pPr>
            <a:r>
              <a:t>Eisa Atif  ·  Marie Habermann  ·  Atfan Deshmukh  ·  Akshdeep Singh</a:t>
            </a:r>
          </a:p>
        </p:txBody>
      </p:sp>
      <p:sp>
        <p:nvSpPr>
          <p:cNvPr id="131" name="TextBox 130"/>
          <p:cNvSpPr txBox="1"/>
          <p:nvPr/>
        </p:nvSpPr>
        <p:spPr>
          <a:xfrm>
            <a:off x="713232" y="5806440"/>
            <a:ext cx="10789920" cy="283464"/>
          </a:xfrm>
          <a:prstGeom prst="rect">
            <a:avLst/>
          </a:prstGeom>
          <a:noFill/>
        </p:spPr>
        <p:txBody>
          <a:bodyPr wrap="square" lIns="0" rIns="0" tIns="0" bIns="0">
            <a:spAutoFit/>
          </a:bodyPr>
          <a:lstStyle/>
          <a:p>
            <a:pPr>
              <a:lnSpc>
                <a:spcPct val="104000"/>
              </a:lnSpc>
              <a:spcAft>
                <a:spcPts val="300"/>
              </a:spcAft>
              <a:defRPr sz="1500" b="1">
                <a:solidFill>
                  <a:srgbClr val="FFFFFF"/>
                </a:solidFill>
                <a:latin typeface="Arial"/>
              </a:defRPr>
            </a:pPr>
            <a:r>
              <a:t>Naumanurrahman Shaikmujeeburrahman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21028" cy="50292"/>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1028" cy="50292"/>
          </a:xfrm>
          <a:prstGeom prst="rect">
            <a:avLst/>
          </a:prstGeom>
          <a:solidFill>
            <a:srgbClr val="655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1028" cy="50292"/>
          </a:xfrm>
          <a:prstGeom prst="rect">
            <a:avLst/>
          </a:prstGeom>
          <a:solidFill>
            <a:srgbClr val="456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1028" cy="50292"/>
          </a:xfrm>
          <a:prstGeom prst="rect">
            <a:avLst/>
          </a:prstGeom>
          <a:solidFill>
            <a:srgbClr val="268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1028" cy="50292"/>
          </a:xfrm>
          <a:prstGeom prst="rect">
            <a:avLst/>
          </a:prstGeom>
          <a:solidFill>
            <a:srgbClr val="149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1028" cy="50292"/>
          </a:xfrm>
          <a:prstGeom prst="rect">
            <a:avLst/>
          </a:prstGeom>
          <a:solidFill>
            <a:srgbClr val="269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1028" cy="50292"/>
          </a:xfrm>
          <a:prstGeom prst="rect">
            <a:avLst/>
          </a:prstGeom>
          <a:solidFill>
            <a:srgbClr val="75A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1028" cy="50292"/>
          </a:xfrm>
          <a:prstGeom prst="rect">
            <a:avLst/>
          </a:prstGeom>
          <a:solidFill>
            <a:srgbClr val="B6A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1028" cy="50292"/>
          </a:xfrm>
          <a:prstGeom prst="rect">
            <a:avLst/>
          </a:prstGeom>
          <a:solidFill>
            <a:srgbClr val="C5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1028" cy="50292"/>
          </a:xfrm>
          <a:prstGeom prst="rect">
            <a:avLst/>
          </a:prstGeom>
          <a:solidFill>
            <a:srgbClr val="B64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28600"/>
          </a:xfrm>
          <a:prstGeom prst="rect">
            <a:avLst/>
          </a:prstGeom>
          <a:noFill/>
        </p:spPr>
        <p:txBody>
          <a:bodyPr wrap="square" lIns="0" rIns="0" tIns="0" bIns="0">
            <a:spAutoFit/>
          </a:bodyPr>
          <a:lstStyle/>
          <a:p>
            <a:pPr>
              <a:lnSpc>
                <a:spcPct val="104000"/>
              </a:lnSpc>
              <a:spcAft>
                <a:spcPts val="210"/>
              </a:spcAft>
              <a:defRPr sz="1050" b="1">
                <a:solidFill>
                  <a:srgbClr val="087F8C"/>
                </a:solidFill>
                <a:latin typeface="Arial"/>
              </a:defRPr>
            </a:pPr>
            <a:r>
              <a:t>EVALUATION DESIGN</a:t>
            </a:r>
          </a:p>
        </p:txBody>
      </p:sp>
      <p:sp>
        <p:nvSpPr>
          <p:cNvPr id="13" name="TextBox 12"/>
          <p:cNvSpPr txBox="1"/>
          <p:nvPr/>
        </p:nvSpPr>
        <p:spPr>
          <a:xfrm>
            <a:off x="621792" y="841248"/>
            <a:ext cx="10972800" cy="621792"/>
          </a:xfrm>
          <a:prstGeom prst="rect">
            <a:avLst/>
          </a:prstGeom>
          <a:noFill/>
        </p:spPr>
        <p:txBody>
          <a:bodyPr wrap="square" lIns="0" rIns="0" tIns="0" bIns="0">
            <a:spAutoFit/>
          </a:bodyPr>
          <a:lstStyle/>
          <a:p>
            <a:pPr>
              <a:lnSpc>
                <a:spcPct val="104000"/>
              </a:lnSpc>
              <a:spcAft>
                <a:spcPts val="620"/>
              </a:spcAft>
              <a:defRPr sz="3100" b="1">
                <a:solidFill>
                  <a:srgbClr val="142D3D"/>
                </a:solidFill>
                <a:latin typeface="Arial"/>
              </a:defRPr>
            </a:pPr>
            <a:r>
              <a:t>Six cases test technical decisions.</a:t>
            </a:r>
          </a:p>
        </p:txBody>
      </p:sp>
      <p:sp>
        <p:nvSpPr>
          <p:cNvPr id="14" name="TextBox 13"/>
          <p:cNvSpPr txBox="1"/>
          <p:nvPr/>
        </p:nvSpPr>
        <p:spPr>
          <a:xfrm>
            <a:off x="640080" y="1517904"/>
            <a:ext cx="10927080" cy="438912"/>
          </a:xfrm>
          <a:prstGeom prst="rect">
            <a:avLst/>
          </a:prstGeom>
          <a:noFill/>
        </p:spPr>
        <p:txBody>
          <a:bodyPr wrap="square" lIns="0" rIns="0" tIns="0" bIns="0">
            <a:spAutoFit/>
          </a:bodyPr>
          <a:lstStyle/>
          <a:p>
            <a:pPr>
              <a:lnSpc>
                <a:spcPct val="104000"/>
              </a:lnSpc>
              <a:spcAft>
                <a:spcPts val="300"/>
              </a:spcAft>
              <a:defRPr sz="1500" b="0">
                <a:solidFill>
                  <a:srgbClr val="5D7280"/>
                </a:solidFill>
                <a:latin typeface="Arial"/>
              </a:defRPr>
            </a:pPr>
            <a:r>
              <a:t>The challenge is whether the next technical step is justified.</a:t>
            </a:r>
          </a:p>
        </p:txBody>
      </p:sp>
      <p:cxnSp>
        <p:nvCxnSpPr>
          <p:cNvPr id="15" name="Connector 14"/>
          <p:cNvCxnSpPr/>
          <p:nvPr/>
        </p:nvCxnSpPr>
        <p:spPr>
          <a:xfrm>
            <a:off x="594360" y="6382512"/>
            <a:ext cx="11000232" cy="0"/>
          </a:xfrm>
          <a:prstGeom prst="line">
            <a:avLst/>
          </a:prstGeom>
          <a:ln w="1016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6492240"/>
            <a:ext cx="10104120" cy="155448"/>
          </a:xfrm>
          <a:prstGeom prst="rect">
            <a:avLst/>
          </a:prstGeom>
          <a:noFill/>
        </p:spPr>
        <p:txBody>
          <a:bodyPr wrap="square" lIns="0" rIns="0" tIns="0" bIns="0">
            <a:spAutoFit/>
          </a:bodyPr>
          <a:lstStyle/>
          <a:p>
            <a:pPr>
              <a:lnSpc>
                <a:spcPct val="104000"/>
              </a:lnSpc>
              <a:spcAft>
                <a:spcPts val="166"/>
              </a:spcAft>
              <a:defRPr sz="830" b="0">
                <a:solidFill>
                  <a:srgbClr val="5D7280"/>
                </a:solidFill>
                <a:latin typeface="Arial"/>
              </a:defRPr>
            </a:pPr>
            <a:r>
              <a:t>Official final-case inputs H01–H06; challenge rubric p.3</a:t>
            </a:r>
          </a:p>
        </p:txBody>
      </p:sp>
      <p:sp>
        <p:nvSpPr>
          <p:cNvPr id="17" name="TextBox 16"/>
          <p:cNvSpPr txBox="1"/>
          <p:nvPr/>
        </p:nvSpPr>
        <p:spPr>
          <a:xfrm>
            <a:off x="10853928" y="6464808"/>
            <a:ext cx="731520" cy="210312"/>
          </a:xfrm>
          <a:prstGeom prst="rect">
            <a:avLst/>
          </a:prstGeom>
          <a:noFill/>
        </p:spPr>
        <p:txBody>
          <a:bodyPr wrap="square" lIns="0" rIns="0" tIns="0" bIns="0">
            <a:spAutoFit/>
          </a:bodyPr>
          <a:lstStyle/>
          <a:p>
            <a:pPr algn="r">
              <a:lnSpc>
                <a:spcPct val="104000"/>
              </a:lnSpc>
              <a:spcAft>
                <a:spcPts val="180"/>
              </a:spcAft>
              <a:defRPr sz="900" b="0">
                <a:solidFill>
                  <a:srgbClr val="5D7280"/>
                </a:solidFill>
                <a:latin typeface="Arial"/>
              </a:defRPr>
            </a:pPr>
            <a:r>
              <a:t>02 / 13</a:t>
            </a:r>
          </a:p>
        </p:txBody>
      </p:sp>
      <p:sp>
        <p:nvSpPr>
          <p:cNvPr id="18" name="Rounded Rectangle 17"/>
          <p:cNvSpPr/>
          <p:nvPr/>
        </p:nvSpPr>
        <p:spPr>
          <a:xfrm>
            <a:off x="640080" y="2139696"/>
            <a:ext cx="3566160" cy="1362456"/>
          </a:xfrm>
          <a:prstGeom prst="roundRect">
            <a:avLst>
              <a:gd name="adj" fmla="val 8053"/>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2139696"/>
            <a:ext cx="50292" cy="1362456"/>
          </a:xfrm>
          <a:prstGeom prst="rect">
            <a:avLst/>
          </a:prstGeom>
          <a:solidFill>
            <a:srgbClr val="286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2313432"/>
            <a:ext cx="3163824" cy="594360"/>
          </a:xfrm>
          <a:prstGeom prst="rect">
            <a:avLst/>
          </a:prstGeom>
          <a:noFill/>
        </p:spPr>
        <p:txBody>
          <a:bodyPr wrap="square" lIns="0" rIns="0" tIns="0" bIns="0">
            <a:spAutoFit/>
          </a:bodyPr>
          <a:lstStyle/>
          <a:p>
            <a:pPr>
              <a:lnSpc>
                <a:spcPct val="104000"/>
              </a:lnSpc>
              <a:spcAft>
                <a:spcPts val="380"/>
              </a:spcAft>
              <a:defRPr sz="1900" b="1">
                <a:solidFill>
                  <a:srgbClr val="2864CC"/>
                </a:solidFill>
                <a:latin typeface="Arial"/>
              </a:defRPr>
            </a:pPr>
            <a:r>
              <a:t>H01 · Calibration transfer</a:t>
            </a:r>
          </a:p>
        </p:txBody>
      </p:sp>
      <p:sp>
        <p:nvSpPr>
          <p:cNvPr id="21" name="TextBox 20"/>
          <p:cNvSpPr txBox="1"/>
          <p:nvPr/>
        </p:nvSpPr>
        <p:spPr>
          <a:xfrm>
            <a:off x="841247" y="2898648"/>
            <a:ext cx="3163824" cy="557784"/>
          </a:xfrm>
          <a:prstGeom prst="rect">
            <a:avLst/>
          </a:prstGeom>
          <a:noFill/>
        </p:spPr>
        <p:txBody>
          <a:bodyPr wrap="square" lIns="0" rIns="0" tIns="0" bIns="0">
            <a:spAutoFit/>
          </a:bodyPr>
          <a:lstStyle/>
          <a:p>
            <a:pPr>
              <a:lnSpc>
                <a:spcPct val="104000"/>
              </a:lnSpc>
              <a:spcAft>
                <a:spcPts val="300"/>
              </a:spcAft>
              <a:defRPr sz="1500" b="0">
                <a:solidFill>
                  <a:srgbClr val="142D3D"/>
                </a:solidFill>
                <a:latin typeface="Arial"/>
              </a:defRPr>
            </a:pPr>
            <a:r>
              <a:t>New API blend: revalidate the NIR model.</a:t>
            </a:r>
          </a:p>
        </p:txBody>
      </p:sp>
      <p:sp>
        <p:nvSpPr>
          <p:cNvPr id="22" name="Rounded Rectangle 21"/>
          <p:cNvSpPr/>
          <p:nvPr/>
        </p:nvSpPr>
        <p:spPr>
          <a:xfrm>
            <a:off x="4343400" y="2139696"/>
            <a:ext cx="3566160" cy="1362456"/>
          </a:xfrm>
          <a:prstGeom prst="roundRect">
            <a:avLst>
              <a:gd name="adj" fmla="val 8053"/>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2139696"/>
            <a:ext cx="50292" cy="136245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44568" y="2313432"/>
            <a:ext cx="3163824" cy="594360"/>
          </a:xfrm>
          <a:prstGeom prst="rect">
            <a:avLst/>
          </a:prstGeom>
          <a:noFill/>
        </p:spPr>
        <p:txBody>
          <a:bodyPr wrap="square" lIns="0" rIns="0" tIns="0" bIns="0">
            <a:spAutoFit/>
          </a:bodyPr>
          <a:lstStyle/>
          <a:p>
            <a:pPr>
              <a:lnSpc>
                <a:spcPct val="104000"/>
              </a:lnSpc>
              <a:spcAft>
                <a:spcPts val="380"/>
              </a:spcAft>
              <a:defRPr sz="1900" b="1">
                <a:solidFill>
                  <a:srgbClr val="087F8C"/>
                </a:solidFill>
                <a:latin typeface="Arial"/>
              </a:defRPr>
            </a:pPr>
            <a:r>
              <a:t>H02 · Optical geometry</a:t>
            </a:r>
          </a:p>
        </p:txBody>
      </p:sp>
      <p:sp>
        <p:nvSpPr>
          <p:cNvPr id="25" name="TextBox 24"/>
          <p:cNvSpPr txBox="1"/>
          <p:nvPr/>
        </p:nvSpPr>
        <p:spPr>
          <a:xfrm>
            <a:off x="4544568" y="2898648"/>
            <a:ext cx="3163824" cy="557784"/>
          </a:xfrm>
          <a:prstGeom prst="rect">
            <a:avLst/>
          </a:prstGeom>
          <a:noFill/>
        </p:spPr>
        <p:txBody>
          <a:bodyPr wrap="square" lIns="0" rIns="0" tIns="0" bIns="0">
            <a:spAutoFit/>
          </a:bodyPr>
          <a:lstStyle/>
          <a:p>
            <a:pPr>
              <a:lnSpc>
                <a:spcPct val="104000"/>
              </a:lnSpc>
              <a:spcAft>
                <a:spcPts val="300"/>
              </a:spcAft>
              <a:defRPr sz="1500" b="0">
                <a:solidFill>
                  <a:srgbClr val="142D3D"/>
                </a:solidFill>
                <a:latin typeface="Arial"/>
              </a:defRPr>
            </a:pPr>
            <a:r>
              <a:t>Clear whey and opaque milk need different interfaces.</a:t>
            </a:r>
          </a:p>
        </p:txBody>
      </p:sp>
      <p:sp>
        <p:nvSpPr>
          <p:cNvPr id="26" name="Rounded Rectangle 25"/>
          <p:cNvSpPr/>
          <p:nvPr/>
        </p:nvSpPr>
        <p:spPr>
          <a:xfrm>
            <a:off x="8046719" y="2139696"/>
            <a:ext cx="3566160" cy="1362456"/>
          </a:xfrm>
          <a:prstGeom prst="roundRect">
            <a:avLst>
              <a:gd name="adj" fmla="val 8053"/>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19" y="2139696"/>
            <a:ext cx="50292" cy="1362456"/>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7888" y="2313432"/>
            <a:ext cx="3163824" cy="594360"/>
          </a:xfrm>
          <a:prstGeom prst="rect">
            <a:avLst/>
          </a:prstGeom>
          <a:noFill/>
        </p:spPr>
        <p:txBody>
          <a:bodyPr wrap="square" lIns="0" rIns="0" tIns="0" bIns="0">
            <a:spAutoFit/>
          </a:bodyPr>
          <a:lstStyle/>
          <a:p>
            <a:pPr>
              <a:lnSpc>
                <a:spcPct val="104000"/>
              </a:lnSpc>
              <a:spcAft>
                <a:spcPts val="380"/>
              </a:spcAft>
              <a:defRPr sz="1900" b="1">
                <a:solidFill>
                  <a:srgbClr val="7549BE"/>
                </a:solidFill>
                <a:latin typeface="Arial"/>
              </a:defRPr>
            </a:pPr>
            <a:r>
              <a:t>H03 · Selectivity</a:t>
            </a:r>
          </a:p>
        </p:txBody>
      </p:sp>
      <p:sp>
        <p:nvSpPr>
          <p:cNvPr id="29" name="TextBox 28"/>
          <p:cNvSpPr txBox="1"/>
          <p:nvPr/>
        </p:nvSpPr>
        <p:spPr>
          <a:xfrm>
            <a:off x="8247888" y="2898648"/>
            <a:ext cx="3163824" cy="557784"/>
          </a:xfrm>
          <a:prstGeom prst="rect">
            <a:avLst/>
          </a:prstGeom>
          <a:noFill/>
        </p:spPr>
        <p:txBody>
          <a:bodyPr wrap="square" lIns="0" rIns="0" tIns="0" bIns="0">
            <a:spAutoFit/>
          </a:bodyPr>
          <a:lstStyle/>
          <a:p>
            <a:pPr>
              <a:lnSpc>
                <a:spcPct val="104000"/>
              </a:lnSpc>
              <a:spcAft>
                <a:spcPts val="300"/>
              </a:spcAft>
              <a:defRPr sz="1500" b="0">
                <a:solidFill>
                  <a:srgbClr val="142D3D"/>
                </a:solidFill>
                <a:latin typeface="Arial"/>
              </a:defRPr>
            </a:pPr>
            <a:r>
              <a:t>Sensitivity alone does not establish selectivity.</a:t>
            </a:r>
          </a:p>
        </p:txBody>
      </p:sp>
      <p:sp>
        <p:nvSpPr>
          <p:cNvPr id="30" name="Rounded Rectangle 29"/>
          <p:cNvSpPr/>
          <p:nvPr/>
        </p:nvSpPr>
        <p:spPr>
          <a:xfrm>
            <a:off x="640080" y="3657600"/>
            <a:ext cx="3566160" cy="1362456"/>
          </a:xfrm>
          <a:prstGeom prst="roundRect">
            <a:avLst>
              <a:gd name="adj" fmla="val 8053"/>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 y="3657600"/>
            <a:ext cx="50292" cy="1362456"/>
          </a:xfrm>
          <a:prstGeom prst="rect">
            <a:avLst/>
          </a:prstGeom>
          <a:solidFill>
            <a:srgbClr val="286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7" y="3831336"/>
            <a:ext cx="3163824" cy="594360"/>
          </a:xfrm>
          <a:prstGeom prst="rect">
            <a:avLst/>
          </a:prstGeom>
          <a:noFill/>
        </p:spPr>
        <p:txBody>
          <a:bodyPr wrap="square" lIns="0" rIns="0" tIns="0" bIns="0">
            <a:spAutoFit/>
          </a:bodyPr>
          <a:lstStyle/>
          <a:p>
            <a:pPr>
              <a:lnSpc>
                <a:spcPct val="104000"/>
              </a:lnSpc>
              <a:spcAft>
                <a:spcPts val="380"/>
              </a:spcAft>
              <a:defRPr sz="1900" b="1">
                <a:solidFill>
                  <a:srgbClr val="2864CC"/>
                </a:solidFill>
                <a:latin typeface="Arial"/>
              </a:defRPr>
            </a:pPr>
            <a:r>
              <a:t>H04 · Fiber compatibility</a:t>
            </a:r>
          </a:p>
        </p:txBody>
      </p:sp>
      <p:sp>
        <p:nvSpPr>
          <p:cNvPr id="33" name="TextBox 32"/>
          <p:cNvSpPr txBox="1"/>
          <p:nvPr/>
        </p:nvSpPr>
        <p:spPr>
          <a:xfrm>
            <a:off x="841247" y="4416552"/>
            <a:ext cx="3163824" cy="557784"/>
          </a:xfrm>
          <a:prstGeom prst="rect">
            <a:avLst/>
          </a:prstGeom>
          <a:noFill/>
        </p:spPr>
        <p:txBody>
          <a:bodyPr wrap="square" lIns="0" rIns="0" tIns="0" bIns="0">
            <a:spAutoFit/>
          </a:bodyPr>
          <a:lstStyle/>
          <a:p>
            <a:pPr>
              <a:lnSpc>
                <a:spcPct val="104000"/>
              </a:lnSpc>
              <a:spcAft>
                <a:spcPts val="300"/>
              </a:spcAft>
              <a:defRPr sz="1500" b="0">
                <a:solidFill>
                  <a:srgbClr val="142D3D"/>
                </a:solidFill>
                <a:latin typeface="Arial"/>
              </a:defRPr>
            </a:pPr>
            <a:r>
              <a:t>An existing silica link cannot be approved for MIR.</a:t>
            </a:r>
          </a:p>
        </p:txBody>
      </p:sp>
      <p:sp>
        <p:nvSpPr>
          <p:cNvPr id="34" name="Rounded Rectangle 33"/>
          <p:cNvSpPr/>
          <p:nvPr/>
        </p:nvSpPr>
        <p:spPr>
          <a:xfrm>
            <a:off x="4343400" y="3657600"/>
            <a:ext cx="3566160" cy="1362456"/>
          </a:xfrm>
          <a:prstGeom prst="roundRect">
            <a:avLst>
              <a:gd name="adj" fmla="val 8053"/>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343400" y="3657600"/>
            <a:ext cx="50292" cy="1362456"/>
          </a:xfrm>
          <a:prstGeom prst="rect">
            <a:avLst/>
          </a:prstGeom>
          <a:solidFill>
            <a:srgbClr val="AD6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44568" y="3831336"/>
            <a:ext cx="3163824" cy="594360"/>
          </a:xfrm>
          <a:prstGeom prst="rect">
            <a:avLst/>
          </a:prstGeom>
          <a:noFill/>
        </p:spPr>
        <p:txBody>
          <a:bodyPr wrap="square" lIns="0" rIns="0" tIns="0" bIns="0">
            <a:spAutoFit/>
          </a:bodyPr>
          <a:lstStyle/>
          <a:p>
            <a:pPr>
              <a:lnSpc>
                <a:spcPct val="104000"/>
              </a:lnSpc>
              <a:spcAft>
                <a:spcPts val="380"/>
              </a:spcAft>
              <a:defRPr sz="1900" b="1">
                <a:solidFill>
                  <a:srgbClr val="AD6017"/>
                </a:solidFill>
                <a:latin typeface="Arial"/>
              </a:defRPr>
            </a:pPr>
            <a:r>
              <a:t>H05 · Undefined target</a:t>
            </a:r>
          </a:p>
        </p:txBody>
      </p:sp>
      <p:sp>
        <p:nvSpPr>
          <p:cNvPr id="37" name="TextBox 36"/>
          <p:cNvSpPr txBox="1"/>
          <p:nvPr/>
        </p:nvSpPr>
        <p:spPr>
          <a:xfrm>
            <a:off x="4544568" y="4416552"/>
            <a:ext cx="3163824" cy="557784"/>
          </a:xfrm>
          <a:prstGeom prst="rect">
            <a:avLst/>
          </a:prstGeom>
          <a:noFill/>
        </p:spPr>
        <p:txBody>
          <a:bodyPr wrap="square" lIns="0" rIns="0" tIns="0" bIns="0">
            <a:spAutoFit/>
          </a:bodyPr>
          <a:lstStyle/>
          <a:p>
            <a:pPr>
              <a:lnSpc>
                <a:spcPct val="104000"/>
              </a:lnSpc>
              <a:spcAft>
                <a:spcPts val="300"/>
              </a:spcAft>
              <a:defRPr sz="1500" b="0">
                <a:solidFill>
                  <a:srgbClr val="142D3D"/>
                </a:solidFill>
                <a:latin typeface="Arial"/>
              </a:defRPr>
            </a:pPr>
            <a:r>
              <a:t>Clarification needed; Council remains provisional.</a:t>
            </a:r>
          </a:p>
        </p:txBody>
      </p:sp>
      <p:sp>
        <p:nvSpPr>
          <p:cNvPr id="38" name="Rounded Rectangle 37"/>
          <p:cNvSpPr/>
          <p:nvPr/>
        </p:nvSpPr>
        <p:spPr>
          <a:xfrm>
            <a:off x="8046719" y="3657600"/>
            <a:ext cx="3566160" cy="1362456"/>
          </a:xfrm>
          <a:prstGeom prst="roundRect">
            <a:avLst>
              <a:gd name="adj" fmla="val 8053"/>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46719" y="3657600"/>
            <a:ext cx="50292" cy="136245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47888" y="3831336"/>
            <a:ext cx="3163824" cy="594360"/>
          </a:xfrm>
          <a:prstGeom prst="rect">
            <a:avLst/>
          </a:prstGeom>
          <a:noFill/>
        </p:spPr>
        <p:txBody>
          <a:bodyPr wrap="square" lIns="0" rIns="0" tIns="0" bIns="0">
            <a:spAutoFit/>
          </a:bodyPr>
          <a:lstStyle/>
          <a:p>
            <a:pPr>
              <a:lnSpc>
                <a:spcPct val="104000"/>
              </a:lnSpc>
              <a:spcAft>
                <a:spcPts val="380"/>
              </a:spcAft>
              <a:defRPr sz="1900" b="1">
                <a:solidFill>
                  <a:srgbClr val="087F8C"/>
                </a:solidFill>
                <a:latin typeface="Arial"/>
              </a:defRPr>
            </a:pPr>
            <a:r>
              <a:t>H06 · Evidence scope</a:t>
            </a:r>
          </a:p>
        </p:txBody>
      </p:sp>
      <p:sp>
        <p:nvSpPr>
          <p:cNvPr id="41" name="TextBox 40"/>
          <p:cNvSpPr txBox="1"/>
          <p:nvPr/>
        </p:nvSpPr>
        <p:spPr>
          <a:xfrm>
            <a:off x="8247888" y="4416552"/>
            <a:ext cx="3163824" cy="557784"/>
          </a:xfrm>
          <a:prstGeom prst="rect">
            <a:avLst/>
          </a:prstGeom>
          <a:noFill/>
        </p:spPr>
        <p:txBody>
          <a:bodyPr wrap="square" lIns="0" rIns="0" tIns="0" bIns="0">
            <a:spAutoFit/>
          </a:bodyPr>
          <a:lstStyle/>
          <a:p>
            <a:pPr>
              <a:lnSpc>
                <a:spcPct val="104000"/>
              </a:lnSpc>
              <a:spcAft>
                <a:spcPts val="300"/>
              </a:spcAft>
              <a:defRPr sz="1500" b="0">
                <a:solidFill>
                  <a:srgbClr val="142D3D"/>
                </a:solidFill>
                <a:latin typeface="Arial"/>
              </a:defRPr>
            </a:pPr>
            <a:r>
              <a:t>An in-vitro kidney study does not establish surgical readiness.</a:t>
            </a:r>
          </a:p>
        </p:txBody>
      </p:sp>
      <p:sp>
        <p:nvSpPr>
          <p:cNvPr id="42" name="TextBox 41"/>
          <p:cNvSpPr txBox="1"/>
          <p:nvPr/>
        </p:nvSpPr>
        <p:spPr>
          <a:xfrm>
            <a:off x="667512" y="5376672"/>
            <a:ext cx="10789920" cy="228600"/>
          </a:xfrm>
          <a:prstGeom prst="rect">
            <a:avLst/>
          </a:prstGeom>
          <a:noFill/>
        </p:spPr>
        <p:txBody>
          <a:bodyPr wrap="square" lIns="0" rIns="0" tIns="0" bIns="0">
            <a:spAutoFit/>
          </a:bodyPr>
          <a:lstStyle/>
          <a:p>
            <a:pPr>
              <a:lnSpc>
                <a:spcPct val="104000"/>
              </a:lnSpc>
              <a:spcAft>
                <a:spcPts val="210"/>
              </a:spcAft>
              <a:defRPr sz="1050" b="1">
                <a:solidFill>
                  <a:srgbClr val="5D7280"/>
                </a:solidFill>
                <a:latin typeface="Arial"/>
              </a:defRPr>
            </a:pPr>
            <a:r>
              <a:t>JUDGING WEIGHTS</a:t>
            </a:r>
          </a:p>
        </p:txBody>
      </p:sp>
      <p:sp>
        <p:nvSpPr>
          <p:cNvPr id="43" name="Rectangle 42"/>
          <p:cNvSpPr/>
          <p:nvPr/>
        </p:nvSpPr>
        <p:spPr>
          <a:xfrm>
            <a:off x="658368" y="5742432"/>
            <a:ext cx="3232403" cy="137160"/>
          </a:xfrm>
          <a:prstGeom prst="rect">
            <a:avLst/>
          </a:prstGeom>
          <a:solidFill>
            <a:srgbClr val="286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 y="5961888"/>
            <a:ext cx="3218688" cy="219456"/>
          </a:xfrm>
          <a:prstGeom prst="rect">
            <a:avLst/>
          </a:prstGeom>
          <a:noFill/>
        </p:spPr>
        <p:txBody>
          <a:bodyPr wrap="square" lIns="0" rIns="0" tIns="0" bIns="0">
            <a:spAutoFit/>
          </a:bodyPr>
          <a:lstStyle/>
          <a:p>
            <a:pPr>
              <a:lnSpc>
                <a:spcPct val="104000"/>
              </a:lnSpc>
              <a:spcAft>
                <a:spcPts val="192"/>
              </a:spcAft>
              <a:defRPr sz="960" b="0">
                <a:solidFill>
                  <a:srgbClr val="5D7280"/>
                </a:solidFill>
                <a:latin typeface="Arial"/>
              </a:defRPr>
            </a:pPr>
            <a:r>
              <a:t>Technical 30%</a:t>
            </a:r>
          </a:p>
        </p:txBody>
      </p:sp>
      <p:sp>
        <p:nvSpPr>
          <p:cNvPr id="45" name="Rectangle 44"/>
          <p:cNvSpPr/>
          <p:nvPr/>
        </p:nvSpPr>
        <p:spPr>
          <a:xfrm>
            <a:off x="3922776" y="5742432"/>
            <a:ext cx="2144268" cy="1371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922776" y="5961888"/>
            <a:ext cx="2130552" cy="219456"/>
          </a:xfrm>
          <a:prstGeom prst="rect">
            <a:avLst/>
          </a:prstGeom>
          <a:noFill/>
        </p:spPr>
        <p:txBody>
          <a:bodyPr wrap="square" lIns="0" rIns="0" tIns="0" bIns="0">
            <a:spAutoFit/>
          </a:bodyPr>
          <a:lstStyle/>
          <a:p>
            <a:pPr>
              <a:lnSpc>
                <a:spcPct val="104000"/>
              </a:lnSpc>
              <a:spcAft>
                <a:spcPts val="192"/>
              </a:spcAft>
              <a:defRPr sz="960" b="0">
                <a:solidFill>
                  <a:srgbClr val="5D7280"/>
                </a:solidFill>
                <a:latin typeface="Arial"/>
              </a:defRPr>
            </a:pPr>
            <a:r>
              <a:t>AFS knowledge 20%</a:t>
            </a:r>
          </a:p>
        </p:txBody>
      </p:sp>
      <p:sp>
        <p:nvSpPr>
          <p:cNvPr id="47" name="Rectangle 46"/>
          <p:cNvSpPr/>
          <p:nvPr/>
        </p:nvSpPr>
        <p:spPr>
          <a:xfrm>
            <a:off x="6099048" y="5742432"/>
            <a:ext cx="1600200" cy="137160"/>
          </a:xfrm>
          <a:prstGeom prst="rect">
            <a:avLst/>
          </a:prstGeom>
          <a:solidFill>
            <a:srgbClr val="208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099048" y="5961888"/>
            <a:ext cx="1586484" cy="219456"/>
          </a:xfrm>
          <a:prstGeom prst="rect">
            <a:avLst/>
          </a:prstGeom>
          <a:noFill/>
        </p:spPr>
        <p:txBody>
          <a:bodyPr wrap="square" lIns="0" rIns="0" tIns="0" bIns="0">
            <a:spAutoFit/>
          </a:bodyPr>
          <a:lstStyle/>
          <a:p>
            <a:pPr>
              <a:lnSpc>
                <a:spcPct val="104000"/>
              </a:lnSpc>
              <a:spcAft>
                <a:spcPts val="192"/>
              </a:spcAft>
              <a:defRPr sz="960" b="0">
                <a:solidFill>
                  <a:srgbClr val="5D7280"/>
                </a:solidFill>
                <a:latin typeface="Arial"/>
              </a:defRPr>
            </a:pPr>
            <a:r>
              <a:t>Feasibility 15%</a:t>
            </a:r>
          </a:p>
        </p:txBody>
      </p:sp>
      <p:sp>
        <p:nvSpPr>
          <p:cNvPr id="49" name="Rectangle 48"/>
          <p:cNvSpPr/>
          <p:nvPr/>
        </p:nvSpPr>
        <p:spPr>
          <a:xfrm>
            <a:off x="7731252" y="5742432"/>
            <a:ext cx="1600200" cy="137160"/>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31252" y="5961888"/>
            <a:ext cx="1586484" cy="219456"/>
          </a:xfrm>
          <a:prstGeom prst="rect">
            <a:avLst/>
          </a:prstGeom>
          <a:noFill/>
        </p:spPr>
        <p:txBody>
          <a:bodyPr wrap="square" lIns="0" rIns="0" tIns="0" bIns="0">
            <a:spAutoFit/>
          </a:bodyPr>
          <a:lstStyle/>
          <a:p>
            <a:pPr>
              <a:lnSpc>
                <a:spcPct val="104000"/>
              </a:lnSpc>
              <a:spcAft>
                <a:spcPts val="192"/>
              </a:spcAft>
              <a:defRPr sz="960" b="0">
                <a:solidFill>
                  <a:srgbClr val="5D7280"/>
                </a:solidFill>
                <a:latin typeface="Arial"/>
              </a:defRPr>
            </a:pPr>
            <a:r>
              <a:t>Clarification 15%</a:t>
            </a:r>
          </a:p>
        </p:txBody>
      </p:sp>
      <p:sp>
        <p:nvSpPr>
          <p:cNvPr id="51" name="Rectangle 50"/>
          <p:cNvSpPr/>
          <p:nvPr/>
        </p:nvSpPr>
        <p:spPr>
          <a:xfrm>
            <a:off x="9363456" y="5742432"/>
            <a:ext cx="1056132" cy="137160"/>
          </a:xfrm>
          <a:prstGeom prst="rect">
            <a:avLst/>
          </a:prstGeom>
          <a:solidFill>
            <a:srgbClr val="AD6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363456" y="5961888"/>
            <a:ext cx="1042415" cy="219456"/>
          </a:xfrm>
          <a:prstGeom prst="rect">
            <a:avLst/>
          </a:prstGeom>
          <a:noFill/>
        </p:spPr>
        <p:txBody>
          <a:bodyPr wrap="square" lIns="0" rIns="0" tIns="0" bIns="0">
            <a:spAutoFit/>
          </a:bodyPr>
          <a:lstStyle/>
          <a:p>
            <a:pPr>
              <a:lnSpc>
                <a:spcPct val="104000"/>
              </a:lnSpc>
              <a:spcAft>
                <a:spcPts val="192"/>
              </a:spcAft>
              <a:defRPr sz="960" b="0">
                <a:solidFill>
                  <a:srgbClr val="5D7280"/>
                </a:solidFill>
                <a:latin typeface="Arial"/>
              </a:defRPr>
            </a:pPr>
            <a:r>
              <a:t>Explainability 10%</a:t>
            </a:r>
          </a:p>
        </p:txBody>
      </p:sp>
      <p:sp>
        <p:nvSpPr>
          <p:cNvPr id="53" name="Rectangle 52"/>
          <p:cNvSpPr/>
          <p:nvPr/>
        </p:nvSpPr>
        <p:spPr>
          <a:xfrm>
            <a:off x="10451592" y="5742432"/>
            <a:ext cx="1056132" cy="137160"/>
          </a:xfrm>
          <a:prstGeom prst="rect">
            <a:avLst/>
          </a:prstGeom>
          <a:solidFill>
            <a:srgbClr val="14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451592" y="5961888"/>
            <a:ext cx="1042415" cy="219456"/>
          </a:xfrm>
          <a:prstGeom prst="rect">
            <a:avLst/>
          </a:prstGeom>
          <a:noFill/>
        </p:spPr>
        <p:txBody>
          <a:bodyPr wrap="square" lIns="0" rIns="0" tIns="0" bIns="0">
            <a:spAutoFit/>
          </a:bodyPr>
          <a:lstStyle/>
          <a:p>
            <a:pPr>
              <a:lnSpc>
                <a:spcPct val="104000"/>
              </a:lnSpc>
              <a:spcAft>
                <a:spcPts val="192"/>
              </a:spcAft>
              <a:defRPr sz="960" b="0">
                <a:solidFill>
                  <a:srgbClr val="5D7280"/>
                </a:solidFill>
                <a:latin typeface="Arial"/>
              </a:defRPr>
            </a:pPr>
            <a:r>
              <a:t>Prototype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21028" cy="50292"/>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1028" cy="50292"/>
          </a:xfrm>
          <a:prstGeom prst="rect">
            <a:avLst/>
          </a:prstGeom>
          <a:solidFill>
            <a:srgbClr val="655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1028" cy="50292"/>
          </a:xfrm>
          <a:prstGeom prst="rect">
            <a:avLst/>
          </a:prstGeom>
          <a:solidFill>
            <a:srgbClr val="456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1028" cy="50292"/>
          </a:xfrm>
          <a:prstGeom prst="rect">
            <a:avLst/>
          </a:prstGeom>
          <a:solidFill>
            <a:srgbClr val="268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1028" cy="50292"/>
          </a:xfrm>
          <a:prstGeom prst="rect">
            <a:avLst/>
          </a:prstGeom>
          <a:solidFill>
            <a:srgbClr val="149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1028" cy="50292"/>
          </a:xfrm>
          <a:prstGeom prst="rect">
            <a:avLst/>
          </a:prstGeom>
          <a:solidFill>
            <a:srgbClr val="269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1028" cy="50292"/>
          </a:xfrm>
          <a:prstGeom prst="rect">
            <a:avLst/>
          </a:prstGeom>
          <a:solidFill>
            <a:srgbClr val="75A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1028" cy="50292"/>
          </a:xfrm>
          <a:prstGeom prst="rect">
            <a:avLst/>
          </a:prstGeom>
          <a:solidFill>
            <a:srgbClr val="B6A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1028" cy="50292"/>
          </a:xfrm>
          <a:prstGeom prst="rect">
            <a:avLst/>
          </a:prstGeom>
          <a:solidFill>
            <a:srgbClr val="C5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1028" cy="50292"/>
          </a:xfrm>
          <a:prstGeom prst="rect">
            <a:avLst/>
          </a:prstGeom>
          <a:solidFill>
            <a:srgbClr val="B64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28600"/>
          </a:xfrm>
          <a:prstGeom prst="rect">
            <a:avLst/>
          </a:prstGeom>
          <a:noFill/>
        </p:spPr>
        <p:txBody>
          <a:bodyPr wrap="square" lIns="0" rIns="0" tIns="0" bIns="0">
            <a:spAutoFit/>
          </a:bodyPr>
          <a:lstStyle/>
          <a:p>
            <a:pPr>
              <a:lnSpc>
                <a:spcPct val="104000"/>
              </a:lnSpc>
              <a:spcAft>
                <a:spcPts val="210"/>
              </a:spcAft>
              <a:defRPr sz="1050" b="1">
                <a:solidFill>
                  <a:srgbClr val="087F8C"/>
                </a:solidFill>
                <a:latin typeface="Arial"/>
              </a:defRPr>
            </a:pPr>
            <a:r>
              <a:t>SAVED COUNCIL RESULTS</a:t>
            </a:r>
          </a:p>
        </p:txBody>
      </p:sp>
      <p:sp>
        <p:nvSpPr>
          <p:cNvPr id="13" name="TextBox 12"/>
          <p:cNvSpPr txBox="1"/>
          <p:nvPr/>
        </p:nvSpPr>
        <p:spPr>
          <a:xfrm>
            <a:off x="621792" y="841248"/>
            <a:ext cx="10972800" cy="621792"/>
          </a:xfrm>
          <a:prstGeom prst="rect">
            <a:avLst/>
          </a:prstGeom>
          <a:noFill/>
        </p:spPr>
        <p:txBody>
          <a:bodyPr wrap="square" lIns="0" rIns="0" tIns="0" bIns="0">
            <a:spAutoFit/>
          </a:bodyPr>
          <a:lstStyle/>
          <a:p>
            <a:pPr>
              <a:lnSpc>
                <a:spcPct val="104000"/>
              </a:lnSpc>
              <a:spcAft>
                <a:spcPts val="620"/>
              </a:spcAft>
              <a:defRPr sz="3100" b="1">
                <a:solidFill>
                  <a:srgbClr val="142D3D"/>
                </a:solidFill>
                <a:latin typeface="Arial"/>
              </a:defRPr>
            </a:pPr>
            <a:r>
              <a:t>Useful output, with measurable grounding gaps.</a:t>
            </a:r>
          </a:p>
        </p:txBody>
      </p:sp>
      <p:sp>
        <p:nvSpPr>
          <p:cNvPr id="14" name="TextBox 13"/>
          <p:cNvSpPr txBox="1"/>
          <p:nvPr/>
        </p:nvSpPr>
        <p:spPr>
          <a:xfrm>
            <a:off x="640080" y="1517904"/>
            <a:ext cx="10927080" cy="438912"/>
          </a:xfrm>
          <a:prstGeom prst="rect">
            <a:avLst/>
          </a:prstGeom>
          <a:noFill/>
        </p:spPr>
        <p:txBody>
          <a:bodyPr wrap="square" lIns="0" rIns="0" tIns="0" bIns="0">
            <a:spAutoFit/>
          </a:bodyPr>
          <a:lstStyle/>
          <a:p>
            <a:pPr>
              <a:lnSpc>
                <a:spcPct val="104000"/>
              </a:lnSpc>
              <a:spcAft>
                <a:spcPts val="300"/>
              </a:spcAft>
              <a:defRPr sz="1500" b="0">
                <a:solidFill>
                  <a:srgbClr val="5D7280"/>
                </a:solidFill>
                <a:latin typeface="Arial"/>
              </a:defRPr>
            </a:pPr>
            <a:r>
              <a:t>Six archived final answers · three model drafts · automatic checks after generation</a:t>
            </a:r>
          </a:p>
        </p:txBody>
      </p:sp>
      <p:cxnSp>
        <p:nvCxnSpPr>
          <p:cNvPr id="15" name="Connector 14"/>
          <p:cNvCxnSpPr/>
          <p:nvPr/>
        </p:nvCxnSpPr>
        <p:spPr>
          <a:xfrm>
            <a:off x="594360" y="6382512"/>
            <a:ext cx="11000232" cy="0"/>
          </a:xfrm>
          <a:prstGeom prst="line">
            <a:avLst/>
          </a:prstGeom>
          <a:ln w="1016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6492240"/>
            <a:ext cx="10104120" cy="155448"/>
          </a:xfrm>
          <a:prstGeom prst="rect">
            <a:avLst/>
          </a:prstGeom>
          <a:noFill/>
        </p:spPr>
        <p:txBody>
          <a:bodyPr wrap="square" lIns="0" rIns="0" tIns="0" bIns="0">
            <a:spAutoFit/>
          </a:bodyPr>
          <a:lstStyle/>
          <a:p>
            <a:pPr>
              <a:lnSpc>
                <a:spcPct val="104000"/>
              </a:lnSpc>
              <a:spcAft>
                <a:spcPts val="166"/>
              </a:spcAft>
              <a:defRPr sz="830" b="0">
                <a:solidFill>
                  <a:srgbClr val="5D7280"/>
                </a:solidFill>
                <a:latin typeface="Arial"/>
              </a:defRPr>
            </a:pPr>
            <a:r>
              <a:t>origin/presentation@807609d · resultAssessments/H01–H06_council.md</a:t>
            </a:r>
          </a:p>
        </p:txBody>
      </p:sp>
      <p:sp>
        <p:nvSpPr>
          <p:cNvPr id="17" name="TextBox 16"/>
          <p:cNvSpPr txBox="1"/>
          <p:nvPr/>
        </p:nvSpPr>
        <p:spPr>
          <a:xfrm>
            <a:off x="10853928" y="6464808"/>
            <a:ext cx="731520" cy="210312"/>
          </a:xfrm>
          <a:prstGeom prst="rect">
            <a:avLst/>
          </a:prstGeom>
          <a:noFill/>
        </p:spPr>
        <p:txBody>
          <a:bodyPr wrap="square" lIns="0" rIns="0" tIns="0" bIns="0">
            <a:spAutoFit/>
          </a:bodyPr>
          <a:lstStyle/>
          <a:p>
            <a:pPr algn="r">
              <a:lnSpc>
                <a:spcPct val="104000"/>
              </a:lnSpc>
              <a:spcAft>
                <a:spcPts val="180"/>
              </a:spcAft>
              <a:defRPr sz="900" b="0">
                <a:solidFill>
                  <a:srgbClr val="5D7280"/>
                </a:solidFill>
                <a:latin typeface="Arial"/>
              </a:defRPr>
            </a:pPr>
            <a:r>
              <a:t>03 / 13</a:t>
            </a:r>
          </a:p>
        </p:txBody>
      </p:sp>
      <p:sp>
        <p:nvSpPr>
          <p:cNvPr id="18" name="Rounded Rectangle 17"/>
          <p:cNvSpPr/>
          <p:nvPr/>
        </p:nvSpPr>
        <p:spPr>
          <a:xfrm>
            <a:off x="658368" y="2057400"/>
            <a:ext cx="3566160" cy="868680"/>
          </a:xfrm>
          <a:prstGeom prst="roundRect">
            <a:avLst>
              <a:gd name="adj" fmla="val 12631"/>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2176272"/>
            <a:ext cx="1600200" cy="512064"/>
          </a:xfrm>
          <a:prstGeom prst="rect">
            <a:avLst/>
          </a:prstGeom>
          <a:noFill/>
        </p:spPr>
        <p:txBody>
          <a:bodyPr wrap="square" lIns="0" rIns="0" tIns="0" bIns="0">
            <a:spAutoFit/>
          </a:bodyPr>
          <a:lstStyle/>
          <a:p>
            <a:pPr>
              <a:lnSpc>
                <a:spcPct val="104000"/>
              </a:lnSpc>
              <a:spcAft>
                <a:spcPts val="600"/>
              </a:spcAft>
              <a:defRPr sz="3000" b="1">
                <a:solidFill>
                  <a:srgbClr val="087F8C"/>
                </a:solidFill>
                <a:latin typeface="Arial"/>
              </a:defRPr>
            </a:pPr>
            <a:r>
              <a:t>35 / 44</a:t>
            </a:r>
          </a:p>
        </p:txBody>
      </p:sp>
      <p:sp>
        <p:nvSpPr>
          <p:cNvPr id="20" name="TextBox 19"/>
          <p:cNvSpPr txBox="1"/>
          <p:nvPr/>
        </p:nvSpPr>
        <p:spPr>
          <a:xfrm>
            <a:off x="2231136" y="2267712"/>
            <a:ext cx="1810512" cy="438912"/>
          </a:xfrm>
          <a:prstGeom prst="rect">
            <a:avLst/>
          </a:prstGeom>
          <a:noFill/>
        </p:spPr>
        <p:txBody>
          <a:bodyPr wrap="square" lIns="0" rIns="0" tIns="0" bIns="0">
            <a:spAutoFit/>
          </a:bodyPr>
          <a:lstStyle/>
          <a:p>
            <a:pPr>
              <a:lnSpc>
                <a:spcPct val="104000"/>
              </a:lnSpc>
              <a:spcAft>
                <a:spcPts val="240"/>
              </a:spcAft>
              <a:defRPr sz="1200" b="0">
                <a:solidFill>
                  <a:srgbClr val="5D7280"/>
                </a:solidFill>
                <a:latin typeface="Arial"/>
              </a:defRPr>
            </a:pPr>
            <a:r>
              <a:t>source checks verified</a:t>
            </a:r>
          </a:p>
        </p:txBody>
      </p:sp>
      <p:sp>
        <p:nvSpPr>
          <p:cNvPr id="21" name="Rounded Rectangle 20"/>
          <p:cNvSpPr/>
          <p:nvPr/>
        </p:nvSpPr>
        <p:spPr>
          <a:xfrm>
            <a:off x="4361688" y="2057400"/>
            <a:ext cx="3566160" cy="868680"/>
          </a:xfrm>
          <a:prstGeom prst="roundRect">
            <a:avLst>
              <a:gd name="adj" fmla="val 12631"/>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79" y="2176272"/>
            <a:ext cx="1600200" cy="512064"/>
          </a:xfrm>
          <a:prstGeom prst="rect">
            <a:avLst/>
          </a:prstGeom>
          <a:noFill/>
        </p:spPr>
        <p:txBody>
          <a:bodyPr wrap="square" lIns="0" rIns="0" tIns="0" bIns="0">
            <a:spAutoFit/>
          </a:bodyPr>
          <a:lstStyle/>
          <a:p>
            <a:pPr>
              <a:lnSpc>
                <a:spcPct val="104000"/>
              </a:lnSpc>
              <a:spcAft>
                <a:spcPts val="600"/>
              </a:spcAft>
              <a:defRPr sz="3000" b="1">
                <a:solidFill>
                  <a:srgbClr val="B43C37"/>
                </a:solidFill>
                <a:latin typeface="Arial"/>
              </a:defRPr>
            </a:pPr>
            <a:r>
              <a:t>4</a:t>
            </a:r>
          </a:p>
        </p:txBody>
      </p:sp>
      <p:sp>
        <p:nvSpPr>
          <p:cNvPr id="23" name="TextBox 22"/>
          <p:cNvSpPr txBox="1"/>
          <p:nvPr/>
        </p:nvSpPr>
        <p:spPr>
          <a:xfrm>
            <a:off x="5934455" y="2267712"/>
            <a:ext cx="1810512" cy="438912"/>
          </a:xfrm>
          <a:prstGeom prst="rect">
            <a:avLst/>
          </a:prstGeom>
          <a:noFill/>
        </p:spPr>
        <p:txBody>
          <a:bodyPr wrap="square" lIns="0" rIns="0" tIns="0" bIns="0">
            <a:spAutoFit/>
          </a:bodyPr>
          <a:lstStyle/>
          <a:p>
            <a:pPr>
              <a:lnSpc>
                <a:spcPct val="104000"/>
              </a:lnSpc>
              <a:spcAft>
                <a:spcPts val="240"/>
              </a:spcAft>
              <a:defRPr sz="1200" b="0">
                <a:solidFill>
                  <a:srgbClr val="5D7280"/>
                </a:solidFill>
                <a:latin typeface="Arial"/>
              </a:defRPr>
            </a:pPr>
            <a:r>
              <a:t>unsupported-number flags</a:t>
            </a:r>
          </a:p>
        </p:txBody>
      </p:sp>
      <p:sp>
        <p:nvSpPr>
          <p:cNvPr id="24" name="Rounded Rectangle 23"/>
          <p:cNvSpPr/>
          <p:nvPr/>
        </p:nvSpPr>
        <p:spPr>
          <a:xfrm>
            <a:off x="8065008" y="2057400"/>
            <a:ext cx="3566160" cy="868680"/>
          </a:xfrm>
          <a:prstGeom prst="roundRect">
            <a:avLst>
              <a:gd name="adj" fmla="val 12631"/>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2176272"/>
            <a:ext cx="1600200" cy="512064"/>
          </a:xfrm>
          <a:prstGeom prst="rect">
            <a:avLst/>
          </a:prstGeom>
          <a:noFill/>
        </p:spPr>
        <p:txBody>
          <a:bodyPr wrap="square" lIns="0" rIns="0" tIns="0" bIns="0">
            <a:spAutoFit/>
          </a:bodyPr>
          <a:lstStyle/>
          <a:p>
            <a:pPr>
              <a:lnSpc>
                <a:spcPct val="104000"/>
              </a:lnSpc>
              <a:spcAft>
                <a:spcPts val="600"/>
              </a:spcAft>
              <a:defRPr sz="3000" b="1">
                <a:solidFill>
                  <a:srgbClr val="7549BE"/>
                </a:solidFill>
                <a:latin typeface="Arial"/>
              </a:defRPr>
            </a:pPr>
            <a:r>
              <a:t>0 / 6</a:t>
            </a:r>
          </a:p>
        </p:txBody>
      </p:sp>
      <p:sp>
        <p:nvSpPr>
          <p:cNvPr id="26" name="TextBox 25"/>
          <p:cNvSpPr txBox="1"/>
          <p:nvPr/>
        </p:nvSpPr>
        <p:spPr>
          <a:xfrm>
            <a:off x="9637776" y="2267712"/>
            <a:ext cx="1810512" cy="438912"/>
          </a:xfrm>
          <a:prstGeom prst="rect">
            <a:avLst/>
          </a:prstGeom>
          <a:noFill/>
        </p:spPr>
        <p:txBody>
          <a:bodyPr wrap="square" lIns="0" rIns="0" tIns="0" bIns="0">
            <a:spAutoFit/>
          </a:bodyPr>
          <a:lstStyle/>
          <a:p>
            <a:pPr>
              <a:lnSpc>
                <a:spcPct val="104000"/>
              </a:lnSpc>
              <a:spcAft>
                <a:spcPts val="240"/>
              </a:spcAft>
              <a:defRPr sz="1200" b="0">
                <a:solidFill>
                  <a:srgbClr val="5D7280"/>
                </a:solidFill>
                <a:latin typeface="Arial"/>
              </a:defRPr>
            </a:pPr>
            <a:r>
              <a:t>high-confidence outputs</a:t>
            </a:r>
          </a:p>
        </p:txBody>
      </p:sp>
      <p:sp>
        <p:nvSpPr>
          <p:cNvPr id="27" name="Rectangle 26"/>
          <p:cNvSpPr/>
          <p:nvPr/>
        </p:nvSpPr>
        <p:spPr>
          <a:xfrm>
            <a:off x="667512" y="3200400"/>
            <a:ext cx="10789920" cy="429768"/>
          </a:xfrm>
          <a:prstGeom prst="rect">
            <a:avLst/>
          </a:prstGeom>
          <a:solidFill>
            <a:srgbClr val="14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3328416"/>
            <a:ext cx="713232" cy="210312"/>
          </a:xfrm>
          <a:prstGeom prst="rect">
            <a:avLst/>
          </a:prstGeom>
          <a:noFill/>
        </p:spPr>
        <p:txBody>
          <a:bodyPr wrap="square" lIns="0" rIns="0" tIns="0" bIns="0">
            <a:spAutoFit/>
          </a:bodyPr>
          <a:lstStyle/>
          <a:p>
            <a:pPr>
              <a:lnSpc>
                <a:spcPct val="104000"/>
              </a:lnSpc>
              <a:spcAft>
                <a:spcPts val="220"/>
              </a:spcAft>
              <a:defRPr sz="1100" b="1">
                <a:solidFill>
                  <a:srgbClr val="FFFFFF"/>
                </a:solidFill>
                <a:latin typeface="Arial"/>
              </a:defRPr>
            </a:pPr>
            <a:r>
              <a:t>Case</a:t>
            </a:r>
          </a:p>
        </p:txBody>
      </p:sp>
      <p:sp>
        <p:nvSpPr>
          <p:cNvPr id="29" name="TextBox 28"/>
          <p:cNvSpPr txBox="1"/>
          <p:nvPr/>
        </p:nvSpPr>
        <p:spPr>
          <a:xfrm>
            <a:off x="1700784" y="3328416"/>
            <a:ext cx="1536192" cy="210312"/>
          </a:xfrm>
          <a:prstGeom prst="rect">
            <a:avLst/>
          </a:prstGeom>
          <a:noFill/>
        </p:spPr>
        <p:txBody>
          <a:bodyPr wrap="square" lIns="0" rIns="0" tIns="0" bIns="0">
            <a:spAutoFit/>
          </a:bodyPr>
          <a:lstStyle/>
          <a:p>
            <a:pPr>
              <a:lnSpc>
                <a:spcPct val="104000"/>
              </a:lnSpc>
              <a:spcAft>
                <a:spcPts val="220"/>
              </a:spcAft>
              <a:defRPr sz="1100" b="1">
                <a:solidFill>
                  <a:srgbClr val="FFFFFF"/>
                </a:solidFill>
                <a:latin typeface="Arial"/>
              </a:defRPr>
            </a:pPr>
            <a:r>
              <a:t>Source checks</a:t>
            </a:r>
          </a:p>
        </p:txBody>
      </p:sp>
      <p:sp>
        <p:nvSpPr>
          <p:cNvPr id="30" name="TextBox 29"/>
          <p:cNvSpPr txBox="1"/>
          <p:nvPr/>
        </p:nvSpPr>
        <p:spPr>
          <a:xfrm>
            <a:off x="3438144" y="3328416"/>
            <a:ext cx="1216152" cy="210312"/>
          </a:xfrm>
          <a:prstGeom prst="rect">
            <a:avLst/>
          </a:prstGeom>
          <a:noFill/>
        </p:spPr>
        <p:txBody>
          <a:bodyPr wrap="square" lIns="0" rIns="0" tIns="0" bIns="0">
            <a:spAutoFit/>
          </a:bodyPr>
          <a:lstStyle/>
          <a:p>
            <a:pPr>
              <a:lnSpc>
                <a:spcPct val="104000"/>
              </a:lnSpc>
              <a:spcAft>
                <a:spcPts val="220"/>
              </a:spcAft>
              <a:defRPr sz="1100" b="1">
                <a:solidFill>
                  <a:srgbClr val="FFFFFF"/>
                </a:solidFill>
                <a:latin typeface="Arial"/>
              </a:defRPr>
            </a:pPr>
            <a:r>
              <a:t>Checks passed</a:t>
            </a:r>
          </a:p>
        </p:txBody>
      </p:sp>
      <p:sp>
        <p:nvSpPr>
          <p:cNvPr id="31" name="TextBox 30"/>
          <p:cNvSpPr txBox="1"/>
          <p:nvPr/>
        </p:nvSpPr>
        <p:spPr>
          <a:xfrm>
            <a:off x="4855464" y="3328416"/>
            <a:ext cx="1307592" cy="210312"/>
          </a:xfrm>
          <a:prstGeom prst="rect">
            <a:avLst/>
          </a:prstGeom>
          <a:noFill/>
        </p:spPr>
        <p:txBody>
          <a:bodyPr wrap="square" lIns="0" rIns="0" tIns="0" bIns="0">
            <a:spAutoFit/>
          </a:bodyPr>
          <a:lstStyle/>
          <a:p>
            <a:pPr>
              <a:lnSpc>
                <a:spcPct val="104000"/>
              </a:lnSpc>
              <a:spcAft>
                <a:spcPts val="220"/>
              </a:spcAft>
              <a:defRPr sz="1100" b="1">
                <a:solidFill>
                  <a:srgbClr val="FFFFFF"/>
                </a:solidFill>
                <a:latin typeface="Arial"/>
              </a:defRPr>
            </a:pPr>
            <a:r>
              <a:t>Number flags</a:t>
            </a:r>
          </a:p>
        </p:txBody>
      </p:sp>
      <p:sp>
        <p:nvSpPr>
          <p:cNvPr id="32" name="TextBox 31"/>
          <p:cNvSpPr txBox="1"/>
          <p:nvPr/>
        </p:nvSpPr>
        <p:spPr>
          <a:xfrm>
            <a:off x="6364224" y="3328416"/>
            <a:ext cx="1947672" cy="210312"/>
          </a:xfrm>
          <a:prstGeom prst="rect">
            <a:avLst/>
          </a:prstGeom>
          <a:noFill/>
        </p:spPr>
        <p:txBody>
          <a:bodyPr wrap="square" lIns="0" rIns="0" tIns="0" bIns="0">
            <a:spAutoFit/>
          </a:bodyPr>
          <a:lstStyle/>
          <a:p>
            <a:pPr>
              <a:lnSpc>
                <a:spcPct val="104000"/>
              </a:lnSpc>
              <a:spcAft>
                <a:spcPts val="220"/>
              </a:spcAft>
              <a:defRPr sz="1100" b="1">
                <a:solidFill>
                  <a:srgbClr val="FFFFFF"/>
                </a:solidFill>
                <a:latin typeface="Arial"/>
              </a:defRPr>
            </a:pPr>
            <a:r>
              <a:t>Confidence</a:t>
            </a:r>
          </a:p>
        </p:txBody>
      </p:sp>
      <p:sp>
        <p:nvSpPr>
          <p:cNvPr id="33" name="TextBox 32"/>
          <p:cNvSpPr txBox="1"/>
          <p:nvPr/>
        </p:nvSpPr>
        <p:spPr>
          <a:xfrm>
            <a:off x="8513064" y="3328416"/>
            <a:ext cx="2862072" cy="210312"/>
          </a:xfrm>
          <a:prstGeom prst="rect">
            <a:avLst/>
          </a:prstGeom>
          <a:noFill/>
        </p:spPr>
        <p:txBody>
          <a:bodyPr wrap="square" lIns="0" rIns="0" tIns="0" bIns="0">
            <a:spAutoFit/>
          </a:bodyPr>
          <a:lstStyle/>
          <a:p>
            <a:pPr>
              <a:lnSpc>
                <a:spcPct val="104000"/>
              </a:lnSpc>
              <a:spcAft>
                <a:spcPts val="220"/>
              </a:spcAft>
              <a:defRPr sz="1100" b="1">
                <a:solidFill>
                  <a:srgbClr val="FFFFFF"/>
                </a:solidFill>
                <a:latin typeface="Arial"/>
              </a:defRPr>
            </a:pPr>
            <a:r>
              <a:t>Decision status</a:t>
            </a:r>
          </a:p>
        </p:txBody>
      </p:sp>
      <p:sp>
        <p:nvSpPr>
          <p:cNvPr id="34" name="Rectangle 33"/>
          <p:cNvSpPr/>
          <p:nvPr/>
        </p:nvSpPr>
        <p:spPr>
          <a:xfrm>
            <a:off x="667512" y="3630168"/>
            <a:ext cx="107899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3739896"/>
            <a:ext cx="713232" cy="228600"/>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H01</a:t>
            </a:r>
          </a:p>
        </p:txBody>
      </p:sp>
      <p:sp>
        <p:nvSpPr>
          <p:cNvPr id="36" name="TextBox 35"/>
          <p:cNvSpPr txBox="1"/>
          <p:nvPr/>
        </p:nvSpPr>
        <p:spPr>
          <a:xfrm>
            <a:off x="1700784" y="3739896"/>
            <a:ext cx="153619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6/8</a:t>
            </a:r>
          </a:p>
        </p:txBody>
      </p:sp>
      <p:sp>
        <p:nvSpPr>
          <p:cNvPr id="37" name="TextBox 36"/>
          <p:cNvSpPr txBox="1"/>
          <p:nvPr/>
        </p:nvSpPr>
        <p:spPr>
          <a:xfrm>
            <a:off x="3438144" y="3739896"/>
            <a:ext cx="121615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15/16</a:t>
            </a:r>
          </a:p>
        </p:txBody>
      </p:sp>
      <p:sp>
        <p:nvSpPr>
          <p:cNvPr id="38" name="TextBox 37"/>
          <p:cNvSpPr txBox="1"/>
          <p:nvPr/>
        </p:nvSpPr>
        <p:spPr>
          <a:xfrm>
            <a:off x="4855464" y="3739896"/>
            <a:ext cx="130759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0</a:t>
            </a:r>
          </a:p>
        </p:txBody>
      </p:sp>
      <p:sp>
        <p:nvSpPr>
          <p:cNvPr id="39" name="TextBox 38"/>
          <p:cNvSpPr txBox="1"/>
          <p:nvPr/>
        </p:nvSpPr>
        <p:spPr>
          <a:xfrm>
            <a:off x="6364224" y="3739896"/>
            <a:ext cx="194767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Low</a:t>
            </a:r>
          </a:p>
        </p:txBody>
      </p:sp>
      <p:sp>
        <p:nvSpPr>
          <p:cNvPr id="40" name="TextBox 39"/>
          <p:cNvSpPr txBox="1"/>
          <p:nvPr/>
        </p:nvSpPr>
        <p:spPr>
          <a:xfrm>
            <a:off x="8513064" y="3739896"/>
            <a:ext cx="286207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Provisional</a:t>
            </a:r>
          </a:p>
        </p:txBody>
      </p:sp>
      <p:cxnSp>
        <p:nvCxnSpPr>
          <p:cNvPr id="41" name="Connector 40"/>
          <p:cNvCxnSpPr/>
          <p:nvPr/>
        </p:nvCxnSpPr>
        <p:spPr>
          <a:xfrm>
            <a:off x="667512" y="3977639"/>
            <a:ext cx="10789920"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667512" y="3977639"/>
            <a:ext cx="10789920" cy="347472"/>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6384" y="4087368"/>
            <a:ext cx="713232" cy="228600"/>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H02</a:t>
            </a:r>
          </a:p>
        </p:txBody>
      </p:sp>
      <p:sp>
        <p:nvSpPr>
          <p:cNvPr id="44" name="TextBox 43"/>
          <p:cNvSpPr txBox="1"/>
          <p:nvPr/>
        </p:nvSpPr>
        <p:spPr>
          <a:xfrm>
            <a:off x="1700784" y="4087368"/>
            <a:ext cx="153619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9/10</a:t>
            </a:r>
          </a:p>
        </p:txBody>
      </p:sp>
      <p:sp>
        <p:nvSpPr>
          <p:cNvPr id="45" name="TextBox 44"/>
          <p:cNvSpPr txBox="1"/>
          <p:nvPr/>
        </p:nvSpPr>
        <p:spPr>
          <a:xfrm>
            <a:off x="3438144" y="4087368"/>
            <a:ext cx="121615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12/16</a:t>
            </a:r>
          </a:p>
        </p:txBody>
      </p:sp>
      <p:sp>
        <p:nvSpPr>
          <p:cNvPr id="46" name="TextBox 45"/>
          <p:cNvSpPr txBox="1"/>
          <p:nvPr/>
        </p:nvSpPr>
        <p:spPr>
          <a:xfrm>
            <a:off x="4855464" y="4087368"/>
            <a:ext cx="130759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1</a:t>
            </a:r>
          </a:p>
        </p:txBody>
      </p:sp>
      <p:sp>
        <p:nvSpPr>
          <p:cNvPr id="47" name="TextBox 46"/>
          <p:cNvSpPr txBox="1"/>
          <p:nvPr/>
        </p:nvSpPr>
        <p:spPr>
          <a:xfrm>
            <a:off x="6364224" y="4087368"/>
            <a:ext cx="194767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Insufficient</a:t>
            </a:r>
          </a:p>
        </p:txBody>
      </p:sp>
      <p:sp>
        <p:nvSpPr>
          <p:cNvPr id="48" name="TextBox 47"/>
          <p:cNvSpPr txBox="1"/>
          <p:nvPr/>
        </p:nvSpPr>
        <p:spPr>
          <a:xfrm>
            <a:off x="8513064" y="4087368"/>
            <a:ext cx="286207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Provisional</a:t>
            </a:r>
          </a:p>
        </p:txBody>
      </p:sp>
      <p:cxnSp>
        <p:nvCxnSpPr>
          <p:cNvPr id="49" name="Connector 48"/>
          <p:cNvCxnSpPr/>
          <p:nvPr/>
        </p:nvCxnSpPr>
        <p:spPr>
          <a:xfrm>
            <a:off x="667512" y="4325112"/>
            <a:ext cx="10789920"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667512" y="4325112"/>
            <a:ext cx="107899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6384" y="4434840"/>
            <a:ext cx="713232" cy="228600"/>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H03</a:t>
            </a:r>
          </a:p>
        </p:txBody>
      </p:sp>
      <p:sp>
        <p:nvSpPr>
          <p:cNvPr id="52" name="TextBox 51"/>
          <p:cNvSpPr txBox="1"/>
          <p:nvPr/>
        </p:nvSpPr>
        <p:spPr>
          <a:xfrm>
            <a:off x="1700784" y="4434840"/>
            <a:ext cx="153619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5/5</a:t>
            </a:r>
          </a:p>
        </p:txBody>
      </p:sp>
      <p:sp>
        <p:nvSpPr>
          <p:cNvPr id="53" name="TextBox 52"/>
          <p:cNvSpPr txBox="1"/>
          <p:nvPr/>
        </p:nvSpPr>
        <p:spPr>
          <a:xfrm>
            <a:off x="3438144" y="4434840"/>
            <a:ext cx="121615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15/16</a:t>
            </a:r>
          </a:p>
        </p:txBody>
      </p:sp>
      <p:sp>
        <p:nvSpPr>
          <p:cNvPr id="54" name="TextBox 53"/>
          <p:cNvSpPr txBox="1"/>
          <p:nvPr/>
        </p:nvSpPr>
        <p:spPr>
          <a:xfrm>
            <a:off x="4855464" y="4434840"/>
            <a:ext cx="130759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0</a:t>
            </a:r>
          </a:p>
        </p:txBody>
      </p:sp>
      <p:sp>
        <p:nvSpPr>
          <p:cNvPr id="55" name="TextBox 54"/>
          <p:cNvSpPr txBox="1"/>
          <p:nvPr/>
        </p:nvSpPr>
        <p:spPr>
          <a:xfrm>
            <a:off x="6364224" y="4434840"/>
            <a:ext cx="194767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Low</a:t>
            </a:r>
          </a:p>
        </p:txBody>
      </p:sp>
      <p:sp>
        <p:nvSpPr>
          <p:cNvPr id="56" name="TextBox 55"/>
          <p:cNvSpPr txBox="1"/>
          <p:nvPr/>
        </p:nvSpPr>
        <p:spPr>
          <a:xfrm>
            <a:off x="8513064" y="4434840"/>
            <a:ext cx="286207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Provisional</a:t>
            </a:r>
          </a:p>
        </p:txBody>
      </p:sp>
      <p:cxnSp>
        <p:nvCxnSpPr>
          <p:cNvPr id="57" name="Connector 56"/>
          <p:cNvCxnSpPr/>
          <p:nvPr/>
        </p:nvCxnSpPr>
        <p:spPr>
          <a:xfrm>
            <a:off x="667512" y="4672583"/>
            <a:ext cx="10789920"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667512" y="4672583"/>
            <a:ext cx="10789920" cy="347472"/>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86384" y="4782312"/>
            <a:ext cx="713232" cy="228600"/>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H04</a:t>
            </a:r>
          </a:p>
        </p:txBody>
      </p:sp>
      <p:sp>
        <p:nvSpPr>
          <p:cNvPr id="60" name="TextBox 59"/>
          <p:cNvSpPr txBox="1"/>
          <p:nvPr/>
        </p:nvSpPr>
        <p:spPr>
          <a:xfrm>
            <a:off x="1700784" y="4782312"/>
            <a:ext cx="153619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7/10</a:t>
            </a:r>
          </a:p>
        </p:txBody>
      </p:sp>
      <p:sp>
        <p:nvSpPr>
          <p:cNvPr id="61" name="TextBox 60"/>
          <p:cNvSpPr txBox="1"/>
          <p:nvPr/>
        </p:nvSpPr>
        <p:spPr>
          <a:xfrm>
            <a:off x="3438144" y="4782312"/>
            <a:ext cx="121615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15/16</a:t>
            </a:r>
          </a:p>
        </p:txBody>
      </p:sp>
      <p:sp>
        <p:nvSpPr>
          <p:cNvPr id="62" name="TextBox 61"/>
          <p:cNvSpPr txBox="1"/>
          <p:nvPr/>
        </p:nvSpPr>
        <p:spPr>
          <a:xfrm>
            <a:off x="4855464" y="4782312"/>
            <a:ext cx="130759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0</a:t>
            </a:r>
          </a:p>
        </p:txBody>
      </p:sp>
      <p:sp>
        <p:nvSpPr>
          <p:cNvPr id="63" name="TextBox 62"/>
          <p:cNvSpPr txBox="1"/>
          <p:nvPr/>
        </p:nvSpPr>
        <p:spPr>
          <a:xfrm>
            <a:off x="6364224" y="4782312"/>
            <a:ext cx="194767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Insufficient</a:t>
            </a:r>
          </a:p>
        </p:txBody>
      </p:sp>
      <p:sp>
        <p:nvSpPr>
          <p:cNvPr id="64" name="TextBox 63"/>
          <p:cNvSpPr txBox="1"/>
          <p:nvPr/>
        </p:nvSpPr>
        <p:spPr>
          <a:xfrm>
            <a:off x="8513064" y="4782312"/>
            <a:ext cx="286207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Provisional</a:t>
            </a:r>
          </a:p>
        </p:txBody>
      </p:sp>
      <p:cxnSp>
        <p:nvCxnSpPr>
          <p:cNvPr id="65" name="Connector 64"/>
          <p:cNvCxnSpPr/>
          <p:nvPr/>
        </p:nvCxnSpPr>
        <p:spPr>
          <a:xfrm>
            <a:off x="667512" y="5020055"/>
            <a:ext cx="10789920"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667512" y="5020056"/>
            <a:ext cx="107899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86384" y="5129784"/>
            <a:ext cx="713232" cy="228600"/>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H05</a:t>
            </a:r>
          </a:p>
        </p:txBody>
      </p:sp>
      <p:sp>
        <p:nvSpPr>
          <p:cNvPr id="68" name="TextBox 67"/>
          <p:cNvSpPr txBox="1"/>
          <p:nvPr/>
        </p:nvSpPr>
        <p:spPr>
          <a:xfrm>
            <a:off x="1700784" y="5129784"/>
            <a:ext cx="153619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3/3</a:t>
            </a:r>
          </a:p>
        </p:txBody>
      </p:sp>
      <p:sp>
        <p:nvSpPr>
          <p:cNvPr id="69" name="TextBox 68"/>
          <p:cNvSpPr txBox="1"/>
          <p:nvPr/>
        </p:nvSpPr>
        <p:spPr>
          <a:xfrm>
            <a:off x="3438144" y="5129784"/>
            <a:ext cx="121615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13/16</a:t>
            </a:r>
          </a:p>
        </p:txBody>
      </p:sp>
      <p:sp>
        <p:nvSpPr>
          <p:cNvPr id="70" name="TextBox 69"/>
          <p:cNvSpPr txBox="1"/>
          <p:nvPr/>
        </p:nvSpPr>
        <p:spPr>
          <a:xfrm>
            <a:off x="4855464" y="5129784"/>
            <a:ext cx="130759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3</a:t>
            </a:r>
          </a:p>
        </p:txBody>
      </p:sp>
      <p:sp>
        <p:nvSpPr>
          <p:cNvPr id="71" name="TextBox 70"/>
          <p:cNvSpPr txBox="1"/>
          <p:nvPr/>
        </p:nvSpPr>
        <p:spPr>
          <a:xfrm>
            <a:off x="6364224" y="5129784"/>
            <a:ext cx="194767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Insufficient</a:t>
            </a:r>
          </a:p>
        </p:txBody>
      </p:sp>
      <p:sp>
        <p:nvSpPr>
          <p:cNvPr id="72" name="TextBox 71"/>
          <p:cNvSpPr txBox="1"/>
          <p:nvPr/>
        </p:nvSpPr>
        <p:spPr>
          <a:xfrm>
            <a:off x="8513064" y="5129784"/>
            <a:ext cx="286207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Provisional</a:t>
            </a:r>
          </a:p>
        </p:txBody>
      </p:sp>
      <p:cxnSp>
        <p:nvCxnSpPr>
          <p:cNvPr id="73" name="Connector 72"/>
          <p:cNvCxnSpPr/>
          <p:nvPr/>
        </p:nvCxnSpPr>
        <p:spPr>
          <a:xfrm>
            <a:off x="667512" y="5367528"/>
            <a:ext cx="10789920"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667512" y="5367527"/>
            <a:ext cx="10789920" cy="347472"/>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86384" y="5477255"/>
            <a:ext cx="713232" cy="228600"/>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H06</a:t>
            </a:r>
          </a:p>
        </p:txBody>
      </p:sp>
      <p:sp>
        <p:nvSpPr>
          <p:cNvPr id="76" name="TextBox 75"/>
          <p:cNvSpPr txBox="1"/>
          <p:nvPr/>
        </p:nvSpPr>
        <p:spPr>
          <a:xfrm>
            <a:off x="1700784" y="5477255"/>
            <a:ext cx="153619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5/8</a:t>
            </a:r>
          </a:p>
        </p:txBody>
      </p:sp>
      <p:sp>
        <p:nvSpPr>
          <p:cNvPr id="77" name="TextBox 76"/>
          <p:cNvSpPr txBox="1"/>
          <p:nvPr/>
        </p:nvSpPr>
        <p:spPr>
          <a:xfrm>
            <a:off x="3438144" y="5477255"/>
            <a:ext cx="121615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12/16</a:t>
            </a:r>
          </a:p>
        </p:txBody>
      </p:sp>
      <p:sp>
        <p:nvSpPr>
          <p:cNvPr id="78" name="TextBox 77"/>
          <p:cNvSpPr txBox="1"/>
          <p:nvPr/>
        </p:nvSpPr>
        <p:spPr>
          <a:xfrm>
            <a:off x="4855464" y="5477255"/>
            <a:ext cx="130759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0</a:t>
            </a:r>
          </a:p>
        </p:txBody>
      </p:sp>
      <p:sp>
        <p:nvSpPr>
          <p:cNvPr id="79" name="TextBox 78"/>
          <p:cNvSpPr txBox="1"/>
          <p:nvPr/>
        </p:nvSpPr>
        <p:spPr>
          <a:xfrm>
            <a:off x="6364224" y="5477255"/>
            <a:ext cx="194767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Insufficient</a:t>
            </a:r>
          </a:p>
        </p:txBody>
      </p:sp>
      <p:sp>
        <p:nvSpPr>
          <p:cNvPr id="80" name="TextBox 79"/>
          <p:cNvSpPr txBox="1"/>
          <p:nvPr/>
        </p:nvSpPr>
        <p:spPr>
          <a:xfrm>
            <a:off x="8513064" y="5477255"/>
            <a:ext cx="2862072" cy="228600"/>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Outside scope</a:t>
            </a:r>
          </a:p>
        </p:txBody>
      </p:sp>
      <p:cxnSp>
        <p:nvCxnSpPr>
          <p:cNvPr id="81" name="Connector 80"/>
          <p:cNvCxnSpPr/>
          <p:nvPr/>
        </p:nvCxnSpPr>
        <p:spPr>
          <a:xfrm>
            <a:off x="667512" y="5714999"/>
            <a:ext cx="10789920"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82" name="Rounded Rectangle 81"/>
          <p:cNvSpPr/>
          <p:nvPr/>
        </p:nvSpPr>
        <p:spPr>
          <a:xfrm>
            <a:off x="667512" y="5879592"/>
            <a:ext cx="10789920" cy="338328"/>
          </a:xfrm>
          <a:prstGeom prst="roundRect">
            <a:avLst>
              <a:gd name="adj" fmla="val 18000"/>
            </a:avLst>
          </a:prstGeom>
          <a:solidFill>
            <a:srgbClr val="FF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13816" y="5961888"/>
            <a:ext cx="10497312" cy="201168"/>
          </a:xfrm>
          <a:prstGeom prst="rect">
            <a:avLst/>
          </a:prstGeom>
          <a:noFill/>
        </p:spPr>
        <p:txBody>
          <a:bodyPr wrap="square" lIns="0" rIns="0" tIns="0" bIns="0">
            <a:spAutoFit/>
          </a:bodyPr>
          <a:lstStyle/>
          <a:p>
            <a:pPr>
              <a:lnSpc>
                <a:spcPct val="104000"/>
              </a:lnSpc>
              <a:spcAft>
                <a:spcPts val="223"/>
              </a:spcAft>
              <a:defRPr sz="1120" b="1">
                <a:solidFill>
                  <a:srgbClr val="AD6017"/>
                </a:solidFill>
                <a:latin typeface="Arial"/>
              </a:defRPr>
            </a:pPr>
            <a:r>
              <a:t>Automatic checks are not expert accuracy scores. Quote matching covers only selected report fields.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21028" cy="50292"/>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1028" cy="50292"/>
          </a:xfrm>
          <a:prstGeom prst="rect">
            <a:avLst/>
          </a:prstGeom>
          <a:solidFill>
            <a:srgbClr val="655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1028" cy="50292"/>
          </a:xfrm>
          <a:prstGeom prst="rect">
            <a:avLst/>
          </a:prstGeom>
          <a:solidFill>
            <a:srgbClr val="456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1028" cy="50292"/>
          </a:xfrm>
          <a:prstGeom prst="rect">
            <a:avLst/>
          </a:prstGeom>
          <a:solidFill>
            <a:srgbClr val="268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1028" cy="50292"/>
          </a:xfrm>
          <a:prstGeom prst="rect">
            <a:avLst/>
          </a:prstGeom>
          <a:solidFill>
            <a:srgbClr val="149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1028" cy="50292"/>
          </a:xfrm>
          <a:prstGeom prst="rect">
            <a:avLst/>
          </a:prstGeom>
          <a:solidFill>
            <a:srgbClr val="269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1028" cy="50292"/>
          </a:xfrm>
          <a:prstGeom prst="rect">
            <a:avLst/>
          </a:prstGeom>
          <a:solidFill>
            <a:srgbClr val="75A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1028" cy="50292"/>
          </a:xfrm>
          <a:prstGeom prst="rect">
            <a:avLst/>
          </a:prstGeom>
          <a:solidFill>
            <a:srgbClr val="B6A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1028" cy="50292"/>
          </a:xfrm>
          <a:prstGeom prst="rect">
            <a:avLst/>
          </a:prstGeom>
          <a:solidFill>
            <a:srgbClr val="C5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1028" cy="50292"/>
          </a:xfrm>
          <a:prstGeom prst="rect">
            <a:avLst/>
          </a:prstGeom>
          <a:solidFill>
            <a:srgbClr val="B64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28600"/>
          </a:xfrm>
          <a:prstGeom prst="rect">
            <a:avLst/>
          </a:prstGeom>
          <a:noFill/>
        </p:spPr>
        <p:txBody>
          <a:bodyPr wrap="square" lIns="0" rIns="0" tIns="0" bIns="0">
            <a:spAutoFit/>
          </a:bodyPr>
          <a:lstStyle/>
          <a:p>
            <a:pPr>
              <a:lnSpc>
                <a:spcPct val="104000"/>
              </a:lnSpc>
              <a:spcAft>
                <a:spcPts val="210"/>
              </a:spcAft>
              <a:defRPr sz="1050" b="1">
                <a:solidFill>
                  <a:srgbClr val="087F8C"/>
                </a:solidFill>
                <a:latin typeface="Arial"/>
              </a:defRPr>
            </a:pPr>
            <a:r>
              <a:t>HOW THE ASSESSMENT WORKS</a:t>
            </a:r>
          </a:p>
        </p:txBody>
      </p:sp>
      <p:sp>
        <p:nvSpPr>
          <p:cNvPr id="13" name="TextBox 12"/>
          <p:cNvSpPr txBox="1"/>
          <p:nvPr/>
        </p:nvSpPr>
        <p:spPr>
          <a:xfrm>
            <a:off x="621792" y="841248"/>
            <a:ext cx="10972800" cy="621792"/>
          </a:xfrm>
          <a:prstGeom prst="rect">
            <a:avLst/>
          </a:prstGeom>
          <a:noFill/>
        </p:spPr>
        <p:txBody>
          <a:bodyPr wrap="square" lIns="0" rIns="0" tIns="0" bIns="0">
            <a:spAutoFit/>
          </a:bodyPr>
          <a:lstStyle/>
          <a:p>
            <a:pPr>
              <a:lnSpc>
                <a:spcPct val="104000"/>
              </a:lnSpc>
              <a:spcAft>
                <a:spcPts val="620"/>
              </a:spcAft>
              <a:defRPr sz="3100" b="1">
                <a:solidFill>
                  <a:srgbClr val="142D3D"/>
                </a:solidFill>
                <a:latin typeface="Arial"/>
              </a:defRPr>
            </a:pPr>
            <a:r>
              <a:t>LLMs draft. Code checks the decision.</a:t>
            </a:r>
          </a:p>
        </p:txBody>
      </p:sp>
      <p:sp>
        <p:nvSpPr>
          <p:cNvPr id="14" name="TextBox 13"/>
          <p:cNvSpPr txBox="1"/>
          <p:nvPr/>
        </p:nvSpPr>
        <p:spPr>
          <a:xfrm>
            <a:off x="640080" y="1517904"/>
            <a:ext cx="10927080" cy="438912"/>
          </a:xfrm>
          <a:prstGeom prst="rect">
            <a:avLst/>
          </a:prstGeom>
          <a:noFill/>
        </p:spPr>
        <p:txBody>
          <a:bodyPr wrap="square" lIns="0" rIns="0" tIns="0" bIns="0">
            <a:spAutoFit/>
          </a:bodyPr>
          <a:lstStyle/>
          <a:p>
            <a:pPr>
              <a:lnSpc>
                <a:spcPct val="104000"/>
              </a:lnSpc>
              <a:spcAft>
                <a:spcPts val="300"/>
              </a:spcAft>
              <a:defRPr sz="1500" b="0">
                <a:solidFill>
                  <a:srgbClr val="5D7280"/>
                </a:solidFill>
                <a:latin typeface="Arial"/>
              </a:defRPr>
            </a:pPr>
            <a:r>
              <a:t>A structured pipeline keeps sources, assumptions, proposals and uncertainty visible.</a:t>
            </a:r>
          </a:p>
        </p:txBody>
      </p:sp>
      <p:cxnSp>
        <p:nvCxnSpPr>
          <p:cNvPr id="15" name="Connector 14"/>
          <p:cNvCxnSpPr/>
          <p:nvPr/>
        </p:nvCxnSpPr>
        <p:spPr>
          <a:xfrm>
            <a:off x="594360" y="6382512"/>
            <a:ext cx="11000232" cy="0"/>
          </a:xfrm>
          <a:prstGeom prst="line">
            <a:avLst/>
          </a:prstGeom>
          <a:ln w="1016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6492240"/>
            <a:ext cx="10104120" cy="155448"/>
          </a:xfrm>
          <a:prstGeom prst="rect">
            <a:avLst/>
          </a:prstGeom>
          <a:noFill/>
        </p:spPr>
        <p:txBody>
          <a:bodyPr wrap="square" lIns="0" rIns="0" tIns="0" bIns="0">
            <a:spAutoFit/>
          </a:bodyPr>
          <a:lstStyle/>
          <a:p>
            <a:pPr>
              <a:lnSpc>
                <a:spcPct val="104000"/>
              </a:lnSpc>
              <a:spcAft>
                <a:spcPts val="166"/>
              </a:spcAft>
              <a:defRPr sz="830" b="0">
                <a:solidFill>
                  <a:srgbClr val="5D7280"/>
                </a:solidFill>
                <a:latin typeface="Arial"/>
              </a:defRPr>
            </a:pPr>
            <a:r>
              <a:t>README; docs/frontend-integration.md; backend/app/engine/{pipeline,verify,quality,confidence}.py</a:t>
            </a:r>
          </a:p>
        </p:txBody>
      </p:sp>
      <p:sp>
        <p:nvSpPr>
          <p:cNvPr id="17" name="TextBox 16"/>
          <p:cNvSpPr txBox="1"/>
          <p:nvPr/>
        </p:nvSpPr>
        <p:spPr>
          <a:xfrm>
            <a:off x="10853928" y="6464808"/>
            <a:ext cx="731520" cy="210312"/>
          </a:xfrm>
          <a:prstGeom prst="rect">
            <a:avLst/>
          </a:prstGeom>
          <a:noFill/>
        </p:spPr>
        <p:txBody>
          <a:bodyPr wrap="square" lIns="0" rIns="0" tIns="0" bIns="0">
            <a:spAutoFit/>
          </a:bodyPr>
          <a:lstStyle/>
          <a:p>
            <a:pPr algn="r">
              <a:lnSpc>
                <a:spcPct val="104000"/>
              </a:lnSpc>
              <a:spcAft>
                <a:spcPts val="180"/>
              </a:spcAft>
              <a:defRPr sz="900" b="0">
                <a:solidFill>
                  <a:srgbClr val="5D7280"/>
                </a:solidFill>
                <a:latin typeface="Arial"/>
              </a:defRPr>
            </a:pPr>
            <a:r>
              <a:t>04 / 13</a:t>
            </a:r>
          </a:p>
        </p:txBody>
      </p:sp>
      <p:sp>
        <p:nvSpPr>
          <p:cNvPr id="18" name="Rounded Rectangle 17"/>
          <p:cNvSpPr/>
          <p:nvPr/>
        </p:nvSpPr>
        <p:spPr>
          <a:xfrm>
            <a:off x="667512" y="2331720"/>
            <a:ext cx="2606040" cy="2103120"/>
          </a:xfrm>
          <a:prstGeom prst="roundRect">
            <a:avLst>
              <a:gd name="adj" fmla="val 5217"/>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50392" y="2523744"/>
            <a:ext cx="502920" cy="301752"/>
          </a:xfrm>
          <a:prstGeom prst="roundRect">
            <a:avLst>
              <a:gd name="adj" fmla="val 18000"/>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2585008"/>
            <a:ext cx="338328" cy="219456"/>
          </a:xfrm>
          <a:prstGeom prst="rect">
            <a:avLst/>
          </a:prstGeom>
          <a:noFill/>
        </p:spPr>
        <p:txBody>
          <a:bodyPr wrap="square" lIns="0" rIns="0" tIns="0" bIns="0">
            <a:spAutoFit/>
          </a:bodyPr>
          <a:lstStyle/>
          <a:p>
            <a:pPr algn="ctr">
              <a:lnSpc>
                <a:spcPct val="104000"/>
              </a:lnSpc>
              <a:spcAft>
                <a:spcPts val="210"/>
              </a:spcAft>
              <a:defRPr sz="1050" b="1">
                <a:solidFill>
                  <a:srgbClr val="7549BE"/>
                </a:solidFill>
                <a:latin typeface="Arial"/>
              </a:defRPr>
            </a:pPr>
            <a:r>
              <a:t>01</a:t>
            </a:r>
          </a:p>
        </p:txBody>
      </p:sp>
      <p:sp>
        <p:nvSpPr>
          <p:cNvPr id="21" name="TextBox 20"/>
          <p:cNvSpPr txBox="1"/>
          <p:nvPr/>
        </p:nvSpPr>
        <p:spPr>
          <a:xfrm>
            <a:off x="850392" y="3054096"/>
            <a:ext cx="2240280" cy="457200"/>
          </a:xfrm>
          <a:prstGeom prst="rect">
            <a:avLst/>
          </a:prstGeom>
          <a:noFill/>
        </p:spPr>
        <p:txBody>
          <a:bodyPr wrap="square" lIns="0" rIns="0" tIns="0" bIns="0">
            <a:spAutoFit/>
          </a:bodyPr>
          <a:lstStyle/>
          <a:p>
            <a:pPr>
              <a:lnSpc>
                <a:spcPct val="104000"/>
              </a:lnSpc>
              <a:spcAft>
                <a:spcPts val="420"/>
              </a:spcAft>
              <a:defRPr sz="2100" b="1">
                <a:solidFill>
                  <a:srgbClr val="7549BE"/>
                </a:solidFill>
                <a:latin typeface="Arial"/>
              </a:defRPr>
            </a:pPr>
            <a:r>
              <a:t>Read + clarify</a:t>
            </a:r>
          </a:p>
        </p:txBody>
      </p:sp>
      <p:sp>
        <p:nvSpPr>
          <p:cNvPr id="22" name="TextBox 21"/>
          <p:cNvSpPr txBox="1"/>
          <p:nvPr/>
        </p:nvSpPr>
        <p:spPr>
          <a:xfrm>
            <a:off x="850392" y="3685032"/>
            <a:ext cx="2249424" cy="548640"/>
          </a:xfrm>
          <a:prstGeom prst="rect">
            <a:avLst/>
          </a:prstGeom>
          <a:noFill/>
        </p:spPr>
        <p:txBody>
          <a:bodyPr wrap="square" lIns="0" rIns="0" tIns="0" bIns="0">
            <a:spAutoFit/>
          </a:bodyPr>
          <a:lstStyle/>
          <a:p>
            <a:pPr>
              <a:lnSpc>
                <a:spcPct val="104000"/>
              </a:lnSpc>
              <a:spcAft>
                <a:spcPts val="300"/>
              </a:spcAft>
              <a:defRPr sz="1500" b="0">
                <a:solidFill>
                  <a:srgbClr val="142D3D"/>
                </a:solidFill>
                <a:latin typeface="Arial"/>
              </a:defRPr>
            </a:pPr>
            <a:r>
              <a:t>Structured requirements</a:t>
            </a:r>
          </a:p>
          <a:p>
            <a:pPr>
              <a:lnSpc>
                <a:spcPct val="104000"/>
              </a:lnSpc>
              <a:spcAft>
                <a:spcPts val="300"/>
              </a:spcAft>
              <a:defRPr sz="1500" b="0">
                <a:solidFill>
                  <a:srgbClr val="142D3D"/>
                </a:solidFill>
                <a:latin typeface="Arial"/>
              </a:defRPr>
            </a:pPr>
            <a:r>
              <a:t>and missing facts</a:t>
            </a:r>
          </a:p>
        </p:txBody>
      </p:sp>
      <p:cxnSp>
        <p:nvCxnSpPr>
          <p:cNvPr id="23" name="Connector 22"/>
          <p:cNvCxnSpPr/>
          <p:nvPr/>
        </p:nvCxnSpPr>
        <p:spPr>
          <a:xfrm>
            <a:off x="3291840" y="3337560"/>
            <a:ext cx="118872" cy="0"/>
          </a:xfrm>
          <a:prstGeom prst="line">
            <a:avLst/>
          </a:prstGeom>
          <a:ln w="34290">
            <a:solidFill>
              <a:srgbClr val="7549BE"/>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438144" y="2331720"/>
            <a:ext cx="2606040" cy="2103120"/>
          </a:xfrm>
          <a:prstGeom prst="roundRect">
            <a:avLst>
              <a:gd name="adj" fmla="val 5217"/>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621024" y="2523744"/>
            <a:ext cx="502920" cy="301752"/>
          </a:xfrm>
          <a:prstGeom prst="roundRect">
            <a:avLst>
              <a:gd name="adj" fmla="val 18000"/>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03320" y="2585008"/>
            <a:ext cx="338328" cy="219456"/>
          </a:xfrm>
          <a:prstGeom prst="rect">
            <a:avLst/>
          </a:prstGeom>
          <a:noFill/>
        </p:spPr>
        <p:txBody>
          <a:bodyPr wrap="square" lIns="0" rIns="0" tIns="0" bIns="0">
            <a:spAutoFit/>
          </a:bodyPr>
          <a:lstStyle/>
          <a:p>
            <a:pPr algn="ctr">
              <a:lnSpc>
                <a:spcPct val="104000"/>
              </a:lnSpc>
              <a:spcAft>
                <a:spcPts val="210"/>
              </a:spcAft>
              <a:defRPr sz="1050" b="1">
                <a:solidFill>
                  <a:srgbClr val="2864CC"/>
                </a:solidFill>
                <a:latin typeface="Arial"/>
              </a:defRPr>
            </a:pPr>
            <a:r>
              <a:t>02</a:t>
            </a:r>
          </a:p>
        </p:txBody>
      </p:sp>
      <p:sp>
        <p:nvSpPr>
          <p:cNvPr id="27" name="TextBox 26"/>
          <p:cNvSpPr txBox="1"/>
          <p:nvPr/>
        </p:nvSpPr>
        <p:spPr>
          <a:xfrm>
            <a:off x="3621024" y="3054096"/>
            <a:ext cx="2240280" cy="457200"/>
          </a:xfrm>
          <a:prstGeom prst="rect">
            <a:avLst/>
          </a:prstGeom>
          <a:noFill/>
        </p:spPr>
        <p:txBody>
          <a:bodyPr wrap="square" lIns="0" rIns="0" tIns="0" bIns="0">
            <a:spAutoFit/>
          </a:bodyPr>
          <a:lstStyle/>
          <a:p>
            <a:pPr>
              <a:lnSpc>
                <a:spcPct val="104000"/>
              </a:lnSpc>
              <a:spcAft>
                <a:spcPts val="420"/>
              </a:spcAft>
              <a:defRPr sz="2100" b="1">
                <a:solidFill>
                  <a:srgbClr val="2864CC"/>
                </a:solidFill>
                <a:latin typeface="Arial"/>
              </a:defRPr>
            </a:pPr>
            <a:r>
              <a:t>Rules + retrieval</a:t>
            </a:r>
          </a:p>
        </p:txBody>
      </p:sp>
      <p:sp>
        <p:nvSpPr>
          <p:cNvPr id="28" name="TextBox 27"/>
          <p:cNvSpPr txBox="1"/>
          <p:nvPr/>
        </p:nvSpPr>
        <p:spPr>
          <a:xfrm>
            <a:off x="3621024" y="3685032"/>
            <a:ext cx="2249424" cy="548640"/>
          </a:xfrm>
          <a:prstGeom prst="rect">
            <a:avLst/>
          </a:prstGeom>
          <a:noFill/>
        </p:spPr>
        <p:txBody>
          <a:bodyPr wrap="square" lIns="0" rIns="0" tIns="0" bIns="0">
            <a:spAutoFit/>
          </a:bodyPr>
          <a:lstStyle/>
          <a:p>
            <a:pPr>
              <a:lnSpc>
                <a:spcPct val="104000"/>
              </a:lnSpc>
              <a:spcAft>
                <a:spcPts val="300"/>
              </a:spcAft>
              <a:defRPr sz="1500" b="0">
                <a:solidFill>
                  <a:srgbClr val="142D3D"/>
                </a:solidFill>
                <a:latin typeface="Arial"/>
              </a:defRPr>
            </a:pPr>
            <a:r>
              <a:t>AFS claims, sources</a:t>
            </a:r>
          </a:p>
          <a:p>
            <a:pPr>
              <a:lnSpc>
                <a:spcPct val="104000"/>
              </a:lnSpc>
              <a:spcAft>
                <a:spcPts val="300"/>
              </a:spcAft>
              <a:defRPr sz="1500" b="0">
                <a:solidFill>
                  <a:srgbClr val="142D3D"/>
                </a:solidFill>
                <a:latin typeface="Arial"/>
              </a:defRPr>
            </a:pPr>
            <a:r>
              <a:t>and physical constraints</a:t>
            </a:r>
          </a:p>
        </p:txBody>
      </p:sp>
      <p:cxnSp>
        <p:nvCxnSpPr>
          <p:cNvPr id="29" name="Connector 28"/>
          <p:cNvCxnSpPr/>
          <p:nvPr/>
        </p:nvCxnSpPr>
        <p:spPr>
          <a:xfrm>
            <a:off x="6062472" y="3337560"/>
            <a:ext cx="118872" cy="0"/>
          </a:xfrm>
          <a:prstGeom prst="line">
            <a:avLst/>
          </a:prstGeom>
          <a:ln w="34290">
            <a:solidFill>
              <a:srgbClr val="2864CC"/>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208775" y="2331720"/>
            <a:ext cx="2606040" cy="2103120"/>
          </a:xfrm>
          <a:prstGeom prst="roundRect">
            <a:avLst>
              <a:gd name="adj" fmla="val 5217"/>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391655" y="2523744"/>
            <a:ext cx="502920" cy="301752"/>
          </a:xfrm>
          <a:prstGeom prst="roundRect">
            <a:avLst>
              <a:gd name="adj" fmla="val 18000"/>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3951" y="2585008"/>
            <a:ext cx="338328" cy="219456"/>
          </a:xfrm>
          <a:prstGeom prst="rect">
            <a:avLst/>
          </a:prstGeom>
          <a:noFill/>
        </p:spPr>
        <p:txBody>
          <a:bodyPr wrap="square" lIns="0" rIns="0" tIns="0" bIns="0">
            <a:spAutoFit/>
          </a:bodyPr>
          <a:lstStyle/>
          <a:p>
            <a:pPr algn="ctr">
              <a:lnSpc>
                <a:spcPct val="104000"/>
              </a:lnSpc>
              <a:spcAft>
                <a:spcPts val="210"/>
              </a:spcAft>
              <a:defRPr sz="1050" b="1">
                <a:solidFill>
                  <a:srgbClr val="087F8C"/>
                </a:solidFill>
                <a:latin typeface="Arial"/>
              </a:defRPr>
            </a:pPr>
            <a:r>
              <a:t>03</a:t>
            </a:r>
          </a:p>
        </p:txBody>
      </p:sp>
      <p:sp>
        <p:nvSpPr>
          <p:cNvPr id="33" name="TextBox 32"/>
          <p:cNvSpPr txBox="1"/>
          <p:nvPr/>
        </p:nvSpPr>
        <p:spPr>
          <a:xfrm>
            <a:off x="6391655" y="3054096"/>
            <a:ext cx="2240280" cy="457200"/>
          </a:xfrm>
          <a:prstGeom prst="rect">
            <a:avLst/>
          </a:prstGeom>
          <a:noFill/>
        </p:spPr>
        <p:txBody>
          <a:bodyPr wrap="square" lIns="0" rIns="0" tIns="0" bIns="0">
            <a:spAutoFit/>
          </a:bodyPr>
          <a:lstStyle/>
          <a:p>
            <a:pPr>
              <a:lnSpc>
                <a:spcPct val="104000"/>
              </a:lnSpc>
              <a:spcAft>
                <a:spcPts val="420"/>
              </a:spcAft>
              <a:defRPr sz="2100" b="1">
                <a:solidFill>
                  <a:srgbClr val="087F8C"/>
                </a:solidFill>
                <a:latin typeface="Arial"/>
              </a:defRPr>
            </a:pPr>
            <a:r>
              <a:t>Draft + review</a:t>
            </a:r>
          </a:p>
        </p:txBody>
      </p:sp>
      <p:sp>
        <p:nvSpPr>
          <p:cNvPr id="34" name="TextBox 33"/>
          <p:cNvSpPr txBox="1"/>
          <p:nvPr/>
        </p:nvSpPr>
        <p:spPr>
          <a:xfrm>
            <a:off x="6391655" y="3685032"/>
            <a:ext cx="2249424" cy="548640"/>
          </a:xfrm>
          <a:prstGeom prst="rect">
            <a:avLst/>
          </a:prstGeom>
          <a:noFill/>
        </p:spPr>
        <p:txBody>
          <a:bodyPr wrap="square" lIns="0" rIns="0" tIns="0" bIns="0">
            <a:spAutoFit/>
          </a:bodyPr>
          <a:lstStyle/>
          <a:p>
            <a:pPr>
              <a:lnSpc>
                <a:spcPct val="104000"/>
              </a:lnSpc>
              <a:spcAft>
                <a:spcPts val="300"/>
              </a:spcAft>
              <a:defRPr sz="1500" b="0">
                <a:solidFill>
                  <a:srgbClr val="142D3D"/>
                </a:solidFill>
                <a:latin typeface="Arial"/>
              </a:defRPr>
            </a:pPr>
            <a:r>
              <a:t>Fast or Council mode;</a:t>
            </a:r>
          </a:p>
          <a:p>
            <a:pPr>
              <a:lnSpc>
                <a:spcPct val="104000"/>
              </a:lnSpc>
              <a:spcAft>
                <a:spcPts val="300"/>
              </a:spcAft>
              <a:defRPr sz="1500" b="0">
                <a:solidFill>
                  <a:srgbClr val="142D3D"/>
                </a:solidFill>
                <a:latin typeface="Arial"/>
              </a:defRPr>
            </a:pPr>
            <a:r>
              <a:t>check and repair</a:t>
            </a:r>
          </a:p>
        </p:txBody>
      </p:sp>
      <p:cxnSp>
        <p:nvCxnSpPr>
          <p:cNvPr id="35" name="Connector 34"/>
          <p:cNvCxnSpPr/>
          <p:nvPr/>
        </p:nvCxnSpPr>
        <p:spPr>
          <a:xfrm>
            <a:off x="8833104" y="3337560"/>
            <a:ext cx="118872" cy="0"/>
          </a:xfrm>
          <a:prstGeom prst="line">
            <a:avLst/>
          </a:prstGeom>
          <a:ln w="34290">
            <a:solidFill>
              <a:srgbClr val="087F8C"/>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979408" y="2331720"/>
            <a:ext cx="2606040" cy="2103120"/>
          </a:xfrm>
          <a:prstGeom prst="roundRect">
            <a:avLst>
              <a:gd name="adj" fmla="val 5217"/>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162288" y="2523744"/>
            <a:ext cx="502920" cy="301752"/>
          </a:xfrm>
          <a:prstGeom prst="roundRect">
            <a:avLst>
              <a:gd name="adj" fmla="val 18000"/>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44584" y="2585008"/>
            <a:ext cx="338328" cy="219456"/>
          </a:xfrm>
          <a:prstGeom prst="rect">
            <a:avLst/>
          </a:prstGeom>
          <a:noFill/>
        </p:spPr>
        <p:txBody>
          <a:bodyPr wrap="square" lIns="0" rIns="0" tIns="0" bIns="0">
            <a:spAutoFit/>
          </a:bodyPr>
          <a:lstStyle/>
          <a:p>
            <a:pPr algn="ctr">
              <a:lnSpc>
                <a:spcPct val="104000"/>
              </a:lnSpc>
              <a:spcAft>
                <a:spcPts val="210"/>
              </a:spcAft>
              <a:defRPr sz="1050" b="1">
                <a:solidFill>
                  <a:srgbClr val="20846B"/>
                </a:solidFill>
                <a:latin typeface="Arial"/>
              </a:defRPr>
            </a:pPr>
            <a:r>
              <a:t>04</a:t>
            </a:r>
          </a:p>
        </p:txBody>
      </p:sp>
      <p:sp>
        <p:nvSpPr>
          <p:cNvPr id="39" name="TextBox 38"/>
          <p:cNvSpPr txBox="1"/>
          <p:nvPr/>
        </p:nvSpPr>
        <p:spPr>
          <a:xfrm>
            <a:off x="9162288" y="3054096"/>
            <a:ext cx="2240280" cy="457200"/>
          </a:xfrm>
          <a:prstGeom prst="rect">
            <a:avLst/>
          </a:prstGeom>
          <a:noFill/>
        </p:spPr>
        <p:txBody>
          <a:bodyPr wrap="square" lIns="0" rIns="0" tIns="0" bIns="0">
            <a:spAutoFit/>
          </a:bodyPr>
          <a:lstStyle/>
          <a:p>
            <a:pPr>
              <a:lnSpc>
                <a:spcPct val="104000"/>
              </a:lnSpc>
              <a:spcAft>
                <a:spcPts val="420"/>
              </a:spcAft>
              <a:defRPr sz="2100" b="1">
                <a:solidFill>
                  <a:srgbClr val="20846B"/>
                </a:solidFill>
                <a:latin typeface="Arial"/>
              </a:defRPr>
            </a:pPr>
            <a:r>
              <a:t>Gate + explain</a:t>
            </a:r>
          </a:p>
        </p:txBody>
      </p:sp>
      <p:sp>
        <p:nvSpPr>
          <p:cNvPr id="40" name="TextBox 39"/>
          <p:cNvSpPr txBox="1"/>
          <p:nvPr/>
        </p:nvSpPr>
        <p:spPr>
          <a:xfrm>
            <a:off x="9162288" y="3685032"/>
            <a:ext cx="2249424" cy="548640"/>
          </a:xfrm>
          <a:prstGeom prst="rect">
            <a:avLst/>
          </a:prstGeom>
          <a:noFill/>
        </p:spPr>
        <p:txBody>
          <a:bodyPr wrap="square" lIns="0" rIns="0" tIns="0" bIns="0">
            <a:spAutoFit/>
          </a:bodyPr>
          <a:lstStyle/>
          <a:p>
            <a:pPr>
              <a:lnSpc>
                <a:spcPct val="104000"/>
              </a:lnSpc>
              <a:spcAft>
                <a:spcPts val="300"/>
              </a:spcAft>
              <a:defRPr sz="1500" b="0">
                <a:solidFill>
                  <a:srgbClr val="142D3D"/>
                </a:solidFill>
                <a:latin typeface="Arial"/>
              </a:defRPr>
            </a:pPr>
            <a:r>
              <a:t>Computed confidence;</a:t>
            </a:r>
          </a:p>
          <a:p>
            <a:pPr>
              <a:lnSpc>
                <a:spcPct val="104000"/>
              </a:lnSpc>
              <a:spcAft>
                <a:spcPts val="300"/>
              </a:spcAft>
              <a:defRPr sz="1500" b="0">
                <a:solidFill>
                  <a:srgbClr val="142D3D"/>
                </a:solidFill>
                <a:latin typeface="Arial"/>
              </a:defRPr>
            </a:pPr>
            <a:r>
              <a:t>report and Coach</a:t>
            </a:r>
          </a:p>
        </p:txBody>
      </p:sp>
      <p:sp>
        <p:nvSpPr>
          <p:cNvPr id="41" name="TextBox 40"/>
          <p:cNvSpPr txBox="1"/>
          <p:nvPr/>
        </p:nvSpPr>
        <p:spPr>
          <a:xfrm>
            <a:off x="841248" y="4937760"/>
            <a:ext cx="914400" cy="548640"/>
          </a:xfrm>
          <a:prstGeom prst="rect">
            <a:avLst/>
          </a:prstGeom>
          <a:noFill/>
        </p:spPr>
        <p:txBody>
          <a:bodyPr wrap="square" lIns="0" rIns="0" tIns="0" bIns="0">
            <a:spAutoFit/>
          </a:bodyPr>
          <a:lstStyle/>
          <a:p>
            <a:pPr>
              <a:lnSpc>
                <a:spcPct val="104000"/>
              </a:lnSpc>
              <a:spcAft>
                <a:spcPts val="700"/>
              </a:spcAft>
              <a:defRPr sz="3500" b="1">
                <a:solidFill>
                  <a:srgbClr val="142D3D"/>
                </a:solidFill>
                <a:latin typeface="Arial"/>
              </a:defRPr>
            </a:pPr>
            <a:r>
              <a:t>95</a:t>
            </a:r>
          </a:p>
        </p:txBody>
      </p:sp>
      <p:sp>
        <p:nvSpPr>
          <p:cNvPr id="42" name="TextBox 41"/>
          <p:cNvSpPr txBox="1"/>
          <p:nvPr/>
        </p:nvSpPr>
        <p:spPr>
          <a:xfrm>
            <a:off x="1892807" y="5157216"/>
            <a:ext cx="2286000" cy="329184"/>
          </a:xfrm>
          <a:prstGeom prst="rect">
            <a:avLst/>
          </a:prstGeom>
          <a:noFill/>
        </p:spPr>
        <p:txBody>
          <a:bodyPr wrap="square" lIns="0" rIns="0" tIns="0" bIns="0">
            <a:spAutoFit/>
          </a:bodyPr>
          <a:lstStyle/>
          <a:p>
            <a:pPr>
              <a:lnSpc>
                <a:spcPct val="104000"/>
              </a:lnSpc>
              <a:spcAft>
                <a:spcPts val="320"/>
              </a:spcAft>
              <a:defRPr sz="1600" b="0">
                <a:solidFill>
                  <a:srgbClr val="5D7280"/>
                </a:solidFill>
                <a:latin typeface="Arial"/>
              </a:defRPr>
            </a:pPr>
            <a:r>
              <a:t>curated claim cards</a:t>
            </a:r>
          </a:p>
        </p:txBody>
      </p:sp>
      <p:sp>
        <p:nvSpPr>
          <p:cNvPr id="43" name="TextBox 42"/>
          <p:cNvSpPr txBox="1"/>
          <p:nvPr/>
        </p:nvSpPr>
        <p:spPr>
          <a:xfrm>
            <a:off x="4553712" y="4937760"/>
            <a:ext cx="914400" cy="548640"/>
          </a:xfrm>
          <a:prstGeom prst="rect">
            <a:avLst/>
          </a:prstGeom>
          <a:noFill/>
        </p:spPr>
        <p:txBody>
          <a:bodyPr wrap="square" lIns="0" rIns="0" tIns="0" bIns="0">
            <a:spAutoFit/>
          </a:bodyPr>
          <a:lstStyle/>
          <a:p>
            <a:pPr>
              <a:lnSpc>
                <a:spcPct val="104000"/>
              </a:lnSpc>
              <a:spcAft>
                <a:spcPts val="700"/>
              </a:spcAft>
              <a:defRPr sz="3500" b="1">
                <a:solidFill>
                  <a:srgbClr val="142D3D"/>
                </a:solidFill>
                <a:latin typeface="Arial"/>
              </a:defRPr>
            </a:pPr>
            <a:r>
              <a:t>35</a:t>
            </a:r>
          </a:p>
        </p:txBody>
      </p:sp>
      <p:sp>
        <p:nvSpPr>
          <p:cNvPr id="44" name="TextBox 43"/>
          <p:cNvSpPr txBox="1"/>
          <p:nvPr/>
        </p:nvSpPr>
        <p:spPr>
          <a:xfrm>
            <a:off x="5605271" y="5157216"/>
            <a:ext cx="2286000" cy="329184"/>
          </a:xfrm>
          <a:prstGeom prst="rect">
            <a:avLst/>
          </a:prstGeom>
          <a:noFill/>
        </p:spPr>
        <p:txBody>
          <a:bodyPr wrap="square" lIns="0" rIns="0" tIns="0" bIns="0">
            <a:spAutoFit/>
          </a:bodyPr>
          <a:lstStyle/>
          <a:p>
            <a:pPr>
              <a:lnSpc>
                <a:spcPct val="104000"/>
              </a:lnSpc>
              <a:spcAft>
                <a:spcPts val="320"/>
              </a:spcAft>
              <a:defRPr sz="1600" b="0">
                <a:solidFill>
                  <a:srgbClr val="5D7280"/>
                </a:solidFill>
                <a:latin typeface="Arial"/>
              </a:defRPr>
            </a:pPr>
            <a:r>
              <a:t>sourced rules</a:t>
            </a:r>
          </a:p>
        </p:txBody>
      </p:sp>
      <p:sp>
        <p:nvSpPr>
          <p:cNvPr id="45" name="TextBox 44"/>
          <p:cNvSpPr txBox="1"/>
          <p:nvPr/>
        </p:nvSpPr>
        <p:spPr>
          <a:xfrm>
            <a:off x="8266175" y="4937760"/>
            <a:ext cx="914400" cy="548640"/>
          </a:xfrm>
          <a:prstGeom prst="rect">
            <a:avLst/>
          </a:prstGeom>
          <a:noFill/>
        </p:spPr>
        <p:txBody>
          <a:bodyPr wrap="square" lIns="0" rIns="0" tIns="0" bIns="0">
            <a:spAutoFit/>
          </a:bodyPr>
          <a:lstStyle/>
          <a:p>
            <a:pPr>
              <a:lnSpc>
                <a:spcPct val="104000"/>
              </a:lnSpc>
              <a:spcAft>
                <a:spcPts val="700"/>
              </a:spcAft>
              <a:defRPr sz="3500" b="1">
                <a:solidFill>
                  <a:srgbClr val="142D3D"/>
                </a:solidFill>
                <a:latin typeface="Arial"/>
              </a:defRPr>
            </a:pPr>
            <a:r>
              <a:t>16</a:t>
            </a:r>
          </a:p>
        </p:txBody>
      </p:sp>
      <p:sp>
        <p:nvSpPr>
          <p:cNvPr id="46" name="TextBox 45"/>
          <p:cNvSpPr txBox="1"/>
          <p:nvPr/>
        </p:nvSpPr>
        <p:spPr>
          <a:xfrm>
            <a:off x="9317736" y="5157216"/>
            <a:ext cx="2286000" cy="329184"/>
          </a:xfrm>
          <a:prstGeom prst="rect">
            <a:avLst/>
          </a:prstGeom>
          <a:noFill/>
        </p:spPr>
        <p:txBody>
          <a:bodyPr wrap="square" lIns="0" rIns="0" tIns="0" bIns="0">
            <a:spAutoFit/>
          </a:bodyPr>
          <a:lstStyle/>
          <a:p>
            <a:pPr>
              <a:lnSpc>
                <a:spcPct val="104000"/>
              </a:lnSpc>
              <a:spcAft>
                <a:spcPts val="320"/>
              </a:spcAft>
              <a:defRPr sz="1600" b="0">
                <a:solidFill>
                  <a:srgbClr val="5D7280"/>
                </a:solidFill>
                <a:latin typeface="Arial"/>
              </a:defRPr>
            </a:pPr>
            <a:r>
              <a:t>quality checks</a:t>
            </a:r>
          </a:p>
        </p:txBody>
      </p:sp>
      <p:sp>
        <p:nvSpPr>
          <p:cNvPr id="47" name="TextBox 46"/>
          <p:cNvSpPr txBox="1"/>
          <p:nvPr/>
        </p:nvSpPr>
        <p:spPr>
          <a:xfrm>
            <a:off x="694944" y="5870448"/>
            <a:ext cx="10607040" cy="219456"/>
          </a:xfrm>
          <a:prstGeom prst="rect">
            <a:avLst/>
          </a:prstGeom>
          <a:noFill/>
        </p:spPr>
        <p:txBody>
          <a:bodyPr wrap="square" lIns="0" rIns="0" tIns="0" bIns="0">
            <a:spAutoFit/>
          </a:bodyPr>
          <a:lstStyle/>
          <a:p>
            <a:pPr>
              <a:lnSpc>
                <a:spcPct val="104000"/>
              </a:lnSpc>
              <a:spcAft>
                <a:spcPts val="230"/>
              </a:spcAft>
              <a:defRPr sz="1150" b="0">
                <a:solidFill>
                  <a:srgbClr val="5D7280"/>
                </a:solidFill>
                <a:latin typeface="Arial"/>
              </a:defRPr>
            </a:pPr>
            <a:r>
              <a:t>FastAPI + Pydantic  /  Groq models  /  native JavaScript UI  /  SQLite or Supabase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21028" cy="50292"/>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1028" cy="50292"/>
          </a:xfrm>
          <a:prstGeom prst="rect">
            <a:avLst/>
          </a:prstGeom>
          <a:solidFill>
            <a:srgbClr val="655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1028" cy="50292"/>
          </a:xfrm>
          <a:prstGeom prst="rect">
            <a:avLst/>
          </a:prstGeom>
          <a:solidFill>
            <a:srgbClr val="456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1028" cy="50292"/>
          </a:xfrm>
          <a:prstGeom prst="rect">
            <a:avLst/>
          </a:prstGeom>
          <a:solidFill>
            <a:srgbClr val="268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1028" cy="50292"/>
          </a:xfrm>
          <a:prstGeom prst="rect">
            <a:avLst/>
          </a:prstGeom>
          <a:solidFill>
            <a:srgbClr val="149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1028" cy="50292"/>
          </a:xfrm>
          <a:prstGeom prst="rect">
            <a:avLst/>
          </a:prstGeom>
          <a:solidFill>
            <a:srgbClr val="269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1028" cy="50292"/>
          </a:xfrm>
          <a:prstGeom prst="rect">
            <a:avLst/>
          </a:prstGeom>
          <a:solidFill>
            <a:srgbClr val="75A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1028" cy="50292"/>
          </a:xfrm>
          <a:prstGeom prst="rect">
            <a:avLst/>
          </a:prstGeom>
          <a:solidFill>
            <a:srgbClr val="B6A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1028" cy="50292"/>
          </a:xfrm>
          <a:prstGeom prst="rect">
            <a:avLst/>
          </a:prstGeom>
          <a:solidFill>
            <a:srgbClr val="C5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1028" cy="50292"/>
          </a:xfrm>
          <a:prstGeom prst="rect">
            <a:avLst/>
          </a:prstGeom>
          <a:solidFill>
            <a:srgbClr val="B64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28600"/>
          </a:xfrm>
          <a:prstGeom prst="rect">
            <a:avLst/>
          </a:prstGeom>
          <a:noFill/>
        </p:spPr>
        <p:txBody>
          <a:bodyPr wrap="square" lIns="0" rIns="0" tIns="0" bIns="0">
            <a:spAutoFit/>
          </a:bodyPr>
          <a:lstStyle/>
          <a:p>
            <a:pPr>
              <a:lnSpc>
                <a:spcPct val="104000"/>
              </a:lnSpc>
              <a:spcAft>
                <a:spcPts val="210"/>
              </a:spcAft>
              <a:defRPr sz="1050" b="1">
                <a:solidFill>
                  <a:srgbClr val="087F8C"/>
                </a:solidFill>
                <a:latin typeface="Arial"/>
              </a:defRPr>
            </a:pPr>
            <a:r>
              <a:t>DEMO 01 · CLARIFICATION</a:t>
            </a:r>
          </a:p>
        </p:txBody>
      </p:sp>
      <p:sp>
        <p:nvSpPr>
          <p:cNvPr id="13" name="TextBox 12"/>
          <p:cNvSpPr txBox="1"/>
          <p:nvPr/>
        </p:nvSpPr>
        <p:spPr>
          <a:xfrm>
            <a:off x="621792" y="841248"/>
            <a:ext cx="10972800" cy="621792"/>
          </a:xfrm>
          <a:prstGeom prst="rect">
            <a:avLst/>
          </a:prstGeom>
          <a:noFill/>
        </p:spPr>
        <p:txBody>
          <a:bodyPr wrap="square" lIns="0" rIns="0" tIns="0" bIns="0">
            <a:spAutoFit/>
          </a:bodyPr>
          <a:lstStyle/>
          <a:p>
            <a:pPr>
              <a:lnSpc>
                <a:spcPct val="104000"/>
              </a:lnSpc>
              <a:spcAft>
                <a:spcPts val="620"/>
              </a:spcAft>
              <a:defRPr sz="3100" b="1">
                <a:solidFill>
                  <a:srgbClr val="142D3D"/>
                </a:solidFill>
                <a:latin typeface="Arial"/>
              </a:defRPr>
            </a:pPr>
            <a:r>
              <a:t>Confirm the reading before assessing.</a:t>
            </a:r>
          </a:p>
        </p:txBody>
      </p:sp>
      <p:sp>
        <p:nvSpPr>
          <p:cNvPr id="14" name="TextBox 13"/>
          <p:cNvSpPr txBox="1"/>
          <p:nvPr/>
        </p:nvSpPr>
        <p:spPr>
          <a:xfrm>
            <a:off x="640080" y="1517904"/>
            <a:ext cx="10927080" cy="438912"/>
          </a:xfrm>
          <a:prstGeom prst="rect">
            <a:avLst/>
          </a:prstGeom>
          <a:noFill/>
        </p:spPr>
        <p:txBody>
          <a:bodyPr wrap="square" lIns="0" rIns="0" tIns="0" bIns="0">
            <a:spAutoFit/>
          </a:bodyPr>
          <a:lstStyle/>
          <a:p>
            <a:pPr>
              <a:lnSpc>
                <a:spcPct val="104000"/>
              </a:lnSpc>
              <a:spcAft>
                <a:spcPts val="300"/>
              </a:spcAft>
              <a:defRPr sz="1500" b="0">
                <a:solidFill>
                  <a:srgbClr val="5D7280"/>
                </a:solidFill>
                <a:latin typeface="Arial"/>
              </a:defRPr>
            </a:pPr>
            <a:r>
              <a:t>Show what the assistant understood, then ask what would change the recommendation.</a:t>
            </a:r>
          </a:p>
        </p:txBody>
      </p:sp>
      <p:cxnSp>
        <p:nvCxnSpPr>
          <p:cNvPr id="15" name="Connector 14"/>
          <p:cNvCxnSpPr/>
          <p:nvPr/>
        </p:nvCxnSpPr>
        <p:spPr>
          <a:xfrm>
            <a:off x="594360" y="6382512"/>
            <a:ext cx="11000232" cy="0"/>
          </a:xfrm>
          <a:prstGeom prst="line">
            <a:avLst/>
          </a:prstGeom>
          <a:ln w="1016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6492240"/>
            <a:ext cx="10104120" cy="155448"/>
          </a:xfrm>
          <a:prstGeom prst="rect">
            <a:avLst/>
          </a:prstGeom>
          <a:noFill/>
        </p:spPr>
        <p:txBody>
          <a:bodyPr wrap="square" lIns="0" rIns="0" tIns="0" bIns="0">
            <a:spAutoFit/>
          </a:bodyPr>
          <a:lstStyle/>
          <a:p>
            <a:pPr>
              <a:lnSpc>
                <a:spcPct val="104000"/>
              </a:lnSpc>
              <a:spcAft>
                <a:spcPts val="166"/>
              </a:spcAft>
              <a:defRPr sz="830" b="0">
                <a:solidFill>
                  <a:srgbClr val="5D7280"/>
                </a:solidFill>
                <a:latin typeface="Arial"/>
              </a:defRPr>
            </a:pPr>
            <a:r>
              <a:t>Actual UI, local rule-only demo · H04 · intake / understand / reading-review dialog</a:t>
            </a:r>
          </a:p>
        </p:txBody>
      </p:sp>
      <p:sp>
        <p:nvSpPr>
          <p:cNvPr id="17" name="TextBox 16"/>
          <p:cNvSpPr txBox="1"/>
          <p:nvPr/>
        </p:nvSpPr>
        <p:spPr>
          <a:xfrm>
            <a:off x="10853928" y="6464808"/>
            <a:ext cx="731520" cy="210312"/>
          </a:xfrm>
          <a:prstGeom prst="rect">
            <a:avLst/>
          </a:prstGeom>
          <a:noFill/>
        </p:spPr>
        <p:txBody>
          <a:bodyPr wrap="square" lIns="0" rIns="0" tIns="0" bIns="0">
            <a:spAutoFit/>
          </a:bodyPr>
          <a:lstStyle/>
          <a:p>
            <a:pPr algn="r">
              <a:lnSpc>
                <a:spcPct val="104000"/>
              </a:lnSpc>
              <a:spcAft>
                <a:spcPts val="180"/>
              </a:spcAft>
              <a:defRPr sz="900" b="0">
                <a:solidFill>
                  <a:srgbClr val="5D7280"/>
                </a:solidFill>
                <a:latin typeface="Arial"/>
              </a:defRPr>
            </a:pPr>
            <a:r>
              <a:t>05 / 13</a:t>
            </a:r>
          </a:p>
        </p:txBody>
      </p:sp>
      <p:sp>
        <p:nvSpPr>
          <p:cNvPr id="18" name="Rounded Rectangle 17"/>
          <p:cNvSpPr/>
          <p:nvPr/>
        </p:nvSpPr>
        <p:spPr>
          <a:xfrm>
            <a:off x="667512" y="2039112"/>
            <a:ext cx="5532120" cy="4014215"/>
          </a:xfrm>
          <a:prstGeom prst="roundRect">
            <a:avLst>
              <a:gd name="adj" fmla="val 2733"/>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larification-review.png"/>
          <p:cNvPicPr>
            <a:picLocks noChangeAspect="1"/>
          </p:cNvPicPr>
          <p:nvPr/>
        </p:nvPicPr>
        <p:blipFill>
          <a:blip r:embed="rId2"/>
          <a:srcRect b="42000"/>
          <a:stretch>
            <a:fillRect/>
          </a:stretch>
        </p:blipFill>
        <p:spPr>
          <a:xfrm>
            <a:off x="777240" y="2129633"/>
            <a:ext cx="5312664" cy="3824028"/>
          </a:xfrm>
          <a:prstGeom prst="rect">
            <a:avLst/>
          </a:prstGeom>
        </p:spPr>
      </p:pic>
      <p:sp>
        <p:nvSpPr>
          <p:cNvPr id="20" name="TextBox 19"/>
          <p:cNvSpPr txBox="1"/>
          <p:nvPr/>
        </p:nvSpPr>
        <p:spPr>
          <a:xfrm>
            <a:off x="6510528" y="2286000"/>
            <a:ext cx="4645152" cy="512064"/>
          </a:xfrm>
          <a:prstGeom prst="rect">
            <a:avLst/>
          </a:prstGeom>
          <a:noFill/>
        </p:spPr>
        <p:txBody>
          <a:bodyPr wrap="square" lIns="0" rIns="0" tIns="0" bIns="0">
            <a:spAutoFit/>
          </a:bodyPr>
          <a:lstStyle/>
          <a:p>
            <a:pPr>
              <a:lnSpc>
                <a:spcPct val="104000"/>
              </a:lnSpc>
              <a:spcAft>
                <a:spcPts val="440"/>
              </a:spcAft>
              <a:defRPr sz="2200" b="1">
                <a:solidFill>
                  <a:srgbClr val="7549BE"/>
                </a:solidFill>
                <a:latin typeface="Arial"/>
              </a:defRPr>
            </a:pPr>
            <a:r>
              <a:t>Ask the decision questions</a:t>
            </a:r>
          </a:p>
        </p:txBody>
      </p:sp>
      <p:sp>
        <p:nvSpPr>
          <p:cNvPr id="21" name="TextBox 20"/>
          <p:cNvSpPr txBox="1"/>
          <p:nvPr/>
        </p:nvSpPr>
        <p:spPr>
          <a:xfrm>
            <a:off x="6528816" y="2852928"/>
            <a:ext cx="4572000" cy="274320"/>
          </a:xfrm>
          <a:prstGeom prst="rect">
            <a:avLst/>
          </a:prstGeom>
          <a:noFill/>
        </p:spPr>
        <p:txBody>
          <a:bodyPr wrap="square" lIns="0" rIns="0" tIns="0" bIns="0">
            <a:spAutoFit/>
          </a:bodyPr>
          <a:lstStyle/>
          <a:p>
            <a:pPr>
              <a:lnSpc>
                <a:spcPct val="104000"/>
              </a:lnSpc>
              <a:spcAft>
                <a:spcPts val="300"/>
              </a:spcAft>
              <a:defRPr sz="1500" b="1">
                <a:solidFill>
                  <a:srgbClr val="7549BE"/>
                </a:solidFill>
                <a:latin typeface="Arial"/>
              </a:defRPr>
            </a:pPr>
            <a:r>
              <a:t>Sample optics</a:t>
            </a:r>
          </a:p>
        </p:txBody>
      </p:sp>
      <p:sp>
        <p:nvSpPr>
          <p:cNvPr id="22" name="TextBox 21"/>
          <p:cNvSpPr txBox="1"/>
          <p:nvPr/>
        </p:nvSpPr>
        <p:spPr>
          <a:xfrm>
            <a:off x="6528816" y="3163824"/>
            <a:ext cx="4572000" cy="493776"/>
          </a:xfrm>
          <a:prstGeom prst="rect">
            <a:avLst/>
          </a:prstGeom>
          <a:noFill/>
        </p:spPr>
        <p:txBody>
          <a:bodyPr wrap="square" lIns="0" rIns="0" tIns="0" bIns="0">
            <a:spAutoFit/>
          </a:bodyPr>
          <a:lstStyle/>
          <a:p>
            <a:pPr>
              <a:lnSpc>
                <a:spcPct val="104000"/>
              </a:lnSpc>
              <a:spcAft>
                <a:spcPts val="340"/>
              </a:spcAft>
              <a:defRPr sz="1700" b="0">
                <a:solidFill>
                  <a:srgbClr val="142D3D"/>
                </a:solidFill>
                <a:latin typeface="Arial"/>
              </a:defRPr>
            </a:pPr>
            <a:r>
              <a:t>Clear, turbid or opaque — does it change?</a:t>
            </a:r>
          </a:p>
        </p:txBody>
      </p:sp>
      <p:sp>
        <p:nvSpPr>
          <p:cNvPr id="23" name="TextBox 22"/>
          <p:cNvSpPr txBox="1"/>
          <p:nvPr/>
        </p:nvSpPr>
        <p:spPr>
          <a:xfrm>
            <a:off x="6528816" y="3794760"/>
            <a:ext cx="4572000" cy="274320"/>
          </a:xfrm>
          <a:prstGeom prst="rect">
            <a:avLst/>
          </a:prstGeom>
          <a:noFill/>
        </p:spPr>
        <p:txBody>
          <a:bodyPr wrap="square" lIns="0" rIns="0" tIns="0" bIns="0">
            <a:spAutoFit/>
          </a:bodyPr>
          <a:lstStyle/>
          <a:p>
            <a:pPr>
              <a:lnSpc>
                <a:spcPct val="104000"/>
              </a:lnSpc>
              <a:spcAft>
                <a:spcPts val="300"/>
              </a:spcAft>
              <a:defRPr sz="1500" b="1">
                <a:solidFill>
                  <a:srgbClr val="7549BE"/>
                </a:solidFill>
                <a:latin typeface="Arial"/>
              </a:defRPr>
            </a:pPr>
            <a:r>
              <a:t>Required range</a:t>
            </a:r>
          </a:p>
        </p:txBody>
      </p:sp>
      <p:sp>
        <p:nvSpPr>
          <p:cNvPr id="24" name="TextBox 23"/>
          <p:cNvSpPr txBox="1"/>
          <p:nvPr/>
        </p:nvSpPr>
        <p:spPr>
          <a:xfrm>
            <a:off x="6528816" y="4105656"/>
            <a:ext cx="4572000" cy="493776"/>
          </a:xfrm>
          <a:prstGeom prst="rect">
            <a:avLst/>
          </a:prstGeom>
          <a:noFill/>
        </p:spPr>
        <p:txBody>
          <a:bodyPr wrap="square" lIns="0" rIns="0" tIns="0" bIns="0">
            <a:spAutoFit/>
          </a:bodyPr>
          <a:lstStyle/>
          <a:p>
            <a:pPr>
              <a:lnSpc>
                <a:spcPct val="104000"/>
              </a:lnSpc>
              <a:spcAft>
                <a:spcPts val="340"/>
              </a:spcAft>
              <a:defRPr sz="1700" b="0">
                <a:solidFill>
                  <a:srgbClr val="142D3D"/>
                </a:solidFill>
                <a:latin typeface="Arial"/>
              </a:defRPr>
            </a:pPr>
            <a:r>
              <a:t>What range and smallest change matter?</a:t>
            </a:r>
          </a:p>
        </p:txBody>
      </p:sp>
      <p:sp>
        <p:nvSpPr>
          <p:cNvPr id="25" name="TextBox 24"/>
          <p:cNvSpPr txBox="1"/>
          <p:nvPr/>
        </p:nvSpPr>
        <p:spPr>
          <a:xfrm>
            <a:off x="6528816" y="4690872"/>
            <a:ext cx="4572000" cy="274320"/>
          </a:xfrm>
          <a:prstGeom prst="rect">
            <a:avLst/>
          </a:prstGeom>
          <a:noFill/>
        </p:spPr>
        <p:txBody>
          <a:bodyPr wrap="square" lIns="0" rIns="0" tIns="0" bIns="0">
            <a:spAutoFit/>
          </a:bodyPr>
          <a:lstStyle/>
          <a:p>
            <a:pPr>
              <a:lnSpc>
                <a:spcPct val="104000"/>
              </a:lnSpc>
              <a:spcAft>
                <a:spcPts val="300"/>
              </a:spcAft>
              <a:defRPr sz="1500" b="1">
                <a:solidFill>
                  <a:srgbClr val="7549BE"/>
                </a:solidFill>
                <a:latin typeface="Arial"/>
              </a:defRPr>
            </a:pPr>
            <a:r>
              <a:t>Independent reference</a:t>
            </a:r>
          </a:p>
        </p:txBody>
      </p:sp>
      <p:sp>
        <p:nvSpPr>
          <p:cNvPr id="26" name="TextBox 25"/>
          <p:cNvSpPr txBox="1"/>
          <p:nvPr/>
        </p:nvSpPr>
        <p:spPr>
          <a:xfrm>
            <a:off x="6528816" y="5001768"/>
            <a:ext cx="4572000" cy="493776"/>
          </a:xfrm>
          <a:prstGeom prst="rect">
            <a:avLst/>
          </a:prstGeom>
          <a:noFill/>
        </p:spPr>
        <p:txBody>
          <a:bodyPr wrap="square" lIns="0" rIns="0" tIns="0" bIns="0">
            <a:spAutoFit/>
          </a:bodyPr>
          <a:lstStyle/>
          <a:p>
            <a:pPr>
              <a:lnSpc>
                <a:spcPct val="104000"/>
              </a:lnSpc>
              <a:spcAft>
                <a:spcPts val="340"/>
              </a:spcAft>
              <a:defRPr sz="1700" b="0">
                <a:solidFill>
                  <a:srgbClr val="142D3D"/>
                </a:solidFill>
                <a:latin typeface="Arial"/>
              </a:defRPr>
            </a:pPr>
            <a:r>
              <a:t>Which reference method provides calibration values?</a:t>
            </a:r>
          </a:p>
        </p:txBody>
      </p:sp>
      <p:sp>
        <p:nvSpPr>
          <p:cNvPr id="27" name="Rounded Rectangle 26"/>
          <p:cNvSpPr/>
          <p:nvPr/>
        </p:nvSpPr>
        <p:spPr>
          <a:xfrm>
            <a:off x="6528816" y="5678424"/>
            <a:ext cx="4572000" cy="301752"/>
          </a:xfrm>
          <a:prstGeom prst="roundRect">
            <a:avLst>
              <a:gd name="adj" fmla="val 18000"/>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11112" y="5739688"/>
            <a:ext cx="4407408" cy="219456"/>
          </a:xfrm>
          <a:prstGeom prst="rect">
            <a:avLst/>
          </a:prstGeom>
          <a:noFill/>
        </p:spPr>
        <p:txBody>
          <a:bodyPr wrap="square" lIns="0" rIns="0" tIns="0" bIns="0">
            <a:spAutoFit/>
          </a:bodyPr>
          <a:lstStyle/>
          <a:p>
            <a:pPr algn="ctr">
              <a:lnSpc>
                <a:spcPct val="104000"/>
              </a:lnSpc>
              <a:spcAft>
                <a:spcPts val="210"/>
              </a:spcAft>
              <a:defRPr sz="1050" b="1">
                <a:solidFill>
                  <a:srgbClr val="7549BE"/>
                </a:solidFill>
                <a:latin typeface="Arial"/>
              </a:defRPr>
            </a:pPr>
            <a:r>
              <a:t>REVIEW → YES, ASSESS  ·  CLARIFICATION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21028" cy="50292"/>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1028" cy="50292"/>
          </a:xfrm>
          <a:prstGeom prst="rect">
            <a:avLst/>
          </a:prstGeom>
          <a:solidFill>
            <a:srgbClr val="655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1028" cy="50292"/>
          </a:xfrm>
          <a:prstGeom prst="rect">
            <a:avLst/>
          </a:prstGeom>
          <a:solidFill>
            <a:srgbClr val="456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1028" cy="50292"/>
          </a:xfrm>
          <a:prstGeom prst="rect">
            <a:avLst/>
          </a:prstGeom>
          <a:solidFill>
            <a:srgbClr val="268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1028" cy="50292"/>
          </a:xfrm>
          <a:prstGeom prst="rect">
            <a:avLst/>
          </a:prstGeom>
          <a:solidFill>
            <a:srgbClr val="149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1028" cy="50292"/>
          </a:xfrm>
          <a:prstGeom prst="rect">
            <a:avLst/>
          </a:prstGeom>
          <a:solidFill>
            <a:srgbClr val="269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1028" cy="50292"/>
          </a:xfrm>
          <a:prstGeom prst="rect">
            <a:avLst/>
          </a:prstGeom>
          <a:solidFill>
            <a:srgbClr val="75A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1028" cy="50292"/>
          </a:xfrm>
          <a:prstGeom prst="rect">
            <a:avLst/>
          </a:prstGeom>
          <a:solidFill>
            <a:srgbClr val="B6A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1028" cy="50292"/>
          </a:xfrm>
          <a:prstGeom prst="rect">
            <a:avLst/>
          </a:prstGeom>
          <a:solidFill>
            <a:srgbClr val="C5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1028" cy="50292"/>
          </a:xfrm>
          <a:prstGeom prst="rect">
            <a:avLst/>
          </a:prstGeom>
          <a:solidFill>
            <a:srgbClr val="B64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28600"/>
          </a:xfrm>
          <a:prstGeom prst="rect">
            <a:avLst/>
          </a:prstGeom>
          <a:noFill/>
        </p:spPr>
        <p:txBody>
          <a:bodyPr wrap="square" lIns="0" rIns="0" tIns="0" bIns="0">
            <a:spAutoFit/>
          </a:bodyPr>
          <a:lstStyle/>
          <a:p>
            <a:pPr>
              <a:lnSpc>
                <a:spcPct val="104000"/>
              </a:lnSpc>
              <a:spcAft>
                <a:spcPts val="210"/>
              </a:spcAft>
              <a:defRPr sz="1050" b="1">
                <a:solidFill>
                  <a:srgbClr val="087F8C"/>
                </a:solidFill>
                <a:latin typeface="Arial"/>
              </a:defRPr>
            </a:pPr>
            <a:r>
              <a:t>DEMO 02 · EVIDENCE REVIEW</a:t>
            </a:r>
          </a:p>
        </p:txBody>
      </p:sp>
      <p:sp>
        <p:nvSpPr>
          <p:cNvPr id="13" name="TextBox 12"/>
          <p:cNvSpPr txBox="1"/>
          <p:nvPr/>
        </p:nvSpPr>
        <p:spPr>
          <a:xfrm>
            <a:off x="621792" y="841248"/>
            <a:ext cx="10972800" cy="621792"/>
          </a:xfrm>
          <a:prstGeom prst="rect">
            <a:avLst/>
          </a:prstGeom>
          <a:noFill/>
        </p:spPr>
        <p:txBody>
          <a:bodyPr wrap="square" lIns="0" rIns="0" tIns="0" bIns="0">
            <a:spAutoFit/>
          </a:bodyPr>
          <a:lstStyle/>
          <a:p>
            <a:pPr>
              <a:lnSpc>
                <a:spcPct val="104000"/>
              </a:lnSpc>
              <a:spcAft>
                <a:spcPts val="620"/>
              </a:spcAft>
              <a:defRPr sz="3100" b="1">
                <a:solidFill>
                  <a:srgbClr val="142D3D"/>
                </a:solidFill>
                <a:latin typeface="Arial"/>
              </a:defRPr>
            </a:pPr>
            <a:r>
              <a:t>Open the source that changes the decision.</a:t>
            </a:r>
          </a:p>
        </p:txBody>
      </p:sp>
      <p:sp>
        <p:nvSpPr>
          <p:cNvPr id="14" name="TextBox 13"/>
          <p:cNvSpPr txBox="1"/>
          <p:nvPr/>
        </p:nvSpPr>
        <p:spPr>
          <a:xfrm>
            <a:off x="640080" y="1517904"/>
            <a:ext cx="10927080" cy="438912"/>
          </a:xfrm>
          <a:prstGeom prst="rect">
            <a:avLst/>
          </a:prstGeom>
          <a:noFill/>
        </p:spPr>
        <p:txBody>
          <a:bodyPr wrap="square" lIns="0" rIns="0" tIns="0" bIns="0">
            <a:spAutoFit/>
          </a:bodyPr>
          <a:lstStyle/>
          <a:p>
            <a:pPr>
              <a:lnSpc>
                <a:spcPct val="104000"/>
              </a:lnSpc>
              <a:spcAft>
                <a:spcPts val="300"/>
              </a:spcAft>
              <a:defRPr sz="1500" b="0">
                <a:solidFill>
                  <a:srgbClr val="5D7280"/>
                </a:solidFill>
                <a:latin typeface="Arial"/>
              </a:defRPr>
            </a:pPr>
            <a:r>
              <a:t>H04: MIR ATR may be investigated; the existing silica link cannot be approved.</a:t>
            </a:r>
          </a:p>
        </p:txBody>
      </p:sp>
      <p:cxnSp>
        <p:nvCxnSpPr>
          <p:cNvPr id="15" name="Connector 14"/>
          <p:cNvCxnSpPr/>
          <p:nvPr/>
        </p:nvCxnSpPr>
        <p:spPr>
          <a:xfrm>
            <a:off x="594360" y="6382512"/>
            <a:ext cx="11000232" cy="0"/>
          </a:xfrm>
          <a:prstGeom prst="line">
            <a:avLst/>
          </a:prstGeom>
          <a:ln w="1016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6492240"/>
            <a:ext cx="10104120" cy="155448"/>
          </a:xfrm>
          <a:prstGeom prst="rect">
            <a:avLst/>
          </a:prstGeom>
          <a:noFill/>
        </p:spPr>
        <p:txBody>
          <a:bodyPr wrap="square" lIns="0" rIns="0" tIns="0" bIns="0">
            <a:spAutoFit/>
          </a:bodyPr>
          <a:lstStyle/>
          <a:p>
            <a:pPr>
              <a:lnSpc>
                <a:spcPct val="104000"/>
              </a:lnSpc>
              <a:spcAft>
                <a:spcPts val="166"/>
              </a:spcAft>
              <a:defRPr sz="830" b="0">
                <a:solidFill>
                  <a:srgbClr val="5D7280"/>
                </a:solidFill>
                <a:latin typeface="Arial"/>
              </a:defRPr>
            </a:pPr>
            <a:r>
              <a:t>Actual evidence pane: S02 p.6 · related fiber data p.9 · petroleum application p.13</a:t>
            </a:r>
          </a:p>
        </p:txBody>
      </p:sp>
      <p:sp>
        <p:nvSpPr>
          <p:cNvPr id="17" name="TextBox 16"/>
          <p:cNvSpPr txBox="1"/>
          <p:nvPr/>
        </p:nvSpPr>
        <p:spPr>
          <a:xfrm>
            <a:off x="10853928" y="6464808"/>
            <a:ext cx="731520" cy="210312"/>
          </a:xfrm>
          <a:prstGeom prst="rect">
            <a:avLst/>
          </a:prstGeom>
          <a:noFill/>
        </p:spPr>
        <p:txBody>
          <a:bodyPr wrap="square" lIns="0" rIns="0" tIns="0" bIns="0">
            <a:spAutoFit/>
          </a:bodyPr>
          <a:lstStyle/>
          <a:p>
            <a:pPr algn="r">
              <a:lnSpc>
                <a:spcPct val="104000"/>
              </a:lnSpc>
              <a:spcAft>
                <a:spcPts val="180"/>
              </a:spcAft>
              <a:defRPr sz="900" b="0">
                <a:solidFill>
                  <a:srgbClr val="5D7280"/>
                </a:solidFill>
                <a:latin typeface="Arial"/>
              </a:defRPr>
            </a:pPr>
            <a:r>
              <a:t>06 / 13</a:t>
            </a:r>
          </a:p>
        </p:txBody>
      </p:sp>
      <p:sp>
        <p:nvSpPr>
          <p:cNvPr id="18" name="Rounded Rectangle 17"/>
          <p:cNvSpPr/>
          <p:nvPr/>
        </p:nvSpPr>
        <p:spPr>
          <a:xfrm>
            <a:off x="667512" y="2084831"/>
            <a:ext cx="6858000" cy="3931920"/>
          </a:xfrm>
          <a:prstGeom prst="roundRect">
            <a:avLst>
              <a:gd name="adj" fmla="val 2790"/>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evidence-split.png"/>
          <p:cNvPicPr>
            <a:picLocks noChangeAspect="1"/>
          </p:cNvPicPr>
          <p:nvPr/>
        </p:nvPicPr>
        <p:blipFill>
          <a:blip r:embed="rId2"/>
          <a:srcRect r="49500" b="44000"/>
          <a:stretch>
            <a:fillRect/>
          </a:stretch>
        </p:blipFill>
        <p:spPr>
          <a:xfrm>
            <a:off x="1415687" y="2185416"/>
            <a:ext cx="5343361" cy="3703320"/>
          </a:xfrm>
          <a:prstGeom prst="rect">
            <a:avLst/>
          </a:prstGeom>
        </p:spPr>
      </p:pic>
      <p:sp>
        <p:nvSpPr>
          <p:cNvPr id="20" name="Rounded Rectangle 19"/>
          <p:cNvSpPr/>
          <p:nvPr/>
        </p:nvSpPr>
        <p:spPr>
          <a:xfrm>
            <a:off x="914400" y="5605272"/>
            <a:ext cx="6382512" cy="301752"/>
          </a:xfrm>
          <a:prstGeom prst="roundRect">
            <a:avLst>
              <a:gd name="adj" fmla="val 18000"/>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6696" y="5666536"/>
            <a:ext cx="6217920" cy="219456"/>
          </a:xfrm>
          <a:prstGeom prst="rect">
            <a:avLst/>
          </a:prstGeom>
          <a:noFill/>
        </p:spPr>
        <p:txBody>
          <a:bodyPr wrap="square" lIns="0" rIns="0" tIns="0" bIns="0">
            <a:spAutoFit/>
          </a:bodyPr>
          <a:lstStyle/>
          <a:p>
            <a:pPr algn="ctr">
              <a:lnSpc>
                <a:spcPct val="104000"/>
              </a:lnSpc>
              <a:spcAft>
                <a:spcPts val="190"/>
              </a:spcAft>
              <a:defRPr sz="950" b="1">
                <a:solidFill>
                  <a:srgbClr val="2864CC"/>
                </a:solidFill>
                <a:latin typeface="Arial"/>
              </a:defRPr>
            </a:pPr>
            <a:r>
              <a:t>ACTUAL PDF PANE · SOURCE PAGE SHOWN BESIDE THE REPORT</a:t>
            </a:r>
          </a:p>
        </p:txBody>
      </p:sp>
      <p:sp>
        <p:nvSpPr>
          <p:cNvPr id="22" name="TextBox 21"/>
          <p:cNvSpPr txBox="1"/>
          <p:nvPr/>
        </p:nvSpPr>
        <p:spPr>
          <a:xfrm>
            <a:off x="7845552" y="2359152"/>
            <a:ext cx="3584448" cy="457200"/>
          </a:xfrm>
          <a:prstGeom prst="rect">
            <a:avLst/>
          </a:prstGeom>
          <a:noFill/>
        </p:spPr>
        <p:txBody>
          <a:bodyPr wrap="square" lIns="0" rIns="0" tIns="0" bIns="0">
            <a:spAutoFit/>
          </a:bodyPr>
          <a:lstStyle/>
          <a:p>
            <a:pPr>
              <a:lnSpc>
                <a:spcPct val="104000"/>
              </a:lnSpc>
              <a:spcAft>
                <a:spcPts val="440"/>
              </a:spcAft>
              <a:defRPr sz="2200" b="1">
                <a:solidFill>
                  <a:srgbClr val="2864CC"/>
                </a:solidFill>
                <a:latin typeface="Arial"/>
              </a:defRPr>
            </a:pPr>
            <a:r>
              <a:t>The physical constraint</a:t>
            </a:r>
          </a:p>
        </p:txBody>
      </p:sp>
      <p:sp>
        <p:nvSpPr>
          <p:cNvPr id="23" name="TextBox 22"/>
          <p:cNvSpPr txBox="1"/>
          <p:nvPr/>
        </p:nvSpPr>
        <p:spPr>
          <a:xfrm>
            <a:off x="7845552" y="3044952"/>
            <a:ext cx="3529584" cy="1243584"/>
          </a:xfrm>
          <a:prstGeom prst="rect">
            <a:avLst/>
          </a:prstGeom>
          <a:noFill/>
        </p:spPr>
        <p:txBody>
          <a:bodyPr wrap="square" lIns="0" rIns="0" tIns="0" bIns="0">
            <a:spAutoFit/>
          </a:bodyPr>
          <a:lstStyle/>
          <a:p>
            <a:pPr>
              <a:lnSpc>
                <a:spcPct val="104000"/>
              </a:lnSpc>
              <a:spcAft>
                <a:spcPts val="400"/>
              </a:spcAft>
              <a:defRPr sz="2000" b="0">
                <a:solidFill>
                  <a:srgbClr val="142D3D"/>
                </a:solidFill>
                <a:latin typeface="Arial"/>
              </a:defRPr>
            </a:pPr>
            <a:r>
              <a:t>Silica: VIS / NIR</a:t>
            </a:r>
          </a:p>
          <a:p>
            <a:pPr>
              <a:lnSpc>
                <a:spcPct val="104000"/>
              </a:lnSpc>
              <a:spcAft>
                <a:spcPts val="400"/>
              </a:spcAft>
              <a:defRPr sz="2000" b="0">
                <a:solidFill>
                  <a:srgbClr val="142D3D"/>
                </a:solidFill>
                <a:latin typeface="Arial"/>
              </a:defRPr>
            </a:pPr>
            <a:r>
              <a:t>MIR: a different fiber system</a:t>
            </a:r>
          </a:p>
          <a:p>
            <a:pPr>
              <a:lnSpc>
                <a:spcPct val="104000"/>
              </a:lnSpc>
              <a:spcAft>
                <a:spcPts val="400"/>
              </a:spcAft>
              <a:defRPr sz="2000" b="0">
                <a:solidFill>
                  <a:srgbClr val="142D3D"/>
                </a:solidFill>
                <a:latin typeface="Arial"/>
              </a:defRPr>
            </a:pPr>
            <a:r>
              <a:t>Remote link: confirm with AFS</a:t>
            </a:r>
          </a:p>
        </p:txBody>
      </p:sp>
      <p:sp>
        <p:nvSpPr>
          <p:cNvPr id="24" name="Rounded Rectangle 23"/>
          <p:cNvSpPr/>
          <p:nvPr/>
        </p:nvSpPr>
        <p:spPr>
          <a:xfrm>
            <a:off x="7818120" y="4636008"/>
            <a:ext cx="3621024" cy="1088136"/>
          </a:xfrm>
          <a:prstGeom prst="roundRect">
            <a:avLst>
              <a:gd name="adj" fmla="val 10084"/>
            </a:avLst>
          </a:prstGeom>
          <a:solidFill>
            <a:srgbClr val="FF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0144" y="4800600"/>
            <a:ext cx="3236976" cy="740664"/>
          </a:xfrm>
          <a:prstGeom prst="rect">
            <a:avLst/>
          </a:prstGeom>
          <a:noFill/>
        </p:spPr>
        <p:txBody>
          <a:bodyPr wrap="square" lIns="0" rIns="0" tIns="0" bIns="0">
            <a:spAutoFit/>
          </a:bodyPr>
          <a:lstStyle/>
          <a:p>
            <a:pPr>
              <a:lnSpc>
                <a:spcPct val="104000"/>
              </a:lnSpc>
              <a:spcAft>
                <a:spcPts val="340"/>
              </a:spcAft>
              <a:defRPr sz="1700" b="1">
                <a:solidFill>
                  <a:srgbClr val="AD6017"/>
                </a:solidFill>
                <a:latin typeface="Arial"/>
              </a:defRPr>
            </a:pPr>
            <a:r>
              <a:t>A lab application is evidence to investigate — not approval of this installation.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21028" cy="50292"/>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1028" cy="50292"/>
          </a:xfrm>
          <a:prstGeom prst="rect">
            <a:avLst/>
          </a:prstGeom>
          <a:solidFill>
            <a:srgbClr val="655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1028" cy="50292"/>
          </a:xfrm>
          <a:prstGeom prst="rect">
            <a:avLst/>
          </a:prstGeom>
          <a:solidFill>
            <a:srgbClr val="456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1028" cy="50292"/>
          </a:xfrm>
          <a:prstGeom prst="rect">
            <a:avLst/>
          </a:prstGeom>
          <a:solidFill>
            <a:srgbClr val="268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1028" cy="50292"/>
          </a:xfrm>
          <a:prstGeom prst="rect">
            <a:avLst/>
          </a:prstGeom>
          <a:solidFill>
            <a:srgbClr val="149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1028" cy="50292"/>
          </a:xfrm>
          <a:prstGeom prst="rect">
            <a:avLst/>
          </a:prstGeom>
          <a:solidFill>
            <a:srgbClr val="269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1028" cy="50292"/>
          </a:xfrm>
          <a:prstGeom prst="rect">
            <a:avLst/>
          </a:prstGeom>
          <a:solidFill>
            <a:srgbClr val="75A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1028" cy="50292"/>
          </a:xfrm>
          <a:prstGeom prst="rect">
            <a:avLst/>
          </a:prstGeom>
          <a:solidFill>
            <a:srgbClr val="B6A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1028" cy="50292"/>
          </a:xfrm>
          <a:prstGeom prst="rect">
            <a:avLst/>
          </a:prstGeom>
          <a:solidFill>
            <a:srgbClr val="C5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1028" cy="50292"/>
          </a:xfrm>
          <a:prstGeom prst="rect">
            <a:avLst/>
          </a:prstGeom>
          <a:solidFill>
            <a:srgbClr val="B64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28600"/>
          </a:xfrm>
          <a:prstGeom prst="rect">
            <a:avLst/>
          </a:prstGeom>
          <a:noFill/>
        </p:spPr>
        <p:txBody>
          <a:bodyPr wrap="square" lIns="0" rIns="0" tIns="0" bIns="0">
            <a:spAutoFit/>
          </a:bodyPr>
          <a:lstStyle/>
          <a:p>
            <a:pPr>
              <a:lnSpc>
                <a:spcPct val="104000"/>
              </a:lnSpc>
              <a:spcAft>
                <a:spcPts val="210"/>
              </a:spcAft>
              <a:defRPr sz="1050" b="1">
                <a:solidFill>
                  <a:srgbClr val="087F8C"/>
                </a:solidFill>
                <a:latin typeface="Arial"/>
              </a:defRPr>
            </a:pPr>
            <a:r>
              <a:t>FEASIBILITY · 15%</a:t>
            </a:r>
          </a:p>
        </p:txBody>
      </p:sp>
      <p:sp>
        <p:nvSpPr>
          <p:cNvPr id="13" name="TextBox 12"/>
          <p:cNvSpPr txBox="1"/>
          <p:nvPr/>
        </p:nvSpPr>
        <p:spPr>
          <a:xfrm>
            <a:off x="621792" y="841248"/>
            <a:ext cx="10972800" cy="621792"/>
          </a:xfrm>
          <a:prstGeom prst="rect">
            <a:avLst/>
          </a:prstGeom>
          <a:noFill/>
        </p:spPr>
        <p:txBody>
          <a:bodyPr wrap="square" lIns="0" rIns="0" tIns="0" bIns="0">
            <a:spAutoFit/>
          </a:bodyPr>
          <a:lstStyle/>
          <a:p>
            <a:pPr>
              <a:lnSpc>
                <a:spcPct val="104000"/>
              </a:lnSpc>
              <a:spcAft>
                <a:spcPts val="620"/>
              </a:spcAft>
              <a:defRPr sz="3100" b="1">
                <a:solidFill>
                  <a:srgbClr val="142D3D"/>
                </a:solidFill>
                <a:latin typeface="Arial"/>
              </a:defRPr>
            </a:pPr>
            <a:r>
              <a:t>Turn the recommendation into a testable comparison.</a:t>
            </a:r>
          </a:p>
        </p:txBody>
      </p:sp>
      <p:sp>
        <p:nvSpPr>
          <p:cNvPr id="14" name="TextBox 13"/>
          <p:cNvSpPr txBox="1"/>
          <p:nvPr/>
        </p:nvSpPr>
        <p:spPr>
          <a:xfrm>
            <a:off x="640080" y="1517904"/>
            <a:ext cx="10927080" cy="438912"/>
          </a:xfrm>
          <a:prstGeom prst="rect">
            <a:avLst/>
          </a:prstGeom>
          <a:noFill/>
        </p:spPr>
        <p:txBody>
          <a:bodyPr wrap="square" lIns="0" rIns="0" tIns="0" bIns="0">
            <a:spAutoFit/>
          </a:bodyPr>
          <a:lstStyle/>
          <a:p>
            <a:pPr>
              <a:lnSpc>
                <a:spcPct val="104000"/>
              </a:lnSpc>
              <a:spcAft>
                <a:spcPts val="300"/>
              </a:spcAft>
              <a:defRPr sz="1500" b="0">
                <a:solidFill>
                  <a:srgbClr val="5D7280"/>
                </a:solidFill>
                <a:latin typeface="Arial"/>
              </a:defRPr>
            </a:pPr>
            <a:r>
              <a:t>H04 example · a proposed experiment, not a claim of achieved sensor performance</a:t>
            </a:r>
          </a:p>
        </p:txBody>
      </p:sp>
      <p:cxnSp>
        <p:nvCxnSpPr>
          <p:cNvPr id="15" name="Connector 14"/>
          <p:cNvCxnSpPr/>
          <p:nvPr/>
        </p:nvCxnSpPr>
        <p:spPr>
          <a:xfrm>
            <a:off x="594360" y="6382512"/>
            <a:ext cx="11000232" cy="0"/>
          </a:xfrm>
          <a:prstGeom prst="line">
            <a:avLst/>
          </a:prstGeom>
          <a:ln w="1016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6492240"/>
            <a:ext cx="10104120" cy="155448"/>
          </a:xfrm>
          <a:prstGeom prst="rect">
            <a:avLst/>
          </a:prstGeom>
          <a:noFill/>
        </p:spPr>
        <p:txBody>
          <a:bodyPr wrap="square" lIns="0" rIns="0" tIns="0" bIns="0">
            <a:spAutoFit/>
          </a:bodyPr>
          <a:lstStyle/>
          <a:p>
            <a:pPr>
              <a:lnSpc>
                <a:spcPct val="104000"/>
              </a:lnSpc>
              <a:spcAft>
                <a:spcPts val="166"/>
              </a:spcAft>
              <a:defRPr sz="830" b="0">
                <a:solidFill>
                  <a:srgbClr val="5D7280"/>
                </a:solidFill>
                <a:latin typeface="Arial"/>
              </a:defRPr>
            </a:pPr>
            <a:r>
              <a:t>H04 Council §11, condensed for presentation; S02 p.13; acceptance criteria require the customer</a:t>
            </a:r>
          </a:p>
        </p:txBody>
      </p:sp>
      <p:sp>
        <p:nvSpPr>
          <p:cNvPr id="17" name="TextBox 16"/>
          <p:cNvSpPr txBox="1"/>
          <p:nvPr/>
        </p:nvSpPr>
        <p:spPr>
          <a:xfrm>
            <a:off x="10853928" y="6464808"/>
            <a:ext cx="731520" cy="210312"/>
          </a:xfrm>
          <a:prstGeom prst="rect">
            <a:avLst/>
          </a:prstGeom>
          <a:noFill/>
        </p:spPr>
        <p:txBody>
          <a:bodyPr wrap="square" lIns="0" rIns="0" tIns="0" bIns="0">
            <a:spAutoFit/>
          </a:bodyPr>
          <a:lstStyle/>
          <a:p>
            <a:pPr algn="r">
              <a:lnSpc>
                <a:spcPct val="104000"/>
              </a:lnSpc>
              <a:spcAft>
                <a:spcPts val="180"/>
              </a:spcAft>
              <a:defRPr sz="900" b="0">
                <a:solidFill>
                  <a:srgbClr val="5D7280"/>
                </a:solidFill>
                <a:latin typeface="Arial"/>
              </a:defRPr>
            </a:pPr>
            <a:r>
              <a:t>07 / 13</a:t>
            </a:r>
          </a:p>
        </p:txBody>
      </p:sp>
      <p:sp>
        <p:nvSpPr>
          <p:cNvPr id="18" name="Rounded Rectangle 17"/>
          <p:cNvSpPr/>
          <p:nvPr/>
        </p:nvSpPr>
        <p:spPr>
          <a:xfrm>
            <a:off x="685800" y="2167128"/>
            <a:ext cx="5330952" cy="1389888"/>
          </a:xfrm>
          <a:prstGeom prst="roundRect">
            <a:avLst>
              <a:gd name="adj" fmla="val 7894"/>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2167128"/>
            <a:ext cx="50292" cy="1389888"/>
          </a:xfrm>
          <a:prstGeom prst="rect">
            <a:avLst/>
          </a:prstGeom>
          <a:solidFill>
            <a:srgbClr val="286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340864"/>
            <a:ext cx="4928616" cy="594360"/>
          </a:xfrm>
          <a:prstGeom prst="rect">
            <a:avLst/>
          </a:prstGeom>
          <a:noFill/>
        </p:spPr>
        <p:txBody>
          <a:bodyPr wrap="square" lIns="0" rIns="0" tIns="0" bIns="0">
            <a:spAutoFit/>
          </a:bodyPr>
          <a:lstStyle/>
          <a:p>
            <a:pPr>
              <a:lnSpc>
                <a:spcPct val="104000"/>
              </a:lnSpc>
              <a:spcAft>
                <a:spcPts val="380"/>
              </a:spcAft>
              <a:defRPr sz="1900" b="1">
                <a:solidFill>
                  <a:srgbClr val="2864CC"/>
                </a:solidFill>
                <a:latin typeface="Arial"/>
              </a:defRPr>
            </a:pPr>
            <a:r>
              <a:t>01 · Samples</a:t>
            </a:r>
          </a:p>
        </p:txBody>
      </p:sp>
      <p:sp>
        <p:nvSpPr>
          <p:cNvPr id="21" name="TextBox 20"/>
          <p:cNvSpPr txBox="1"/>
          <p:nvPr/>
        </p:nvSpPr>
        <p:spPr>
          <a:xfrm>
            <a:off x="886968" y="2926080"/>
            <a:ext cx="4928616" cy="585216"/>
          </a:xfrm>
          <a:prstGeom prst="rect">
            <a:avLst/>
          </a:prstGeom>
          <a:noFill/>
        </p:spPr>
        <p:txBody>
          <a:bodyPr wrap="square" lIns="0" rIns="0" tIns="0" bIns="0">
            <a:spAutoFit/>
          </a:bodyPr>
          <a:lstStyle/>
          <a:p>
            <a:pPr>
              <a:lnSpc>
                <a:spcPct val="104000"/>
              </a:lnSpc>
              <a:spcAft>
                <a:spcPts val="340"/>
              </a:spcAft>
              <a:defRPr sz="1700" b="0">
                <a:solidFill>
                  <a:srgbClr val="142D3D"/>
                </a:solidFill>
                <a:latin typeface="Arial"/>
              </a:defRPr>
            </a:pPr>
            <a:r>
              <a:t>Representative petroleum; vary water content and process conditions.</a:t>
            </a:r>
          </a:p>
        </p:txBody>
      </p:sp>
      <p:sp>
        <p:nvSpPr>
          <p:cNvPr id="22" name="Rounded Rectangle 21"/>
          <p:cNvSpPr/>
          <p:nvPr/>
        </p:nvSpPr>
        <p:spPr>
          <a:xfrm>
            <a:off x="6199632" y="2167128"/>
            <a:ext cx="5330952" cy="1389888"/>
          </a:xfrm>
          <a:prstGeom prst="roundRect">
            <a:avLst>
              <a:gd name="adj" fmla="val 7894"/>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9632" y="2167128"/>
            <a:ext cx="50292" cy="138988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2340864"/>
            <a:ext cx="4928616" cy="594360"/>
          </a:xfrm>
          <a:prstGeom prst="rect">
            <a:avLst/>
          </a:prstGeom>
          <a:noFill/>
        </p:spPr>
        <p:txBody>
          <a:bodyPr wrap="square" lIns="0" rIns="0" tIns="0" bIns="0">
            <a:spAutoFit/>
          </a:bodyPr>
          <a:lstStyle/>
          <a:p>
            <a:pPr>
              <a:lnSpc>
                <a:spcPct val="104000"/>
              </a:lnSpc>
              <a:spcAft>
                <a:spcPts val="380"/>
              </a:spcAft>
              <a:defRPr sz="1900" b="1">
                <a:solidFill>
                  <a:srgbClr val="087F8C"/>
                </a:solidFill>
                <a:latin typeface="Arial"/>
              </a:defRPr>
            </a:pPr>
            <a:r>
              <a:t>02 · Independent reference</a:t>
            </a:r>
          </a:p>
        </p:txBody>
      </p:sp>
      <p:sp>
        <p:nvSpPr>
          <p:cNvPr id="25" name="TextBox 24"/>
          <p:cNvSpPr txBox="1"/>
          <p:nvPr/>
        </p:nvSpPr>
        <p:spPr>
          <a:xfrm>
            <a:off x="6400800" y="2926080"/>
            <a:ext cx="4928616" cy="585216"/>
          </a:xfrm>
          <a:prstGeom prst="rect">
            <a:avLst/>
          </a:prstGeom>
          <a:noFill/>
        </p:spPr>
        <p:txBody>
          <a:bodyPr wrap="square" lIns="0" rIns="0" tIns="0" bIns="0">
            <a:spAutoFit/>
          </a:bodyPr>
          <a:lstStyle/>
          <a:p>
            <a:pPr>
              <a:lnSpc>
                <a:spcPct val="104000"/>
              </a:lnSpc>
              <a:spcAft>
                <a:spcPts val="340"/>
              </a:spcAft>
              <a:defRPr sz="1700" b="0">
                <a:solidFill>
                  <a:srgbClr val="142D3D"/>
                </a:solidFill>
                <a:latin typeface="Arial"/>
              </a:defRPr>
            </a:pPr>
            <a:r>
              <a:t>Measure water with a suitable reference, e.g. Karl Fischer.</a:t>
            </a:r>
          </a:p>
        </p:txBody>
      </p:sp>
      <p:sp>
        <p:nvSpPr>
          <p:cNvPr id="26" name="Rounded Rectangle 25"/>
          <p:cNvSpPr/>
          <p:nvPr/>
        </p:nvSpPr>
        <p:spPr>
          <a:xfrm>
            <a:off x="685800" y="3739896"/>
            <a:ext cx="5330952" cy="1389888"/>
          </a:xfrm>
          <a:prstGeom prst="roundRect">
            <a:avLst>
              <a:gd name="adj" fmla="val 7894"/>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800" y="3739896"/>
            <a:ext cx="50292" cy="1389888"/>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 y="3913632"/>
            <a:ext cx="4928616" cy="594360"/>
          </a:xfrm>
          <a:prstGeom prst="rect">
            <a:avLst/>
          </a:prstGeom>
          <a:noFill/>
        </p:spPr>
        <p:txBody>
          <a:bodyPr wrap="square" lIns="0" rIns="0" tIns="0" bIns="0">
            <a:spAutoFit/>
          </a:bodyPr>
          <a:lstStyle/>
          <a:p>
            <a:pPr>
              <a:lnSpc>
                <a:spcPct val="104000"/>
              </a:lnSpc>
              <a:spcAft>
                <a:spcPts val="380"/>
              </a:spcAft>
              <a:defRPr sz="1900" b="1">
                <a:solidFill>
                  <a:srgbClr val="7549BE"/>
                </a:solidFill>
                <a:latin typeface="Arial"/>
              </a:defRPr>
            </a:pPr>
            <a:r>
              <a:t>03 · Compare concepts</a:t>
            </a:r>
          </a:p>
        </p:txBody>
      </p:sp>
      <p:sp>
        <p:nvSpPr>
          <p:cNvPr id="29" name="TextBox 28"/>
          <p:cNvSpPr txBox="1"/>
          <p:nvPr/>
        </p:nvSpPr>
        <p:spPr>
          <a:xfrm>
            <a:off x="886968" y="4498848"/>
            <a:ext cx="4928616" cy="585216"/>
          </a:xfrm>
          <a:prstGeom prst="rect">
            <a:avLst/>
          </a:prstGeom>
          <a:noFill/>
        </p:spPr>
        <p:txBody>
          <a:bodyPr wrap="square" lIns="0" rIns="0" tIns="0" bIns="0">
            <a:spAutoFit/>
          </a:bodyPr>
          <a:lstStyle/>
          <a:p>
            <a:pPr>
              <a:lnSpc>
                <a:spcPct val="104000"/>
              </a:lnSpc>
              <a:spcAft>
                <a:spcPts val="340"/>
              </a:spcAft>
              <a:defRPr sz="1700" b="0">
                <a:solidFill>
                  <a:srgbClr val="142D3D"/>
                </a:solidFill>
                <a:latin typeface="Arial"/>
              </a:defRPr>
            </a:pPr>
            <a:r>
              <a:t>NIR on the silica link vs MIR ATR with a confirmed IR link.</a:t>
            </a:r>
          </a:p>
        </p:txBody>
      </p:sp>
      <p:sp>
        <p:nvSpPr>
          <p:cNvPr id="30" name="Rounded Rectangle 29"/>
          <p:cNvSpPr/>
          <p:nvPr/>
        </p:nvSpPr>
        <p:spPr>
          <a:xfrm>
            <a:off x="6199632" y="3739896"/>
            <a:ext cx="5330952" cy="1389888"/>
          </a:xfrm>
          <a:prstGeom prst="roundRect">
            <a:avLst>
              <a:gd name="adj" fmla="val 7894"/>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99632" y="3739896"/>
            <a:ext cx="50292" cy="1389888"/>
          </a:xfrm>
          <a:prstGeom prst="rect">
            <a:avLst/>
          </a:prstGeom>
          <a:solidFill>
            <a:srgbClr val="208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3913632"/>
            <a:ext cx="4928616" cy="594360"/>
          </a:xfrm>
          <a:prstGeom prst="rect">
            <a:avLst/>
          </a:prstGeom>
          <a:noFill/>
        </p:spPr>
        <p:txBody>
          <a:bodyPr wrap="square" lIns="0" rIns="0" tIns="0" bIns="0">
            <a:spAutoFit/>
          </a:bodyPr>
          <a:lstStyle/>
          <a:p>
            <a:pPr>
              <a:lnSpc>
                <a:spcPct val="104000"/>
              </a:lnSpc>
              <a:spcAft>
                <a:spcPts val="380"/>
              </a:spcAft>
              <a:defRPr sz="1900" b="1">
                <a:solidFill>
                  <a:srgbClr val="20846B"/>
                </a:solidFill>
                <a:latin typeface="Arial"/>
              </a:defRPr>
            </a:pPr>
            <a:r>
              <a:t>04 · Decide with the client</a:t>
            </a:r>
          </a:p>
        </p:txBody>
      </p:sp>
      <p:sp>
        <p:nvSpPr>
          <p:cNvPr id="33" name="TextBox 32"/>
          <p:cNvSpPr txBox="1"/>
          <p:nvPr/>
        </p:nvSpPr>
        <p:spPr>
          <a:xfrm>
            <a:off x="6400800" y="4498848"/>
            <a:ext cx="4928616" cy="585216"/>
          </a:xfrm>
          <a:prstGeom prst="rect">
            <a:avLst/>
          </a:prstGeom>
          <a:noFill/>
        </p:spPr>
        <p:txBody>
          <a:bodyPr wrap="square" lIns="0" rIns="0" tIns="0" bIns="0">
            <a:spAutoFit/>
          </a:bodyPr>
          <a:lstStyle/>
          <a:p>
            <a:pPr>
              <a:lnSpc>
                <a:spcPct val="104000"/>
              </a:lnSpc>
              <a:spcAft>
                <a:spcPts val="340"/>
              </a:spcAft>
              <a:defRPr sz="1700" b="0">
                <a:solidFill>
                  <a:srgbClr val="142D3D"/>
                </a:solidFill>
                <a:latin typeface="Arial"/>
              </a:defRPr>
            </a:pPr>
            <a:r>
              <a:t>Use held-out samples; judge error, robustness and installation constraints.</a:t>
            </a:r>
          </a:p>
        </p:txBody>
      </p:sp>
      <p:sp>
        <p:nvSpPr>
          <p:cNvPr id="34" name="Rounded Rectangle 33"/>
          <p:cNvSpPr/>
          <p:nvPr/>
        </p:nvSpPr>
        <p:spPr>
          <a:xfrm>
            <a:off x="694944" y="5650992"/>
            <a:ext cx="10817352" cy="438912"/>
          </a:xfrm>
          <a:prstGeom prst="roundRect">
            <a:avLst>
              <a:gd name="adj" fmla="val 18000"/>
            </a:avLst>
          </a:prstGeom>
          <a:solidFill>
            <a:srgbClr val="E7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5769864"/>
            <a:ext cx="10451592" cy="228600"/>
          </a:xfrm>
          <a:prstGeom prst="rect">
            <a:avLst/>
          </a:prstGeom>
          <a:noFill/>
        </p:spPr>
        <p:txBody>
          <a:bodyPr wrap="square" lIns="0" rIns="0" tIns="0" bIns="0">
            <a:spAutoFit/>
          </a:bodyPr>
          <a:lstStyle/>
          <a:p>
            <a:pPr>
              <a:lnSpc>
                <a:spcPct val="104000"/>
              </a:lnSpc>
              <a:spcAft>
                <a:spcPts val="280"/>
              </a:spcAft>
              <a:defRPr sz="1400" b="1">
                <a:solidFill>
                  <a:srgbClr val="087F8C"/>
                </a:solidFill>
                <a:latin typeface="Arial"/>
              </a:defRPr>
            </a:pPr>
            <a:r>
              <a:t>Agree the target range, reference uncertainty and acceptance limits before validation.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21028" cy="50292"/>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1028" cy="50292"/>
          </a:xfrm>
          <a:prstGeom prst="rect">
            <a:avLst/>
          </a:prstGeom>
          <a:solidFill>
            <a:srgbClr val="655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1028" cy="50292"/>
          </a:xfrm>
          <a:prstGeom prst="rect">
            <a:avLst/>
          </a:prstGeom>
          <a:solidFill>
            <a:srgbClr val="456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1028" cy="50292"/>
          </a:xfrm>
          <a:prstGeom prst="rect">
            <a:avLst/>
          </a:prstGeom>
          <a:solidFill>
            <a:srgbClr val="268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1028" cy="50292"/>
          </a:xfrm>
          <a:prstGeom prst="rect">
            <a:avLst/>
          </a:prstGeom>
          <a:solidFill>
            <a:srgbClr val="149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1028" cy="50292"/>
          </a:xfrm>
          <a:prstGeom prst="rect">
            <a:avLst/>
          </a:prstGeom>
          <a:solidFill>
            <a:srgbClr val="269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1028" cy="50292"/>
          </a:xfrm>
          <a:prstGeom prst="rect">
            <a:avLst/>
          </a:prstGeom>
          <a:solidFill>
            <a:srgbClr val="75A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1028" cy="50292"/>
          </a:xfrm>
          <a:prstGeom prst="rect">
            <a:avLst/>
          </a:prstGeom>
          <a:solidFill>
            <a:srgbClr val="B6A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1028" cy="50292"/>
          </a:xfrm>
          <a:prstGeom prst="rect">
            <a:avLst/>
          </a:prstGeom>
          <a:solidFill>
            <a:srgbClr val="C5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1028" cy="50292"/>
          </a:xfrm>
          <a:prstGeom prst="rect">
            <a:avLst/>
          </a:prstGeom>
          <a:solidFill>
            <a:srgbClr val="B64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28600"/>
          </a:xfrm>
          <a:prstGeom prst="rect">
            <a:avLst/>
          </a:prstGeom>
          <a:noFill/>
        </p:spPr>
        <p:txBody>
          <a:bodyPr wrap="square" lIns="0" rIns="0" tIns="0" bIns="0">
            <a:spAutoFit/>
          </a:bodyPr>
          <a:lstStyle/>
          <a:p>
            <a:pPr>
              <a:lnSpc>
                <a:spcPct val="104000"/>
              </a:lnSpc>
              <a:spcAft>
                <a:spcPts val="210"/>
              </a:spcAft>
              <a:defRPr sz="1050" b="1">
                <a:solidFill>
                  <a:srgbClr val="087F8C"/>
                </a:solidFill>
                <a:latin typeface="Arial"/>
              </a:defRPr>
            </a:pPr>
            <a:r>
              <a:t>DEMO 03 · COACH + WHAT-IF</a:t>
            </a:r>
          </a:p>
        </p:txBody>
      </p:sp>
      <p:sp>
        <p:nvSpPr>
          <p:cNvPr id="13" name="TextBox 12"/>
          <p:cNvSpPr txBox="1"/>
          <p:nvPr/>
        </p:nvSpPr>
        <p:spPr>
          <a:xfrm>
            <a:off x="621792" y="841248"/>
            <a:ext cx="10972800" cy="621792"/>
          </a:xfrm>
          <a:prstGeom prst="rect">
            <a:avLst/>
          </a:prstGeom>
          <a:noFill/>
        </p:spPr>
        <p:txBody>
          <a:bodyPr wrap="square" lIns="0" rIns="0" tIns="0" bIns="0">
            <a:spAutoFit/>
          </a:bodyPr>
          <a:lstStyle/>
          <a:p>
            <a:pPr>
              <a:lnSpc>
                <a:spcPct val="104000"/>
              </a:lnSpc>
              <a:spcAft>
                <a:spcPts val="620"/>
              </a:spcAft>
              <a:defRPr sz="3100" b="1">
                <a:solidFill>
                  <a:srgbClr val="142D3D"/>
                </a:solidFill>
                <a:latin typeface="Arial"/>
              </a:defRPr>
            </a:pPr>
            <a:r>
              <a:t>More answers improve completeness.</a:t>
            </a:r>
          </a:p>
        </p:txBody>
      </p:sp>
      <p:sp>
        <p:nvSpPr>
          <p:cNvPr id="14" name="TextBox 13"/>
          <p:cNvSpPr txBox="1"/>
          <p:nvPr/>
        </p:nvSpPr>
        <p:spPr>
          <a:xfrm>
            <a:off x="640080" y="1517904"/>
            <a:ext cx="10927080" cy="438912"/>
          </a:xfrm>
          <a:prstGeom prst="rect">
            <a:avLst/>
          </a:prstGeom>
          <a:noFill/>
        </p:spPr>
        <p:txBody>
          <a:bodyPr wrap="square" lIns="0" rIns="0" tIns="0" bIns="0">
            <a:spAutoFit/>
          </a:bodyPr>
          <a:lstStyle/>
          <a:p>
            <a:pPr>
              <a:lnSpc>
                <a:spcPct val="104000"/>
              </a:lnSpc>
              <a:spcAft>
                <a:spcPts val="300"/>
              </a:spcAft>
              <a:defRPr sz="1500" b="0">
                <a:solidFill>
                  <a:srgbClr val="5D7280"/>
                </a:solidFill>
                <a:latin typeface="Arial"/>
              </a:defRPr>
            </a:pPr>
            <a:r>
              <a:t>The Coach shows what changed; confidence still reflects physical constraints.</a:t>
            </a:r>
          </a:p>
        </p:txBody>
      </p:sp>
      <p:cxnSp>
        <p:nvCxnSpPr>
          <p:cNvPr id="15" name="Connector 14"/>
          <p:cNvCxnSpPr/>
          <p:nvPr/>
        </p:nvCxnSpPr>
        <p:spPr>
          <a:xfrm>
            <a:off x="594360" y="6382512"/>
            <a:ext cx="11000232" cy="0"/>
          </a:xfrm>
          <a:prstGeom prst="line">
            <a:avLst/>
          </a:prstGeom>
          <a:ln w="1016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6492240"/>
            <a:ext cx="10104120" cy="155448"/>
          </a:xfrm>
          <a:prstGeom prst="rect">
            <a:avLst/>
          </a:prstGeom>
          <a:noFill/>
        </p:spPr>
        <p:txBody>
          <a:bodyPr wrap="square" lIns="0" rIns="0" tIns="0" bIns="0">
            <a:spAutoFit/>
          </a:bodyPr>
          <a:lstStyle/>
          <a:p>
            <a:pPr>
              <a:lnSpc>
                <a:spcPct val="104000"/>
              </a:lnSpc>
              <a:spcAft>
                <a:spcPts val="166"/>
              </a:spcAft>
              <a:defRPr sz="830" b="0">
                <a:solidFill>
                  <a:srgbClr val="5D7280"/>
                </a:solidFill>
                <a:latin typeface="Arial"/>
              </a:defRPr>
            </a:pPr>
            <a:r>
              <a:t>Actual local H04 demo · 990e8459a5 → c36bf79f5c · illustrative customer answers</a:t>
            </a:r>
          </a:p>
        </p:txBody>
      </p:sp>
      <p:sp>
        <p:nvSpPr>
          <p:cNvPr id="17" name="TextBox 16"/>
          <p:cNvSpPr txBox="1"/>
          <p:nvPr/>
        </p:nvSpPr>
        <p:spPr>
          <a:xfrm>
            <a:off x="10853928" y="6464808"/>
            <a:ext cx="731520" cy="210312"/>
          </a:xfrm>
          <a:prstGeom prst="rect">
            <a:avLst/>
          </a:prstGeom>
          <a:noFill/>
        </p:spPr>
        <p:txBody>
          <a:bodyPr wrap="square" lIns="0" rIns="0" tIns="0" bIns="0">
            <a:spAutoFit/>
          </a:bodyPr>
          <a:lstStyle/>
          <a:p>
            <a:pPr algn="r">
              <a:lnSpc>
                <a:spcPct val="104000"/>
              </a:lnSpc>
              <a:spcAft>
                <a:spcPts val="180"/>
              </a:spcAft>
              <a:defRPr sz="900" b="0">
                <a:solidFill>
                  <a:srgbClr val="5D7280"/>
                </a:solidFill>
                <a:latin typeface="Arial"/>
              </a:defRPr>
            </a:pPr>
            <a:r>
              <a:t>08 / 13</a:t>
            </a:r>
          </a:p>
        </p:txBody>
      </p:sp>
      <p:sp>
        <p:nvSpPr>
          <p:cNvPr id="18" name="Rounded Rectangle 17"/>
          <p:cNvSpPr/>
          <p:nvPr/>
        </p:nvSpPr>
        <p:spPr>
          <a:xfrm>
            <a:off x="685800" y="2075688"/>
            <a:ext cx="6675120" cy="3977639"/>
          </a:xfrm>
          <a:prstGeom prst="roundRect">
            <a:avLst>
              <a:gd name="adj" fmla="val 2758"/>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oach-after.png"/>
          <p:cNvPicPr>
            <a:picLocks noChangeAspect="1"/>
          </p:cNvPicPr>
          <p:nvPr/>
        </p:nvPicPr>
        <p:blipFill>
          <a:blip r:embed="rId2"/>
          <a:stretch>
            <a:fillRect/>
          </a:stretch>
        </p:blipFill>
        <p:spPr>
          <a:xfrm>
            <a:off x="1009497" y="2176272"/>
            <a:ext cx="6027724" cy="3767328"/>
          </a:xfrm>
          <a:prstGeom prst="rect">
            <a:avLst/>
          </a:prstGeom>
        </p:spPr>
      </p:pic>
      <p:sp>
        <p:nvSpPr>
          <p:cNvPr id="20" name="TextBox 19"/>
          <p:cNvSpPr txBox="1"/>
          <p:nvPr/>
        </p:nvSpPr>
        <p:spPr>
          <a:xfrm>
            <a:off x="7699248" y="2295144"/>
            <a:ext cx="3584448" cy="274320"/>
          </a:xfrm>
          <a:prstGeom prst="rect">
            <a:avLst/>
          </a:prstGeom>
          <a:noFill/>
        </p:spPr>
        <p:txBody>
          <a:bodyPr wrap="square" lIns="0" rIns="0" tIns="0" bIns="0">
            <a:spAutoFit/>
          </a:bodyPr>
          <a:lstStyle/>
          <a:p>
            <a:pPr>
              <a:lnSpc>
                <a:spcPct val="104000"/>
              </a:lnSpc>
              <a:spcAft>
                <a:spcPts val="210"/>
              </a:spcAft>
              <a:defRPr sz="1050" b="1">
                <a:solidFill>
                  <a:srgbClr val="5D7280"/>
                </a:solidFill>
                <a:latin typeface="Arial"/>
              </a:defRPr>
            </a:pPr>
            <a:r>
              <a:t>INFORMATION COMPLETENESS</a:t>
            </a:r>
          </a:p>
        </p:txBody>
      </p:sp>
      <p:sp>
        <p:nvSpPr>
          <p:cNvPr id="21" name="TextBox 20"/>
          <p:cNvSpPr txBox="1"/>
          <p:nvPr/>
        </p:nvSpPr>
        <p:spPr>
          <a:xfrm>
            <a:off x="7699248" y="2761488"/>
            <a:ext cx="3611880" cy="685800"/>
          </a:xfrm>
          <a:prstGeom prst="rect">
            <a:avLst/>
          </a:prstGeom>
          <a:noFill/>
        </p:spPr>
        <p:txBody>
          <a:bodyPr wrap="square" lIns="0" rIns="0" tIns="0" bIns="0">
            <a:spAutoFit/>
          </a:bodyPr>
          <a:lstStyle/>
          <a:p>
            <a:pPr>
              <a:lnSpc>
                <a:spcPct val="104000"/>
              </a:lnSpc>
              <a:spcAft>
                <a:spcPts val="620"/>
              </a:spcAft>
              <a:defRPr sz="3100" b="1">
                <a:solidFill>
                  <a:srgbClr val="087F8C"/>
                </a:solidFill>
                <a:latin typeface="Arial"/>
              </a:defRPr>
            </a:pPr>
            <a:r>
              <a:t>2 / 10 → 9 / 10</a:t>
            </a:r>
          </a:p>
        </p:txBody>
      </p:sp>
      <p:sp>
        <p:nvSpPr>
          <p:cNvPr id="22" name="TextBox 21"/>
          <p:cNvSpPr txBox="1"/>
          <p:nvPr/>
        </p:nvSpPr>
        <p:spPr>
          <a:xfrm>
            <a:off x="7717536" y="3685032"/>
            <a:ext cx="3557016" cy="274320"/>
          </a:xfrm>
          <a:prstGeom prst="rect">
            <a:avLst/>
          </a:prstGeom>
          <a:noFill/>
        </p:spPr>
        <p:txBody>
          <a:bodyPr wrap="square" lIns="0" rIns="0" tIns="0" bIns="0">
            <a:spAutoFit/>
          </a:bodyPr>
          <a:lstStyle/>
          <a:p>
            <a:pPr>
              <a:lnSpc>
                <a:spcPct val="104000"/>
              </a:lnSpc>
              <a:spcAft>
                <a:spcPts val="210"/>
              </a:spcAft>
              <a:defRPr sz="1050" b="1">
                <a:solidFill>
                  <a:srgbClr val="5D7280"/>
                </a:solidFill>
                <a:latin typeface="Arial"/>
              </a:defRPr>
            </a:pPr>
            <a:r>
              <a:t>CONFIDENCE</a:t>
            </a:r>
          </a:p>
        </p:txBody>
      </p:sp>
      <p:sp>
        <p:nvSpPr>
          <p:cNvPr id="23" name="Rounded Rectangle 22"/>
          <p:cNvSpPr/>
          <p:nvPr/>
        </p:nvSpPr>
        <p:spPr>
          <a:xfrm>
            <a:off x="7717536" y="4114800"/>
            <a:ext cx="3429000" cy="438912"/>
          </a:xfrm>
          <a:prstGeom prst="roundRect">
            <a:avLst>
              <a:gd name="adj" fmla="val 18000"/>
            </a:avLst>
          </a:prstGeom>
          <a:solidFill>
            <a:srgbClr val="FF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99831" y="4176064"/>
            <a:ext cx="3264408" cy="356616"/>
          </a:xfrm>
          <a:prstGeom prst="rect">
            <a:avLst/>
          </a:prstGeom>
          <a:noFill/>
        </p:spPr>
        <p:txBody>
          <a:bodyPr wrap="square" lIns="0" rIns="0" tIns="0" bIns="0">
            <a:spAutoFit/>
          </a:bodyPr>
          <a:lstStyle/>
          <a:p>
            <a:pPr algn="ctr">
              <a:lnSpc>
                <a:spcPct val="104000"/>
              </a:lnSpc>
              <a:spcAft>
                <a:spcPts val="340"/>
              </a:spcAft>
              <a:defRPr sz="1700" b="1">
                <a:solidFill>
                  <a:srgbClr val="AD6017"/>
                </a:solidFill>
                <a:latin typeface="Arial"/>
              </a:defRPr>
            </a:pPr>
            <a:r>
              <a:t>LOW → LOW</a:t>
            </a:r>
          </a:p>
        </p:txBody>
      </p:sp>
      <p:sp>
        <p:nvSpPr>
          <p:cNvPr id="25" name="TextBox 24"/>
          <p:cNvSpPr txBox="1"/>
          <p:nvPr/>
        </p:nvSpPr>
        <p:spPr>
          <a:xfrm>
            <a:off x="7717536" y="4736592"/>
            <a:ext cx="3538728" cy="978408"/>
          </a:xfrm>
          <a:prstGeom prst="rect">
            <a:avLst/>
          </a:prstGeom>
          <a:noFill/>
        </p:spPr>
        <p:txBody>
          <a:bodyPr wrap="square" lIns="0" rIns="0" tIns="0" bIns="0">
            <a:spAutoFit/>
          </a:bodyPr>
          <a:lstStyle/>
          <a:p>
            <a:pPr>
              <a:lnSpc>
                <a:spcPct val="104000"/>
              </a:lnSpc>
              <a:spcAft>
                <a:spcPts val="360"/>
              </a:spcAft>
              <a:defRPr sz="1800" b="0">
                <a:solidFill>
                  <a:srgbClr val="142D3D"/>
                </a:solidFill>
                <a:latin typeface="Arial"/>
              </a:defRPr>
            </a:pPr>
            <a:r>
              <a:t>The silica/MIR blocker remains.</a:t>
            </a:r>
          </a:p>
          <a:p>
            <a:pPr>
              <a:lnSpc>
                <a:spcPct val="104000"/>
              </a:lnSpc>
              <a:spcAft>
                <a:spcPts val="360"/>
              </a:spcAft>
              <a:defRPr sz="1800" b="0">
                <a:solidFill>
                  <a:srgbClr val="142D3D"/>
                </a:solidFill>
                <a:latin typeface="Arial"/>
              </a:defRPr>
            </a:pPr>
            <a:r>
              <a:t>The parent run and change summary remain visible.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21028" cy="50292"/>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1028" cy="50292"/>
          </a:xfrm>
          <a:prstGeom prst="rect">
            <a:avLst/>
          </a:prstGeom>
          <a:solidFill>
            <a:srgbClr val="655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1028" cy="50292"/>
          </a:xfrm>
          <a:prstGeom prst="rect">
            <a:avLst/>
          </a:prstGeom>
          <a:solidFill>
            <a:srgbClr val="456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1028" cy="50292"/>
          </a:xfrm>
          <a:prstGeom prst="rect">
            <a:avLst/>
          </a:prstGeom>
          <a:solidFill>
            <a:srgbClr val="268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1028" cy="50292"/>
          </a:xfrm>
          <a:prstGeom prst="rect">
            <a:avLst/>
          </a:prstGeom>
          <a:solidFill>
            <a:srgbClr val="149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1028" cy="50292"/>
          </a:xfrm>
          <a:prstGeom prst="rect">
            <a:avLst/>
          </a:prstGeom>
          <a:solidFill>
            <a:srgbClr val="269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1028" cy="50292"/>
          </a:xfrm>
          <a:prstGeom prst="rect">
            <a:avLst/>
          </a:prstGeom>
          <a:solidFill>
            <a:srgbClr val="75A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1028" cy="50292"/>
          </a:xfrm>
          <a:prstGeom prst="rect">
            <a:avLst/>
          </a:prstGeom>
          <a:solidFill>
            <a:srgbClr val="B6A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1028" cy="50292"/>
          </a:xfrm>
          <a:prstGeom prst="rect">
            <a:avLst/>
          </a:prstGeom>
          <a:solidFill>
            <a:srgbClr val="C5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1028" cy="50292"/>
          </a:xfrm>
          <a:prstGeom prst="rect">
            <a:avLst/>
          </a:prstGeom>
          <a:solidFill>
            <a:srgbClr val="B64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28600"/>
          </a:xfrm>
          <a:prstGeom prst="rect">
            <a:avLst/>
          </a:prstGeom>
          <a:noFill/>
        </p:spPr>
        <p:txBody>
          <a:bodyPr wrap="square" lIns="0" rIns="0" tIns="0" bIns="0">
            <a:spAutoFit/>
          </a:bodyPr>
          <a:lstStyle/>
          <a:p>
            <a:pPr>
              <a:lnSpc>
                <a:spcPct val="104000"/>
              </a:lnSpc>
              <a:spcAft>
                <a:spcPts val="210"/>
              </a:spcAft>
              <a:defRPr sz="1050" b="1">
                <a:solidFill>
                  <a:srgbClr val="087F8C"/>
                </a:solidFill>
                <a:latin typeface="Arial"/>
              </a:defRPr>
            </a:pPr>
            <a:r>
              <a:t>DEMO 04 · KNOWLEDGE-BASE EXPANSION</a:t>
            </a:r>
          </a:p>
        </p:txBody>
      </p:sp>
      <p:sp>
        <p:nvSpPr>
          <p:cNvPr id="13" name="TextBox 12"/>
          <p:cNvSpPr txBox="1"/>
          <p:nvPr/>
        </p:nvSpPr>
        <p:spPr>
          <a:xfrm>
            <a:off x="621792" y="841248"/>
            <a:ext cx="10972800" cy="621792"/>
          </a:xfrm>
          <a:prstGeom prst="rect">
            <a:avLst/>
          </a:prstGeom>
          <a:noFill/>
        </p:spPr>
        <p:txBody>
          <a:bodyPr wrap="square" lIns="0" rIns="0" tIns="0" bIns="0">
            <a:spAutoFit/>
          </a:bodyPr>
          <a:lstStyle/>
          <a:p>
            <a:pPr>
              <a:lnSpc>
                <a:spcPct val="104000"/>
              </a:lnSpc>
              <a:spcAft>
                <a:spcPts val="620"/>
              </a:spcAft>
              <a:defRPr sz="3100" b="1">
                <a:solidFill>
                  <a:srgbClr val="142D3D"/>
                </a:solidFill>
                <a:latin typeface="Arial"/>
              </a:defRPr>
            </a:pPr>
            <a:r>
              <a:t>New knowledge must survive a source check.</a:t>
            </a:r>
          </a:p>
        </p:txBody>
      </p:sp>
      <p:sp>
        <p:nvSpPr>
          <p:cNvPr id="14" name="TextBox 13"/>
          <p:cNvSpPr txBox="1"/>
          <p:nvPr/>
        </p:nvSpPr>
        <p:spPr>
          <a:xfrm>
            <a:off x="640080" y="1517904"/>
            <a:ext cx="10927080" cy="438912"/>
          </a:xfrm>
          <a:prstGeom prst="rect">
            <a:avLst/>
          </a:prstGeom>
          <a:noFill/>
        </p:spPr>
        <p:txBody>
          <a:bodyPr wrap="square" lIns="0" rIns="0" tIns="0" bIns="0">
            <a:spAutoFit/>
          </a:bodyPr>
          <a:lstStyle/>
          <a:p>
            <a:pPr>
              <a:lnSpc>
                <a:spcPct val="104000"/>
              </a:lnSpc>
              <a:spcAft>
                <a:spcPts val="300"/>
              </a:spcAft>
              <a:defRPr sz="1500" b="0">
                <a:solidFill>
                  <a:srgbClr val="5D7280"/>
                </a:solidFill>
                <a:latin typeface="Arial"/>
              </a:defRPr>
            </a:pPr>
            <a:r>
              <a:t>Register → validate the quote → save a version → rebuild the index</a:t>
            </a:r>
          </a:p>
        </p:txBody>
      </p:sp>
      <p:cxnSp>
        <p:nvCxnSpPr>
          <p:cNvPr id="15" name="Connector 14"/>
          <p:cNvCxnSpPr/>
          <p:nvPr/>
        </p:nvCxnSpPr>
        <p:spPr>
          <a:xfrm>
            <a:off x="594360" y="6382512"/>
            <a:ext cx="11000232" cy="0"/>
          </a:xfrm>
          <a:prstGeom prst="line">
            <a:avLst/>
          </a:prstGeom>
          <a:ln w="1016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6492240"/>
            <a:ext cx="10104120" cy="155448"/>
          </a:xfrm>
          <a:prstGeom prst="rect">
            <a:avLst/>
          </a:prstGeom>
          <a:noFill/>
        </p:spPr>
        <p:txBody>
          <a:bodyPr wrap="square" lIns="0" rIns="0" tIns="0" bIns="0">
            <a:spAutoFit/>
          </a:bodyPr>
          <a:lstStyle/>
          <a:p>
            <a:pPr>
              <a:lnSpc>
                <a:spcPct val="104000"/>
              </a:lnSpc>
              <a:spcAft>
                <a:spcPts val="166"/>
              </a:spcAft>
              <a:defRPr sz="830" b="0">
                <a:solidFill>
                  <a:srgbClr val="5D7280"/>
                </a:solidFill>
                <a:latin typeface="Arial"/>
              </a:defRPr>
            </a:pPr>
            <a:r>
              <a:t>Actual KB Editor and local API · isolated S01 excerpt demo · 281 → 283 records</a:t>
            </a:r>
          </a:p>
        </p:txBody>
      </p:sp>
      <p:sp>
        <p:nvSpPr>
          <p:cNvPr id="17" name="TextBox 16"/>
          <p:cNvSpPr txBox="1"/>
          <p:nvPr/>
        </p:nvSpPr>
        <p:spPr>
          <a:xfrm>
            <a:off x="10853928" y="6464808"/>
            <a:ext cx="731520" cy="210312"/>
          </a:xfrm>
          <a:prstGeom prst="rect">
            <a:avLst/>
          </a:prstGeom>
          <a:noFill/>
        </p:spPr>
        <p:txBody>
          <a:bodyPr wrap="square" lIns="0" rIns="0" tIns="0" bIns="0">
            <a:spAutoFit/>
          </a:bodyPr>
          <a:lstStyle/>
          <a:p>
            <a:pPr algn="r">
              <a:lnSpc>
                <a:spcPct val="104000"/>
              </a:lnSpc>
              <a:spcAft>
                <a:spcPts val="180"/>
              </a:spcAft>
              <a:defRPr sz="900" b="0">
                <a:solidFill>
                  <a:srgbClr val="5D7280"/>
                </a:solidFill>
                <a:latin typeface="Arial"/>
              </a:defRPr>
            </a:pPr>
            <a:r>
              <a:t>09 / 13</a:t>
            </a:r>
          </a:p>
        </p:txBody>
      </p:sp>
      <p:sp>
        <p:nvSpPr>
          <p:cNvPr id="18" name="Rounded Rectangle 17"/>
          <p:cNvSpPr/>
          <p:nvPr/>
        </p:nvSpPr>
        <p:spPr>
          <a:xfrm>
            <a:off x="685800" y="2084831"/>
            <a:ext cx="3511296" cy="301752"/>
          </a:xfrm>
          <a:prstGeom prst="roundRect">
            <a:avLst>
              <a:gd name="adj" fmla="val 18000"/>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146096"/>
            <a:ext cx="3346703" cy="219456"/>
          </a:xfrm>
          <a:prstGeom prst="rect">
            <a:avLst/>
          </a:prstGeom>
          <a:noFill/>
        </p:spPr>
        <p:txBody>
          <a:bodyPr wrap="square" lIns="0" rIns="0" tIns="0" bIns="0">
            <a:spAutoFit/>
          </a:bodyPr>
          <a:lstStyle/>
          <a:p>
            <a:pPr algn="ctr">
              <a:lnSpc>
                <a:spcPct val="104000"/>
              </a:lnSpc>
              <a:spcAft>
                <a:spcPts val="260"/>
              </a:spcAft>
              <a:defRPr sz="1300" b="1">
                <a:solidFill>
                  <a:srgbClr val="7549BE"/>
                </a:solidFill>
                <a:latin typeface="Arial"/>
              </a:defRPr>
            </a:pPr>
            <a:r>
              <a:t>01  Upload + scope</a:t>
            </a:r>
          </a:p>
        </p:txBody>
      </p:sp>
      <p:sp>
        <p:nvSpPr>
          <p:cNvPr id="20" name="Rounded Rectangle 19"/>
          <p:cNvSpPr/>
          <p:nvPr/>
        </p:nvSpPr>
        <p:spPr>
          <a:xfrm>
            <a:off x="4361688" y="2084831"/>
            <a:ext cx="3511296" cy="301752"/>
          </a:xfrm>
          <a:prstGeom prst="roundRect">
            <a:avLst>
              <a:gd name="adj" fmla="val 18000"/>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43983" y="2146096"/>
            <a:ext cx="3346703" cy="219456"/>
          </a:xfrm>
          <a:prstGeom prst="rect">
            <a:avLst/>
          </a:prstGeom>
          <a:noFill/>
        </p:spPr>
        <p:txBody>
          <a:bodyPr wrap="square" lIns="0" rIns="0" tIns="0" bIns="0">
            <a:spAutoFit/>
          </a:bodyPr>
          <a:lstStyle/>
          <a:p>
            <a:pPr algn="ctr">
              <a:lnSpc>
                <a:spcPct val="104000"/>
              </a:lnSpc>
              <a:spcAft>
                <a:spcPts val="260"/>
              </a:spcAft>
              <a:defRPr sz="1300" b="1">
                <a:solidFill>
                  <a:srgbClr val="2864CC"/>
                </a:solidFill>
                <a:latin typeface="Arial"/>
              </a:defRPr>
            </a:pPr>
            <a:r>
              <a:t>02  Check + diff</a:t>
            </a:r>
          </a:p>
        </p:txBody>
      </p:sp>
      <p:sp>
        <p:nvSpPr>
          <p:cNvPr id="22" name="Rounded Rectangle 21"/>
          <p:cNvSpPr/>
          <p:nvPr/>
        </p:nvSpPr>
        <p:spPr>
          <a:xfrm>
            <a:off x="8037575" y="2084831"/>
            <a:ext cx="3511296" cy="301752"/>
          </a:xfrm>
          <a:prstGeom prst="roundRect">
            <a:avLst>
              <a:gd name="adj" fmla="val 18000"/>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19871" y="2146096"/>
            <a:ext cx="3346703" cy="219456"/>
          </a:xfrm>
          <a:prstGeom prst="rect">
            <a:avLst/>
          </a:prstGeom>
          <a:noFill/>
        </p:spPr>
        <p:txBody>
          <a:bodyPr wrap="square" lIns="0" rIns="0" tIns="0" bIns="0">
            <a:spAutoFit/>
          </a:bodyPr>
          <a:lstStyle/>
          <a:p>
            <a:pPr algn="ctr">
              <a:lnSpc>
                <a:spcPct val="104000"/>
              </a:lnSpc>
              <a:spcAft>
                <a:spcPts val="260"/>
              </a:spcAft>
              <a:defRPr sz="1300" b="1">
                <a:solidFill>
                  <a:srgbClr val="087F8C"/>
                </a:solidFill>
                <a:latin typeface="Arial"/>
              </a:defRPr>
            </a:pPr>
            <a:r>
              <a:t>03  Version + rebuild</a:t>
            </a:r>
          </a:p>
        </p:txBody>
      </p:sp>
      <p:sp>
        <p:nvSpPr>
          <p:cNvPr id="24" name="Rounded Rectangle 23"/>
          <p:cNvSpPr/>
          <p:nvPr/>
        </p:nvSpPr>
        <p:spPr>
          <a:xfrm>
            <a:off x="685800" y="2651760"/>
            <a:ext cx="3511296" cy="3154680"/>
          </a:xfrm>
          <a:prstGeom prst="roundRect">
            <a:avLst>
              <a:gd name="adj" fmla="val 3478"/>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kb-register.png"/>
          <p:cNvPicPr>
            <a:picLocks noChangeAspect="1"/>
          </p:cNvPicPr>
          <p:nvPr/>
        </p:nvPicPr>
        <p:blipFill>
          <a:blip r:embed="rId2"/>
          <a:stretch>
            <a:fillRect/>
          </a:stretch>
        </p:blipFill>
        <p:spPr>
          <a:xfrm>
            <a:off x="758952" y="3438975"/>
            <a:ext cx="3364992" cy="1516241"/>
          </a:xfrm>
          <a:prstGeom prst="rect">
            <a:avLst/>
          </a:prstGeom>
        </p:spPr>
      </p:pic>
      <p:sp>
        <p:nvSpPr>
          <p:cNvPr id="26" name="Rounded Rectangle 25"/>
          <p:cNvSpPr/>
          <p:nvPr/>
        </p:nvSpPr>
        <p:spPr>
          <a:xfrm>
            <a:off x="4361688" y="2651760"/>
            <a:ext cx="3511296" cy="1143000"/>
          </a:xfrm>
          <a:prstGeom prst="roundRect">
            <a:avLst>
              <a:gd name="adj" fmla="val 9600"/>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kb-rejected-quote.png"/>
          <p:cNvPicPr>
            <a:picLocks noChangeAspect="1"/>
          </p:cNvPicPr>
          <p:nvPr/>
        </p:nvPicPr>
        <p:blipFill>
          <a:blip r:embed="rId3"/>
          <a:srcRect b="57000"/>
          <a:stretch>
            <a:fillRect/>
          </a:stretch>
        </p:blipFill>
        <p:spPr>
          <a:xfrm>
            <a:off x="4434840" y="2952481"/>
            <a:ext cx="3364992" cy="477549"/>
          </a:xfrm>
          <a:prstGeom prst="rect">
            <a:avLst/>
          </a:prstGeom>
        </p:spPr>
      </p:pic>
      <p:sp>
        <p:nvSpPr>
          <p:cNvPr id="28" name="Rounded Rectangle 27"/>
          <p:cNvSpPr/>
          <p:nvPr/>
        </p:nvSpPr>
        <p:spPr>
          <a:xfrm>
            <a:off x="4361688" y="3941063"/>
            <a:ext cx="3511296" cy="1865376"/>
          </a:xfrm>
          <a:prstGeom prst="roundRect">
            <a:avLst>
              <a:gd name="adj" fmla="val 5882"/>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kb-validated-diff.png"/>
          <p:cNvPicPr>
            <a:picLocks noChangeAspect="1"/>
          </p:cNvPicPr>
          <p:nvPr/>
        </p:nvPicPr>
        <p:blipFill>
          <a:blip r:embed="rId4"/>
          <a:stretch>
            <a:fillRect/>
          </a:stretch>
        </p:blipFill>
        <p:spPr>
          <a:xfrm>
            <a:off x="4434840" y="4315136"/>
            <a:ext cx="3364992" cy="1080654"/>
          </a:xfrm>
          <a:prstGeom prst="rect">
            <a:avLst/>
          </a:prstGeom>
        </p:spPr>
      </p:pic>
      <p:sp>
        <p:nvSpPr>
          <p:cNvPr id="30" name="Rounded Rectangle 29"/>
          <p:cNvSpPr/>
          <p:nvPr/>
        </p:nvSpPr>
        <p:spPr>
          <a:xfrm>
            <a:off x="8037575" y="2651760"/>
            <a:ext cx="3511296" cy="3154680"/>
          </a:xfrm>
          <a:prstGeom prst="roundRect">
            <a:avLst>
              <a:gd name="adj" fmla="val 3478"/>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kb-version-history.png"/>
          <p:cNvPicPr>
            <a:picLocks noChangeAspect="1"/>
          </p:cNvPicPr>
          <p:nvPr/>
        </p:nvPicPr>
        <p:blipFill>
          <a:blip r:embed="rId5"/>
          <a:stretch>
            <a:fillRect/>
          </a:stretch>
        </p:blipFill>
        <p:spPr>
          <a:xfrm>
            <a:off x="8119872" y="3097024"/>
            <a:ext cx="3346704" cy="499359"/>
          </a:xfrm>
          <a:prstGeom prst="rect">
            <a:avLst/>
          </a:prstGeom>
        </p:spPr>
      </p:pic>
      <p:sp>
        <p:nvSpPr>
          <p:cNvPr id="32" name="TextBox 31"/>
          <p:cNvSpPr txBox="1"/>
          <p:nvPr/>
        </p:nvSpPr>
        <p:spPr>
          <a:xfrm>
            <a:off x="8247888" y="4197096"/>
            <a:ext cx="3063240" cy="530352"/>
          </a:xfrm>
          <a:prstGeom prst="rect">
            <a:avLst/>
          </a:prstGeom>
          <a:noFill/>
        </p:spPr>
        <p:txBody>
          <a:bodyPr wrap="square" lIns="0" rIns="0" tIns="0" bIns="0">
            <a:spAutoFit/>
          </a:bodyPr>
          <a:lstStyle/>
          <a:p>
            <a:pPr>
              <a:lnSpc>
                <a:spcPct val="104000"/>
              </a:lnSpc>
              <a:spcAft>
                <a:spcPts val="600"/>
              </a:spcAft>
              <a:defRPr sz="3000" b="1">
                <a:solidFill>
                  <a:srgbClr val="087F8C"/>
                </a:solidFill>
                <a:latin typeface="Arial"/>
              </a:defRPr>
            </a:pPr>
            <a:r>
              <a:t>281 → 283</a:t>
            </a:r>
          </a:p>
        </p:txBody>
      </p:sp>
      <p:sp>
        <p:nvSpPr>
          <p:cNvPr id="33" name="TextBox 32"/>
          <p:cNvSpPr txBox="1"/>
          <p:nvPr/>
        </p:nvSpPr>
        <p:spPr>
          <a:xfrm>
            <a:off x="8257031" y="4828032"/>
            <a:ext cx="3008376" cy="621792"/>
          </a:xfrm>
          <a:prstGeom prst="rect">
            <a:avLst/>
          </a:prstGeom>
          <a:noFill/>
        </p:spPr>
        <p:txBody>
          <a:bodyPr wrap="square" lIns="0" rIns="0" tIns="0" bIns="0">
            <a:spAutoFit/>
          </a:bodyPr>
          <a:lstStyle/>
          <a:p>
            <a:pPr>
              <a:lnSpc>
                <a:spcPct val="104000"/>
              </a:lnSpc>
              <a:spcAft>
                <a:spcPts val="340"/>
              </a:spcAft>
              <a:defRPr sz="1700" b="0">
                <a:solidFill>
                  <a:srgbClr val="142D3D"/>
                </a:solidFill>
                <a:latin typeface="Arial"/>
              </a:defRPr>
            </a:pPr>
            <a:r>
              <a:t>+1 document excerpt</a:t>
            </a:r>
          </a:p>
          <a:p>
            <a:pPr>
              <a:lnSpc>
                <a:spcPct val="104000"/>
              </a:lnSpc>
              <a:spcAft>
                <a:spcPts val="340"/>
              </a:spcAft>
              <a:defRPr sz="1700" b="0">
                <a:solidFill>
                  <a:srgbClr val="142D3D"/>
                </a:solidFill>
                <a:latin typeface="Arial"/>
              </a:defRPr>
            </a:pPr>
            <a:r>
              <a:t>+1 verified claim card</a:t>
            </a:r>
          </a:p>
        </p:txBody>
      </p:sp>
      <p:sp>
        <p:nvSpPr>
          <p:cNvPr id="34" name="TextBox 33"/>
          <p:cNvSpPr txBox="1"/>
          <p:nvPr/>
        </p:nvSpPr>
        <p:spPr>
          <a:xfrm>
            <a:off x="713232" y="5989320"/>
            <a:ext cx="10680192" cy="201168"/>
          </a:xfrm>
          <a:prstGeom prst="rect">
            <a:avLst/>
          </a:prstGeom>
          <a:noFill/>
        </p:spPr>
        <p:txBody>
          <a:bodyPr wrap="square" lIns="0" rIns="0" tIns="0" bIns="0">
            <a:spAutoFit/>
          </a:bodyPr>
          <a:lstStyle/>
          <a:p>
            <a:pPr>
              <a:lnSpc>
                <a:spcPct val="104000"/>
              </a:lnSpc>
              <a:spcAft>
                <a:spcPts val="240"/>
              </a:spcAft>
              <a:defRPr sz="1200" b="0">
                <a:solidFill>
                  <a:srgbClr val="5D7280"/>
                </a:solidFill>
                <a:latin typeface="Arial"/>
              </a:defRPr>
            </a:pPr>
            <a:r>
              <a:t>The excerpt reuses supplied S01 evidence. Expansion does not create new scientific validation.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21028" cy="50292"/>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1028" cy="50292"/>
          </a:xfrm>
          <a:prstGeom prst="rect">
            <a:avLst/>
          </a:prstGeom>
          <a:solidFill>
            <a:srgbClr val="655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1028" cy="50292"/>
          </a:xfrm>
          <a:prstGeom prst="rect">
            <a:avLst/>
          </a:prstGeom>
          <a:solidFill>
            <a:srgbClr val="456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1028" cy="50292"/>
          </a:xfrm>
          <a:prstGeom prst="rect">
            <a:avLst/>
          </a:prstGeom>
          <a:solidFill>
            <a:srgbClr val="268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1028" cy="50292"/>
          </a:xfrm>
          <a:prstGeom prst="rect">
            <a:avLst/>
          </a:prstGeom>
          <a:solidFill>
            <a:srgbClr val="149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1028" cy="50292"/>
          </a:xfrm>
          <a:prstGeom prst="rect">
            <a:avLst/>
          </a:prstGeom>
          <a:solidFill>
            <a:srgbClr val="269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1028" cy="50292"/>
          </a:xfrm>
          <a:prstGeom prst="rect">
            <a:avLst/>
          </a:prstGeom>
          <a:solidFill>
            <a:srgbClr val="75A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1028" cy="50292"/>
          </a:xfrm>
          <a:prstGeom prst="rect">
            <a:avLst/>
          </a:prstGeom>
          <a:solidFill>
            <a:srgbClr val="B6A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1028" cy="50292"/>
          </a:xfrm>
          <a:prstGeom prst="rect">
            <a:avLst/>
          </a:prstGeom>
          <a:solidFill>
            <a:srgbClr val="C5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1028" cy="50292"/>
          </a:xfrm>
          <a:prstGeom prst="rect">
            <a:avLst/>
          </a:prstGeom>
          <a:solidFill>
            <a:srgbClr val="B64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28600"/>
          </a:xfrm>
          <a:prstGeom prst="rect">
            <a:avLst/>
          </a:prstGeom>
          <a:noFill/>
        </p:spPr>
        <p:txBody>
          <a:bodyPr wrap="square" lIns="0" rIns="0" tIns="0" bIns="0">
            <a:spAutoFit/>
          </a:bodyPr>
          <a:lstStyle/>
          <a:p>
            <a:pPr>
              <a:lnSpc>
                <a:spcPct val="104000"/>
              </a:lnSpc>
              <a:spcAft>
                <a:spcPts val="210"/>
              </a:spcAft>
              <a:defRPr sz="1050" b="1">
                <a:solidFill>
                  <a:srgbClr val="087F8C"/>
                </a:solidFill>
                <a:latin typeface="Arial"/>
              </a:defRPr>
            </a:pPr>
            <a:r>
              <a:t>EVALUATION FINDINGS</a:t>
            </a:r>
          </a:p>
        </p:txBody>
      </p:sp>
      <p:sp>
        <p:nvSpPr>
          <p:cNvPr id="13" name="TextBox 12"/>
          <p:cNvSpPr txBox="1"/>
          <p:nvPr/>
        </p:nvSpPr>
        <p:spPr>
          <a:xfrm>
            <a:off x="621792" y="841248"/>
            <a:ext cx="10972800" cy="621792"/>
          </a:xfrm>
          <a:prstGeom prst="rect">
            <a:avLst/>
          </a:prstGeom>
          <a:noFill/>
        </p:spPr>
        <p:txBody>
          <a:bodyPr wrap="square" lIns="0" rIns="0" tIns="0" bIns="0">
            <a:spAutoFit/>
          </a:bodyPr>
          <a:lstStyle/>
          <a:p>
            <a:pPr>
              <a:lnSpc>
                <a:spcPct val="104000"/>
              </a:lnSpc>
              <a:spcAft>
                <a:spcPts val="620"/>
              </a:spcAft>
              <a:defRPr sz="3100" b="1">
                <a:solidFill>
                  <a:srgbClr val="142D3D"/>
                </a:solidFill>
                <a:latin typeface="Arial"/>
              </a:defRPr>
            </a:pPr>
            <a:r>
              <a:t>Three priorities before stronger performance claims.</a:t>
            </a:r>
          </a:p>
        </p:txBody>
      </p:sp>
      <p:sp>
        <p:nvSpPr>
          <p:cNvPr id="14" name="TextBox 13"/>
          <p:cNvSpPr txBox="1"/>
          <p:nvPr/>
        </p:nvSpPr>
        <p:spPr>
          <a:xfrm>
            <a:off x="640080" y="1517904"/>
            <a:ext cx="10927080" cy="438912"/>
          </a:xfrm>
          <a:prstGeom prst="rect">
            <a:avLst/>
          </a:prstGeom>
          <a:noFill/>
        </p:spPr>
        <p:txBody>
          <a:bodyPr wrap="square" lIns="0" rIns="0" tIns="0" bIns="0">
            <a:spAutoFit/>
          </a:bodyPr>
          <a:lstStyle/>
          <a:p>
            <a:pPr>
              <a:lnSpc>
                <a:spcPct val="104000"/>
              </a:lnSpc>
              <a:spcAft>
                <a:spcPts val="300"/>
              </a:spcAft>
              <a:defRPr sz="1500" b="0">
                <a:solidFill>
                  <a:srgbClr val="5D7280"/>
                </a:solidFill>
                <a:latin typeface="Arial"/>
              </a:defRPr>
            </a:pPr>
            <a:r>
              <a:t>The prototype exposes failure signals; some checks still miss or misclassify claims.</a:t>
            </a:r>
          </a:p>
        </p:txBody>
      </p:sp>
      <p:cxnSp>
        <p:nvCxnSpPr>
          <p:cNvPr id="15" name="Connector 14"/>
          <p:cNvCxnSpPr/>
          <p:nvPr/>
        </p:nvCxnSpPr>
        <p:spPr>
          <a:xfrm>
            <a:off x="594360" y="6382512"/>
            <a:ext cx="11000232" cy="0"/>
          </a:xfrm>
          <a:prstGeom prst="line">
            <a:avLst/>
          </a:prstGeom>
          <a:ln w="1016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6492240"/>
            <a:ext cx="10104120" cy="155448"/>
          </a:xfrm>
          <a:prstGeom prst="rect">
            <a:avLst/>
          </a:prstGeom>
          <a:noFill/>
        </p:spPr>
        <p:txBody>
          <a:bodyPr wrap="square" lIns="0" rIns="0" tIns="0" bIns="0">
            <a:spAutoFit/>
          </a:bodyPr>
          <a:lstStyle/>
          <a:p>
            <a:pPr>
              <a:lnSpc>
                <a:spcPct val="104000"/>
              </a:lnSpc>
              <a:spcAft>
                <a:spcPts val="166"/>
              </a:spcAft>
              <a:defRPr sz="830" b="0">
                <a:solidFill>
                  <a:srgbClr val="5D7280"/>
                </a:solidFill>
                <a:latin typeface="Arial"/>
              </a:defRPr>
            </a:pPr>
            <a:r>
              <a:t>Council archive audit; verify.py / quality.py; fresh 21-case rule-only baseline</a:t>
            </a:r>
          </a:p>
        </p:txBody>
      </p:sp>
      <p:sp>
        <p:nvSpPr>
          <p:cNvPr id="17" name="TextBox 16"/>
          <p:cNvSpPr txBox="1"/>
          <p:nvPr/>
        </p:nvSpPr>
        <p:spPr>
          <a:xfrm>
            <a:off x="10853928" y="6464808"/>
            <a:ext cx="731520" cy="210312"/>
          </a:xfrm>
          <a:prstGeom prst="rect">
            <a:avLst/>
          </a:prstGeom>
          <a:noFill/>
        </p:spPr>
        <p:txBody>
          <a:bodyPr wrap="square" lIns="0" rIns="0" tIns="0" bIns="0">
            <a:spAutoFit/>
          </a:bodyPr>
          <a:lstStyle/>
          <a:p>
            <a:pPr algn="r">
              <a:lnSpc>
                <a:spcPct val="104000"/>
              </a:lnSpc>
              <a:spcAft>
                <a:spcPts val="180"/>
              </a:spcAft>
              <a:defRPr sz="900" b="0">
                <a:solidFill>
                  <a:srgbClr val="5D7280"/>
                </a:solidFill>
                <a:latin typeface="Arial"/>
              </a:defRPr>
            </a:pPr>
            <a:r>
              <a:t>10 / 13</a:t>
            </a:r>
          </a:p>
        </p:txBody>
      </p:sp>
      <p:sp>
        <p:nvSpPr>
          <p:cNvPr id="18" name="Rounded Rectangle 17"/>
          <p:cNvSpPr/>
          <p:nvPr/>
        </p:nvSpPr>
        <p:spPr>
          <a:xfrm>
            <a:off x="685800" y="2157984"/>
            <a:ext cx="3511296" cy="2660904"/>
          </a:xfrm>
          <a:prstGeom prst="roundRect">
            <a:avLst>
              <a:gd name="adj" fmla="val 4123"/>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2157984"/>
            <a:ext cx="50292" cy="2660904"/>
          </a:xfrm>
          <a:prstGeom prst="rect">
            <a:avLst/>
          </a:prstGeom>
          <a:solidFill>
            <a:srgbClr val="B43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331720"/>
            <a:ext cx="3108960" cy="594360"/>
          </a:xfrm>
          <a:prstGeom prst="rect">
            <a:avLst/>
          </a:prstGeom>
          <a:noFill/>
        </p:spPr>
        <p:txBody>
          <a:bodyPr wrap="square" lIns="0" rIns="0" tIns="0" bIns="0">
            <a:spAutoFit/>
          </a:bodyPr>
          <a:lstStyle/>
          <a:p>
            <a:pPr>
              <a:lnSpc>
                <a:spcPct val="104000"/>
              </a:lnSpc>
              <a:spcAft>
                <a:spcPts val="380"/>
              </a:spcAft>
              <a:defRPr sz="1900" b="1">
                <a:solidFill>
                  <a:srgbClr val="B43C37"/>
                </a:solidFill>
                <a:latin typeface="Arial"/>
              </a:defRPr>
            </a:pPr>
            <a:r>
              <a:t>Ground every section</a:t>
            </a:r>
          </a:p>
        </p:txBody>
      </p:sp>
      <p:sp>
        <p:nvSpPr>
          <p:cNvPr id="21" name="TextBox 20"/>
          <p:cNvSpPr txBox="1"/>
          <p:nvPr/>
        </p:nvSpPr>
        <p:spPr>
          <a:xfrm>
            <a:off x="886968" y="2916936"/>
            <a:ext cx="3108960" cy="1856232"/>
          </a:xfrm>
          <a:prstGeom prst="rect">
            <a:avLst/>
          </a:prstGeom>
          <a:noFill/>
        </p:spPr>
        <p:txBody>
          <a:bodyPr wrap="square" lIns="0" rIns="0" tIns="0" bIns="0">
            <a:spAutoFit/>
          </a:bodyPr>
          <a:lstStyle/>
          <a:p>
            <a:pPr>
              <a:lnSpc>
                <a:spcPct val="104000"/>
              </a:lnSpc>
              <a:spcAft>
                <a:spcPts val="340"/>
              </a:spcAft>
              <a:defRPr sz="1700" b="0">
                <a:solidFill>
                  <a:srgbClr val="142D3D"/>
                </a:solidFill>
                <a:latin typeface="Arial"/>
              </a:defRPr>
            </a:pPr>
            <a:r>
              <a:t>H02 + H05: 4 number flags.</a:t>
            </a:r>
          </a:p>
          <a:p>
            <a:pPr>
              <a:lnSpc>
                <a:spcPct val="104000"/>
              </a:lnSpc>
              <a:spcAft>
                <a:spcPts val="340"/>
              </a:spcAft>
              <a:defRPr sz="1700" b="0">
                <a:solidFill>
                  <a:srgbClr val="142D3D"/>
                </a:solidFill>
                <a:latin typeface="Arial"/>
              </a:defRPr>
            </a:pPr>
            <a:r>
              <a:t>H04: S11 absent from registry.</a:t>
            </a:r>
          </a:p>
          <a:p>
            <a:pPr>
              <a:lnSpc>
                <a:spcPct val="104000"/>
              </a:lnSpc>
              <a:spcAft>
                <a:spcPts val="340"/>
              </a:spcAft>
              <a:defRPr sz="1700" b="0">
                <a:solidFill>
                  <a:srgbClr val="142D3D"/>
                </a:solidFill>
                <a:latin typeface="Arial"/>
              </a:defRPr>
            </a:pPr>
            <a:r>
              <a:t>An R² threshold escapes the number counter.</a:t>
            </a:r>
          </a:p>
        </p:txBody>
      </p:sp>
      <p:sp>
        <p:nvSpPr>
          <p:cNvPr id="22" name="Rounded Rectangle 21"/>
          <p:cNvSpPr/>
          <p:nvPr/>
        </p:nvSpPr>
        <p:spPr>
          <a:xfrm>
            <a:off x="4361688" y="2157984"/>
            <a:ext cx="3511296" cy="2660904"/>
          </a:xfrm>
          <a:prstGeom prst="roundRect">
            <a:avLst>
              <a:gd name="adj" fmla="val 4123"/>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61688" y="2157984"/>
            <a:ext cx="50292" cy="2660904"/>
          </a:xfrm>
          <a:prstGeom prst="rect">
            <a:avLst/>
          </a:prstGeom>
          <a:solidFill>
            <a:srgbClr val="AD6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62855" y="2331720"/>
            <a:ext cx="3108960" cy="594360"/>
          </a:xfrm>
          <a:prstGeom prst="rect">
            <a:avLst/>
          </a:prstGeom>
          <a:noFill/>
        </p:spPr>
        <p:txBody>
          <a:bodyPr wrap="square" lIns="0" rIns="0" tIns="0" bIns="0">
            <a:spAutoFit/>
          </a:bodyPr>
          <a:lstStyle/>
          <a:p>
            <a:pPr>
              <a:lnSpc>
                <a:spcPct val="104000"/>
              </a:lnSpc>
              <a:spcAft>
                <a:spcPts val="380"/>
              </a:spcAft>
              <a:defRPr sz="1900" b="1">
                <a:solidFill>
                  <a:srgbClr val="AD6017"/>
                </a:solidFill>
                <a:latin typeface="Arial"/>
              </a:defRPr>
            </a:pPr>
            <a:r>
              <a:t>Tighten decision gates</a:t>
            </a:r>
          </a:p>
        </p:txBody>
      </p:sp>
      <p:sp>
        <p:nvSpPr>
          <p:cNvPr id="25" name="TextBox 24"/>
          <p:cNvSpPr txBox="1"/>
          <p:nvPr/>
        </p:nvSpPr>
        <p:spPr>
          <a:xfrm>
            <a:off x="4562855" y="2916936"/>
            <a:ext cx="3108960" cy="1856232"/>
          </a:xfrm>
          <a:prstGeom prst="rect">
            <a:avLst/>
          </a:prstGeom>
          <a:noFill/>
        </p:spPr>
        <p:txBody>
          <a:bodyPr wrap="square" lIns="0" rIns="0" tIns="0" bIns="0">
            <a:spAutoFit/>
          </a:bodyPr>
          <a:lstStyle/>
          <a:p>
            <a:pPr>
              <a:lnSpc>
                <a:spcPct val="104000"/>
              </a:lnSpc>
              <a:spcAft>
                <a:spcPts val="340"/>
              </a:spcAft>
              <a:defRPr sz="1700" b="0">
                <a:solidFill>
                  <a:srgbClr val="142D3D"/>
                </a:solidFill>
                <a:latin typeface="Arial"/>
              </a:defRPr>
            </a:pPr>
            <a:r>
              <a:t>H05: undefined target still provisional.</a:t>
            </a:r>
          </a:p>
          <a:p>
            <a:pPr>
              <a:lnSpc>
                <a:spcPct val="104000"/>
              </a:lnSpc>
              <a:spcAft>
                <a:spcPts val="340"/>
              </a:spcAft>
              <a:defRPr sz="1700" b="0">
                <a:solidFill>
                  <a:srgbClr val="142D3D"/>
                </a:solidFill>
                <a:latin typeface="Arial"/>
              </a:defRPr>
            </a:pPr>
            <a:r>
              <a:t>Negation and units can trigger false warnings.</a:t>
            </a:r>
          </a:p>
          <a:p>
            <a:pPr>
              <a:lnSpc>
                <a:spcPct val="104000"/>
              </a:lnSpc>
              <a:spcAft>
                <a:spcPts val="340"/>
              </a:spcAft>
              <a:defRPr sz="1700" b="0">
                <a:solidFill>
                  <a:srgbClr val="142D3D"/>
                </a:solidFill>
                <a:latin typeface="Arial"/>
              </a:defRPr>
            </a:pPr>
            <a:r>
              <a:t>Keywords can overreach.</a:t>
            </a:r>
          </a:p>
        </p:txBody>
      </p:sp>
      <p:sp>
        <p:nvSpPr>
          <p:cNvPr id="26" name="Rounded Rectangle 25"/>
          <p:cNvSpPr/>
          <p:nvPr/>
        </p:nvSpPr>
        <p:spPr>
          <a:xfrm>
            <a:off x="8037575" y="2157984"/>
            <a:ext cx="3511296" cy="2660904"/>
          </a:xfrm>
          <a:prstGeom prst="roundRect">
            <a:avLst>
              <a:gd name="adj" fmla="val 4123"/>
            </a:avLst>
          </a:prstGeom>
          <a:solidFill>
            <a:srgbClr val="FFFFFF"/>
          </a:solidFill>
          <a:ln w="889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5" y="2157984"/>
            <a:ext cx="50292" cy="2660904"/>
          </a:xfrm>
          <a:prstGeom prst="rect">
            <a:avLst/>
          </a:prstGeom>
          <a:solidFill>
            <a:srgbClr val="286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2331720"/>
            <a:ext cx="3108960" cy="594360"/>
          </a:xfrm>
          <a:prstGeom prst="rect">
            <a:avLst/>
          </a:prstGeom>
          <a:noFill/>
        </p:spPr>
        <p:txBody>
          <a:bodyPr wrap="square" lIns="0" rIns="0" tIns="0" bIns="0">
            <a:spAutoFit/>
          </a:bodyPr>
          <a:lstStyle/>
          <a:p>
            <a:pPr>
              <a:lnSpc>
                <a:spcPct val="104000"/>
              </a:lnSpc>
              <a:spcAft>
                <a:spcPts val="380"/>
              </a:spcAft>
              <a:defRPr sz="1900" b="1">
                <a:solidFill>
                  <a:srgbClr val="2864CC"/>
                </a:solidFill>
                <a:latin typeface="Arial"/>
              </a:defRPr>
            </a:pPr>
            <a:r>
              <a:t>Expert validation</a:t>
            </a:r>
          </a:p>
        </p:txBody>
      </p:sp>
      <p:sp>
        <p:nvSpPr>
          <p:cNvPr id="29" name="TextBox 28"/>
          <p:cNvSpPr txBox="1"/>
          <p:nvPr/>
        </p:nvSpPr>
        <p:spPr>
          <a:xfrm>
            <a:off x="8238744" y="2916936"/>
            <a:ext cx="3108960" cy="1856232"/>
          </a:xfrm>
          <a:prstGeom prst="rect">
            <a:avLst/>
          </a:prstGeom>
          <a:noFill/>
        </p:spPr>
        <p:txBody>
          <a:bodyPr wrap="square" lIns="0" rIns="0" tIns="0" bIns="0">
            <a:spAutoFit/>
          </a:bodyPr>
          <a:lstStyle/>
          <a:p>
            <a:pPr>
              <a:lnSpc>
                <a:spcPct val="104000"/>
              </a:lnSpc>
              <a:spcAft>
                <a:spcPts val="340"/>
              </a:spcAft>
              <a:defRPr sz="1700" b="0">
                <a:solidFill>
                  <a:srgbClr val="142D3D"/>
                </a:solidFill>
                <a:latin typeface="Arial"/>
              </a:defRPr>
            </a:pPr>
            <a:r>
              <a:t>No spectra or prediction labels.</a:t>
            </a:r>
          </a:p>
          <a:p>
            <a:pPr>
              <a:lnSpc>
                <a:spcPct val="104000"/>
              </a:lnSpc>
              <a:spcAft>
                <a:spcPts val="340"/>
              </a:spcAft>
              <a:defRPr sz="1700" b="0">
                <a:solidFill>
                  <a:srgbClr val="142D3D"/>
                </a:solidFill>
                <a:latin typeface="Arial"/>
              </a:defRPr>
            </a:pPr>
            <a:r>
              <a:t>No proven detection limit.</a:t>
            </a:r>
          </a:p>
          <a:p>
            <a:pPr>
              <a:lnSpc>
                <a:spcPct val="104000"/>
              </a:lnSpc>
              <a:spcAft>
                <a:spcPts val="340"/>
              </a:spcAft>
              <a:defRPr sz="1700" b="0">
                <a:solidFill>
                  <a:srgbClr val="142D3D"/>
                </a:solidFill>
                <a:latin typeface="Arial"/>
              </a:defRPr>
            </a:pPr>
            <a:r>
              <a:t>Council traces: 72–189 s; use a prepared run for the demo.</a:t>
            </a:r>
          </a:p>
        </p:txBody>
      </p:sp>
      <p:sp>
        <p:nvSpPr>
          <p:cNvPr id="30" name="Rounded Rectangle 29"/>
          <p:cNvSpPr/>
          <p:nvPr/>
        </p:nvSpPr>
        <p:spPr>
          <a:xfrm>
            <a:off x="694944" y="5129784"/>
            <a:ext cx="10826496" cy="841248"/>
          </a:xfrm>
          <a:prstGeom prst="roundRect">
            <a:avLst>
              <a:gd name="adj" fmla="val 13043"/>
            </a:avLst>
          </a:prstGeom>
          <a:solidFill>
            <a:srgbClr val="14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303520"/>
            <a:ext cx="10405872" cy="274320"/>
          </a:xfrm>
          <a:prstGeom prst="rect">
            <a:avLst/>
          </a:prstGeom>
          <a:noFill/>
        </p:spPr>
        <p:txBody>
          <a:bodyPr wrap="square" lIns="0" rIns="0" tIns="0" bIns="0">
            <a:spAutoFit/>
          </a:bodyPr>
          <a:lstStyle/>
          <a:p>
            <a:pPr>
              <a:lnSpc>
                <a:spcPct val="104000"/>
              </a:lnSpc>
              <a:spcAft>
                <a:spcPts val="360"/>
              </a:spcAft>
              <a:defRPr sz="1800" b="1">
                <a:solidFill>
                  <a:srgbClr val="FFFFFF"/>
                </a:solidFill>
                <a:latin typeface="Arial"/>
              </a:defRPr>
            </a:pPr>
            <a:r>
              <a:t>Fresh regression evidence: 21 runs completed · 7/7 adversarial expectations · 81 tests passed</a:t>
            </a:r>
          </a:p>
        </p:txBody>
      </p:sp>
      <p:sp>
        <p:nvSpPr>
          <p:cNvPr id="32" name="TextBox 31"/>
          <p:cNvSpPr txBox="1"/>
          <p:nvPr/>
        </p:nvSpPr>
        <p:spPr>
          <a:xfrm>
            <a:off x="905256" y="5660136"/>
            <a:ext cx="10369296" cy="182880"/>
          </a:xfrm>
          <a:prstGeom prst="rect">
            <a:avLst/>
          </a:prstGeom>
          <a:noFill/>
        </p:spPr>
        <p:txBody>
          <a:bodyPr wrap="square" lIns="0" rIns="0" tIns="0" bIns="0">
            <a:spAutoFit/>
          </a:bodyPr>
          <a:lstStyle/>
          <a:p>
            <a:pPr>
              <a:lnSpc>
                <a:spcPct val="104000"/>
              </a:lnSpc>
              <a:spcAft>
                <a:spcPts val="220"/>
              </a:spcAft>
              <a:defRPr sz="1100" b="0">
                <a:solidFill>
                  <a:srgbClr val="C9DAE5"/>
                </a:solidFill>
                <a:latin typeface="Arial"/>
              </a:defRPr>
            </a:pPr>
            <a:r>
              <a:t>Rule-only / hashing baseline; 20 PostgreSQL tests skipped. These are software checks, not Council accuracy.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2330"/>
        </a:solidFill>
        <a:effectLst/>
      </p:bgPr>
    </p:bg>
    <p:spTree>
      <p:nvGrpSpPr>
        <p:cNvPr id="1" name=""/>
        <p:cNvGrpSpPr/>
        <p:nvPr/>
      </p:nvGrpSpPr>
      <p:grpSpPr/>
      <p:sp>
        <p:nvSpPr>
          <p:cNvPr id="2" name="Rectangle 1"/>
          <p:cNvSpPr/>
          <p:nvPr/>
        </p:nvSpPr>
        <p:spPr>
          <a:xfrm>
            <a:off x="0" y="0"/>
            <a:ext cx="1221028" cy="50292"/>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1028" cy="50292"/>
          </a:xfrm>
          <a:prstGeom prst="rect">
            <a:avLst/>
          </a:prstGeom>
          <a:solidFill>
            <a:srgbClr val="655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1028" cy="50292"/>
          </a:xfrm>
          <a:prstGeom prst="rect">
            <a:avLst/>
          </a:prstGeom>
          <a:solidFill>
            <a:srgbClr val="456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1028" cy="50292"/>
          </a:xfrm>
          <a:prstGeom prst="rect">
            <a:avLst/>
          </a:prstGeom>
          <a:solidFill>
            <a:srgbClr val="268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1028" cy="50292"/>
          </a:xfrm>
          <a:prstGeom prst="rect">
            <a:avLst/>
          </a:prstGeom>
          <a:solidFill>
            <a:srgbClr val="149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1028" cy="50292"/>
          </a:xfrm>
          <a:prstGeom prst="rect">
            <a:avLst/>
          </a:prstGeom>
          <a:solidFill>
            <a:srgbClr val="269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1028" cy="50292"/>
          </a:xfrm>
          <a:prstGeom prst="rect">
            <a:avLst/>
          </a:prstGeom>
          <a:solidFill>
            <a:srgbClr val="75A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1028" cy="50292"/>
          </a:xfrm>
          <a:prstGeom prst="rect">
            <a:avLst/>
          </a:prstGeom>
          <a:solidFill>
            <a:srgbClr val="B6A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1028" cy="50292"/>
          </a:xfrm>
          <a:prstGeom prst="rect">
            <a:avLst/>
          </a:prstGeom>
          <a:solidFill>
            <a:srgbClr val="C5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1028" cy="50292"/>
          </a:xfrm>
          <a:prstGeom prst="rect">
            <a:avLst/>
          </a:prstGeom>
          <a:solidFill>
            <a:srgbClr val="B64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28600"/>
          </a:xfrm>
          <a:prstGeom prst="rect">
            <a:avLst/>
          </a:prstGeom>
          <a:noFill/>
        </p:spPr>
        <p:txBody>
          <a:bodyPr wrap="square" lIns="0" rIns="0" tIns="0" bIns="0">
            <a:spAutoFit/>
          </a:bodyPr>
          <a:lstStyle/>
          <a:p>
            <a:pPr>
              <a:lnSpc>
                <a:spcPct val="104000"/>
              </a:lnSpc>
              <a:spcAft>
                <a:spcPts val="210"/>
              </a:spcAft>
              <a:defRPr sz="1050" b="1">
                <a:solidFill>
                  <a:srgbClr val="C9DAE5"/>
                </a:solidFill>
                <a:latin typeface="Arial"/>
              </a:defRPr>
            </a:pPr>
            <a:r>
              <a:t>RESULT</a:t>
            </a:r>
          </a:p>
        </p:txBody>
      </p:sp>
      <p:sp>
        <p:nvSpPr>
          <p:cNvPr id="13" name="TextBox 12"/>
          <p:cNvSpPr txBox="1"/>
          <p:nvPr/>
        </p:nvSpPr>
        <p:spPr>
          <a:xfrm>
            <a:off x="621792" y="841248"/>
            <a:ext cx="10972800" cy="621792"/>
          </a:xfrm>
          <a:prstGeom prst="rect">
            <a:avLst/>
          </a:prstGeom>
          <a:noFill/>
        </p:spPr>
        <p:txBody>
          <a:bodyPr wrap="square" lIns="0" rIns="0" tIns="0" bIns="0">
            <a:spAutoFit/>
          </a:bodyPr>
          <a:lstStyle/>
          <a:p>
            <a:pPr>
              <a:lnSpc>
                <a:spcPct val="104000"/>
              </a:lnSpc>
              <a:spcAft>
                <a:spcPts val="620"/>
              </a:spcAft>
              <a:defRPr sz="3100" b="1">
                <a:solidFill>
                  <a:srgbClr val="FFFFFF"/>
                </a:solidFill>
                <a:latin typeface="Arial"/>
              </a:defRPr>
            </a:pPr>
            <a:r>
              <a:t>Make the next experiment reviewable.</a:t>
            </a:r>
          </a:p>
        </p:txBody>
      </p:sp>
      <p:cxnSp>
        <p:nvCxnSpPr>
          <p:cNvPr id="14" name="Connector 13"/>
          <p:cNvCxnSpPr/>
          <p:nvPr/>
        </p:nvCxnSpPr>
        <p:spPr>
          <a:xfrm>
            <a:off x="594360" y="6382512"/>
            <a:ext cx="11000232" cy="0"/>
          </a:xfrm>
          <a:prstGeom prst="line">
            <a:avLst/>
          </a:prstGeom>
          <a:ln w="10160">
            <a:solidFill>
              <a:srgbClr val="17364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12648" y="6492240"/>
            <a:ext cx="10104120" cy="155448"/>
          </a:xfrm>
          <a:prstGeom prst="rect">
            <a:avLst/>
          </a:prstGeom>
          <a:noFill/>
        </p:spPr>
        <p:txBody>
          <a:bodyPr wrap="square" lIns="0" rIns="0" tIns="0" bIns="0">
            <a:spAutoFit/>
          </a:bodyPr>
          <a:lstStyle/>
          <a:p>
            <a:pPr>
              <a:lnSpc>
                <a:spcPct val="104000"/>
              </a:lnSpc>
              <a:spcAft>
                <a:spcPts val="166"/>
              </a:spcAft>
              <a:defRPr sz="830" b="0">
                <a:solidFill>
                  <a:srgbClr val="C9DAE5"/>
                </a:solidFill>
                <a:latin typeface="Arial"/>
              </a:defRPr>
            </a:pPr>
            <a:r>
              <a:t>AFS Assessment Assistant  •  github.com/ght007/SchubKI</a:t>
            </a:r>
          </a:p>
        </p:txBody>
      </p:sp>
      <p:sp>
        <p:nvSpPr>
          <p:cNvPr id="16" name="TextBox 15"/>
          <p:cNvSpPr txBox="1"/>
          <p:nvPr/>
        </p:nvSpPr>
        <p:spPr>
          <a:xfrm>
            <a:off x="10853928" y="6464808"/>
            <a:ext cx="731520" cy="210312"/>
          </a:xfrm>
          <a:prstGeom prst="rect">
            <a:avLst/>
          </a:prstGeom>
          <a:noFill/>
        </p:spPr>
        <p:txBody>
          <a:bodyPr wrap="square" lIns="0" rIns="0" tIns="0" bIns="0">
            <a:spAutoFit/>
          </a:bodyPr>
          <a:lstStyle/>
          <a:p>
            <a:pPr algn="r">
              <a:lnSpc>
                <a:spcPct val="104000"/>
              </a:lnSpc>
              <a:spcAft>
                <a:spcPts val="180"/>
              </a:spcAft>
              <a:defRPr sz="900" b="0">
                <a:solidFill>
                  <a:srgbClr val="C9DAE5"/>
                </a:solidFill>
                <a:latin typeface="Arial"/>
              </a:defRPr>
            </a:pPr>
            <a:r>
              <a:t>11 / 13</a:t>
            </a:r>
          </a:p>
        </p:txBody>
      </p:sp>
      <p:sp>
        <p:nvSpPr>
          <p:cNvPr id="17" name="Rounded Rectangle 16"/>
          <p:cNvSpPr/>
          <p:nvPr/>
        </p:nvSpPr>
        <p:spPr>
          <a:xfrm>
            <a:off x="713232" y="2267712"/>
            <a:ext cx="3502152" cy="1901952"/>
          </a:xfrm>
          <a:prstGeom prst="roundRect">
            <a:avLst>
              <a:gd name="adj" fmla="val 5769"/>
            </a:avLst>
          </a:prstGeom>
          <a:solidFill>
            <a:srgbClr val="173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 y="2514600"/>
            <a:ext cx="594360" cy="438912"/>
          </a:xfrm>
          <a:prstGeom prst="rect">
            <a:avLst/>
          </a:prstGeom>
          <a:noFill/>
        </p:spPr>
        <p:txBody>
          <a:bodyPr wrap="square" lIns="0" rIns="0" tIns="0" bIns="0">
            <a:spAutoFit/>
          </a:bodyPr>
          <a:lstStyle/>
          <a:p>
            <a:pPr>
              <a:lnSpc>
                <a:spcPct val="104000"/>
              </a:lnSpc>
              <a:spcAft>
                <a:spcPts val="560"/>
              </a:spcAft>
              <a:defRPr sz="2800" b="1">
                <a:solidFill>
                  <a:srgbClr val="C9DAE5"/>
                </a:solidFill>
                <a:latin typeface="Arial"/>
              </a:defRPr>
            </a:pPr>
            <a:r>
              <a:t>01</a:t>
            </a:r>
          </a:p>
        </p:txBody>
      </p:sp>
      <p:sp>
        <p:nvSpPr>
          <p:cNvPr id="19" name="TextBox 18"/>
          <p:cNvSpPr txBox="1"/>
          <p:nvPr/>
        </p:nvSpPr>
        <p:spPr>
          <a:xfrm>
            <a:off x="905256" y="3072384"/>
            <a:ext cx="3090672" cy="393192"/>
          </a:xfrm>
          <a:prstGeom prst="rect">
            <a:avLst/>
          </a:prstGeom>
          <a:noFill/>
        </p:spPr>
        <p:txBody>
          <a:bodyPr wrap="square" lIns="0" rIns="0" tIns="0" bIns="0">
            <a:spAutoFit/>
          </a:bodyPr>
          <a:lstStyle/>
          <a:p>
            <a:pPr>
              <a:lnSpc>
                <a:spcPct val="104000"/>
              </a:lnSpc>
              <a:spcAft>
                <a:spcPts val="480"/>
              </a:spcAft>
              <a:defRPr sz="2400" b="1">
                <a:solidFill>
                  <a:srgbClr val="FFFFFF"/>
                </a:solidFill>
                <a:latin typeface="Arial"/>
              </a:defRPr>
            </a:pPr>
            <a:r>
              <a:t>Clarify</a:t>
            </a:r>
          </a:p>
        </p:txBody>
      </p:sp>
      <p:sp>
        <p:nvSpPr>
          <p:cNvPr id="20" name="TextBox 19"/>
          <p:cNvSpPr txBox="1"/>
          <p:nvPr/>
        </p:nvSpPr>
        <p:spPr>
          <a:xfrm>
            <a:off x="905256" y="3675887"/>
            <a:ext cx="3099816" cy="265176"/>
          </a:xfrm>
          <a:prstGeom prst="rect">
            <a:avLst/>
          </a:prstGeom>
          <a:noFill/>
        </p:spPr>
        <p:txBody>
          <a:bodyPr wrap="square" lIns="0" rIns="0" tIns="0" bIns="0">
            <a:spAutoFit/>
          </a:bodyPr>
          <a:lstStyle/>
          <a:p>
            <a:pPr>
              <a:lnSpc>
                <a:spcPct val="104000"/>
              </a:lnSpc>
              <a:spcAft>
                <a:spcPts val="280"/>
              </a:spcAft>
              <a:defRPr sz="1400" b="0">
                <a:solidFill>
                  <a:srgbClr val="C9DAE5"/>
                </a:solidFill>
                <a:latin typeface="Arial"/>
              </a:defRPr>
            </a:pPr>
            <a:r>
              <a:t>What is actually required?</a:t>
            </a:r>
          </a:p>
        </p:txBody>
      </p:sp>
      <p:sp>
        <p:nvSpPr>
          <p:cNvPr id="21" name="Rounded Rectangle 20"/>
          <p:cNvSpPr/>
          <p:nvPr/>
        </p:nvSpPr>
        <p:spPr>
          <a:xfrm>
            <a:off x="4407408" y="2267712"/>
            <a:ext cx="3502152" cy="1901952"/>
          </a:xfrm>
          <a:prstGeom prst="roundRect">
            <a:avLst>
              <a:gd name="adj" fmla="val 5769"/>
            </a:avLst>
          </a:prstGeom>
          <a:solidFill>
            <a:srgbClr val="173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9432" y="2514600"/>
            <a:ext cx="594360" cy="438912"/>
          </a:xfrm>
          <a:prstGeom prst="rect">
            <a:avLst/>
          </a:prstGeom>
          <a:noFill/>
        </p:spPr>
        <p:txBody>
          <a:bodyPr wrap="square" lIns="0" rIns="0" tIns="0" bIns="0">
            <a:spAutoFit/>
          </a:bodyPr>
          <a:lstStyle/>
          <a:p>
            <a:pPr>
              <a:lnSpc>
                <a:spcPct val="104000"/>
              </a:lnSpc>
              <a:spcAft>
                <a:spcPts val="560"/>
              </a:spcAft>
              <a:defRPr sz="2800" b="1">
                <a:solidFill>
                  <a:srgbClr val="C9DAE5"/>
                </a:solidFill>
                <a:latin typeface="Arial"/>
              </a:defRPr>
            </a:pPr>
            <a:r>
              <a:t>02</a:t>
            </a:r>
          </a:p>
        </p:txBody>
      </p:sp>
      <p:sp>
        <p:nvSpPr>
          <p:cNvPr id="23" name="TextBox 22"/>
          <p:cNvSpPr txBox="1"/>
          <p:nvPr/>
        </p:nvSpPr>
        <p:spPr>
          <a:xfrm>
            <a:off x="4599432" y="3072384"/>
            <a:ext cx="3090672" cy="393192"/>
          </a:xfrm>
          <a:prstGeom prst="rect">
            <a:avLst/>
          </a:prstGeom>
          <a:noFill/>
        </p:spPr>
        <p:txBody>
          <a:bodyPr wrap="square" lIns="0" rIns="0" tIns="0" bIns="0">
            <a:spAutoFit/>
          </a:bodyPr>
          <a:lstStyle/>
          <a:p>
            <a:pPr>
              <a:lnSpc>
                <a:spcPct val="104000"/>
              </a:lnSpc>
              <a:spcAft>
                <a:spcPts val="480"/>
              </a:spcAft>
              <a:defRPr sz="2400" b="1">
                <a:solidFill>
                  <a:srgbClr val="FFFFFF"/>
                </a:solidFill>
                <a:latin typeface="Arial"/>
              </a:defRPr>
            </a:pPr>
            <a:r>
              <a:t>Inspect</a:t>
            </a:r>
          </a:p>
        </p:txBody>
      </p:sp>
      <p:sp>
        <p:nvSpPr>
          <p:cNvPr id="24" name="TextBox 23"/>
          <p:cNvSpPr txBox="1"/>
          <p:nvPr/>
        </p:nvSpPr>
        <p:spPr>
          <a:xfrm>
            <a:off x="4599432" y="3675887"/>
            <a:ext cx="3099816" cy="265176"/>
          </a:xfrm>
          <a:prstGeom prst="rect">
            <a:avLst/>
          </a:prstGeom>
          <a:noFill/>
        </p:spPr>
        <p:txBody>
          <a:bodyPr wrap="square" lIns="0" rIns="0" tIns="0" bIns="0">
            <a:spAutoFit/>
          </a:bodyPr>
          <a:lstStyle/>
          <a:p>
            <a:pPr>
              <a:lnSpc>
                <a:spcPct val="104000"/>
              </a:lnSpc>
              <a:spcAft>
                <a:spcPts val="280"/>
              </a:spcAft>
              <a:defRPr sz="1400" b="0">
                <a:solidFill>
                  <a:srgbClr val="C9DAE5"/>
                </a:solidFill>
                <a:latin typeface="Arial"/>
              </a:defRPr>
            </a:pPr>
            <a:r>
              <a:t>Which source supports it?</a:t>
            </a:r>
          </a:p>
        </p:txBody>
      </p:sp>
      <p:sp>
        <p:nvSpPr>
          <p:cNvPr id="25" name="Rounded Rectangle 24"/>
          <p:cNvSpPr/>
          <p:nvPr/>
        </p:nvSpPr>
        <p:spPr>
          <a:xfrm>
            <a:off x="8101583" y="2267712"/>
            <a:ext cx="3502152" cy="1901952"/>
          </a:xfrm>
          <a:prstGeom prst="roundRect">
            <a:avLst>
              <a:gd name="adj" fmla="val 5769"/>
            </a:avLst>
          </a:prstGeom>
          <a:solidFill>
            <a:srgbClr val="173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3608" y="2514600"/>
            <a:ext cx="594360" cy="438912"/>
          </a:xfrm>
          <a:prstGeom prst="rect">
            <a:avLst/>
          </a:prstGeom>
          <a:noFill/>
        </p:spPr>
        <p:txBody>
          <a:bodyPr wrap="square" lIns="0" rIns="0" tIns="0" bIns="0">
            <a:spAutoFit/>
          </a:bodyPr>
          <a:lstStyle/>
          <a:p>
            <a:pPr>
              <a:lnSpc>
                <a:spcPct val="104000"/>
              </a:lnSpc>
              <a:spcAft>
                <a:spcPts val="560"/>
              </a:spcAft>
              <a:defRPr sz="2800" b="1">
                <a:solidFill>
                  <a:srgbClr val="C9DAE5"/>
                </a:solidFill>
                <a:latin typeface="Arial"/>
              </a:defRPr>
            </a:pPr>
            <a:r>
              <a:t>03</a:t>
            </a:r>
          </a:p>
        </p:txBody>
      </p:sp>
      <p:sp>
        <p:nvSpPr>
          <p:cNvPr id="27" name="TextBox 26"/>
          <p:cNvSpPr txBox="1"/>
          <p:nvPr/>
        </p:nvSpPr>
        <p:spPr>
          <a:xfrm>
            <a:off x="8293608" y="3072384"/>
            <a:ext cx="3090672" cy="393192"/>
          </a:xfrm>
          <a:prstGeom prst="rect">
            <a:avLst/>
          </a:prstGeom>
          <a:noFill/>
        </p:spPr>
        <p:txBody>
          <a:bodyPr wrap="square" lIns="0" rIns="0" tIns="0" bIns="0">
            <a:spAutoFit/>
          </a:bodyPr>
          <a:lstStyle/>
          <a:p>
            <a:pPr>
              <a:lnSpc>
                <a:spcPct val="104000"/>
              </a:lnSpc>
              <a:spcAft>
                <a:spcPts val="480"/>
              </a:spcAft>
              <a:defRPr sz="2400" b="1">
                <a:solidFill>
                  <a:srgbClr val="FFFFFF"/>
                </a:solidFill>
                <a:latin typeface="Arial"/>
              </a:defRPr>
            </a:pPr>
            <a:r>
              <a:t>Test</a:t>
            </a:r>
          </a:p>
        </p:txBody>
      </p:sp>
      <p:sp>
        <p:nvSpPr>
          <p:cNvPr id="28" name="TextBox 27"/>
          <p:cNvSpPr txBox="1"/>
          <p:nvPr/>
        </p:nvSpPr>
        <p:spPr>
          <a:xfrm>
            <a:off x="8293608" y="3675887"/>
            <a:ext cx="3099816" cy="265176"/>
          </a:xfrm>
          <a:prstGeom prst="rect">
            <a:avLst/>
          </a:prstGeom>
          <a:noFill/>
        </p:spPr>
        <p:txBody>
          <a:bodyPr wrap="square" lIns="0" rIns="0" tIns="0" bIns="0">
            <a:spAutoFit/>
          </a:bodyPr>
          <a:lstStyle/>
          <a:p>
            <a:pPr>
              <a:lnSpc>
                <a:spcPct val="104000"/>
              </a:lnSpc>
              <a:spcAft>
                <a:spcPts val="280"/>
              </a:spcAft>
              <a:defRPr sz="1400" b="0">
                <a:solidFill>
                  <a:srgbClr val="C9DAE5"/>
                </a:solidFill>
                <a:latin typeface="Arial"/>
              </a:defRPr>
            </a:pPr>
            <a:r>
              <a:t>What experiment resolves it?</a:t>
            </a:r>
          </a:p>
        </p:txBody>
      </p:sp>
      <p:sp>
        <p:nvSpPr>
          <p:cNvPr id="29" name="TextBox 28"/>
          <p:cNvSpPr txBox="1"/>
          <p:nvPr/>
        </p:nvSpPr>
        <p:spPr>
          <a:xfrm>
            <a:off x="740664" y="4663440"/>
            <a:ext cx="10607040" cy="374904"/>
          </a:xfrm>
          <a:prstGeom prst="rect">
            <a:avLst/>
          </a:prstGeom>
          <a:noFill/>
        </p:spPr>
        <p:txBody>
          <a:bodyPr wrap="square" lIns="0" rIns="0" tIns="0" bIns="0">
            <a:spAutoFit/>
          </a:bodyPr>
          <a:lstStyle/>
          <a:p>
            <a:pPr>
              <a:lnSpc>
                <a:spcPct val="104000"/>
              </a:lnSpc>
              <a:spcAft>
                <a:spcPts val="460"/>
              </a:spcAft>
              <a:defRPr sz="2300" b="1">
                <a:solidFill>
                  <a:srgbClr val="FFFFFF"/>
                </a:solidFill>
                <a:latin typeface="Arial"/>
              </a:defRPr>
            </a:pPr>
            <a:r>
              <a:t>Working prototype. Inspectable results. Clear validation gaps.</a:t>
            </a:r>
          </a:p>
        </p:txBody>
      </p:sp>
      <p:sp>
        <p:nvSpPr>
          <p:cNvPr id="30" name="TextBox 29"/>
          <p:cNvSpPr txBox="1"/>
          <p:nvPr/>
        </p:nvSpPr>
        <p:spPr>
          <a:xfrm>
            <a:off x="740664" y="5458968"/>
            <a:ext cx="10607040" cy="274320"/>
          </a:xfrm>
          <a:prstGeom prst="rect">
            <a:avLst/>
          </a:prstGeom>
          <a:noFill/>
        </p:spPr>
        <p:txBody>
          <a:bodyPr wrap="square" lIns="0" rIns="0" tIns="0" bIns="0">
            <a:spAutoFit/>
          </a:bodyPr>
          <a:lstStyle/>
          <a:p>
            <a:pPr>
              <a:lnSpc>
                <a:spcPct val="104000"/>
              </a:lnSpc>
              <a:spcAft>
                <a:spcPts val="300"/>
              </a:spcAft>
              <a:defRPr sz="1500" b="1">
                <a:solidFill>
                  <a:srgbClr val="FFFFFF"/>
                </a:solidFill>
                <a:latin typeface="Arial"/>
              </a:defRPr>
            </a:pPr>
            <a:r>
              <a:t>Eisa Atif  ·  Marie Habermann  ·  Atfan Deshmukh  ·  Akshdeep Singh</a:t>
            </a:r>
          </a:p>
        </p:txBody>
      </p:sp>
      <p:sp>
        <p:nvSpPr>
          <p:cNvPr id="31" name="TextBox 30"/>
          <p:cNvSpPr txBox="1"/>
          <p:nvPr/>
        </p:nvSpPr>
        <p:spPr>
          <a:xfrm>
            <a:off x="740664" y="5833872"/>
            <a:ext cx="10607040" cy="283464"/>
          </a:xfrm>
          <a:prstGeom prst="rect">
            <a:avLst/>
          </a:prstGeom>
          <a:noFill/>
        </p:spPr>
        <p:txBody>
          <a:bodyPr wrap="square" lIns="0" rIns="0" tIns="0" bIns="0">
            <a:spAutoFit/>
          </a:bodyPr>
          <a:lstStyle/>
          <a:p>
            <a:pPr>
              <a:lnSpc>
                <a:spcPct val="104000"/>
              </a:lnSpc>
              <a:spcAft>
                <a:spcPts val="300"/>
              </a:spcAft>
              <a:defRPr sz="1500" b="1">
                <a:solidFill>
                  <a:srgbClr val="FFFFFF"/>
                </a:solidFill>
                <a:latin typeface="Arial"/>
              </a:defRPr>
            </a:pPr>
            <a:r>
              <a:t>Naumanurrahman Shaikmujeeburrahman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21028" cy="50292"/>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1028" cy="50292"/>
          </a:xfrm>
          <a:prstGeom prst="rect">
            <a:avLst/>
          </a:prstGeom>
          <a:solidFill>
            <a:srgbClr val="655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1028" cy="50292"/>
          </a:xfrm>
          <a:prstGeom prst="rect">
            <a:avLst/>
          </a:prstGeom>
          <a:solidFill>
            <a:srgbClr val="456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1028" cy="50292"/>
          </a:xfrm>
          <a:prstGeom prst="rect">
            <a:avLst/>
          </a:prstGeom>
          <a:solidFill>
            <a:srgbClr val="268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1028" cy="50292"/>
          </a:xfrm>
          <a:prstGeom prst="rect">
            <a:avLst/>
          </a:prstGeom>
          <a:solidFill>
            <a:srgbClr val="149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1028" cy="50292"/>
          </a:xfrm>
          <a:prstGeom prst="rect">
            <a:avLst/>
          </a:prstGeom>
          <a:solidFill>
            <a:srgbClr val="269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1028" cy="50292"/>
          </a:xfrm>
          <a:prstGeom prst="rect">
            <a:avLst/>
          </a:prstGeom>
          <a:solidFill>
            <a:srgbClr val="75A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1028" cy="50292"/>
          </a:xfrm>
          <a:prstGeom prst="rect">
            <a:avLst/>
          </a:prstGeom>
          <a:solidFill>
            <a:srgbClr val="B6A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1028" cy="50292"/>
          </a:xfrm>
          <a:prstGeom prst="rect">
            <a:avLst/>
          </a:prstGeom>
          <a:solidFill>
            <a:srgbClr val="C5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1028" cy="50292"/>
          </a:xfrm>
          <a:prstGeom prst="rect">
            <a:avLst/>
          </a:prstGeom>
          <a:solidFill>
            <a:srgbClr val="B64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28600"/>
          </a:xfrm>
          <a:prstGeom prst="rect">
            <a:avLst/>
          </a:prstGeom>
          <a:noFill/>
        </p:spPr>
        <p:txBody>
          <a:bodyPr wrap="square" lIns="0" rIns="0" tIns="0" bIns="0">
            <a:spAutoFit/>
          </a:bodyPr>
          <a:lstStyle/>
          <a:p>
            <a:pPr>
              <a:lnSpc>
                <a:spcPct val="104000"/>
              </a:lnSpc>
              <a:spcAft>
                <a:spcPts val="210"/>
              </a:spcAft>
              <a:defRPr sz="1050" b="1">
                <a:solidFill>
                  <a:srgbClr val="087F8C"/>
                </a:solidFill>
                <a:latin typeface="Arial"/>
              </a:defRPr>
            </a:pPr>
            <a:r>
              <a:t>APPENDIX A · EVALUATION PROTOCOL</a:t>
            </a:r>
          </a:p>
        </p:txBody>
      </p:sp>
      <p:sp>
        <p:nvSpPr>
          <p:cNvPr id="13" name="TextBox 12"/>
          <p:cNvSpPr txBox="1"/>
          <p:nvPr/>
        </p:nvSpPr>
        <p:spPr>
          <a:xfrm>
            <a:off x="621792" y="841248"/>
            <a:ext cx="10972800" cy="621792"/>
          </a:xfrm>
          <a:prstGeom prst="rect">
            <a:avLst/>
          </a:prstGeom>
          <a:noFill/>
        </p:spPr>
        <p:txBody>
          <a:bodyPr wrap="square" lIns="0" rIns="0" tIns="0" bIns="0">
            <a:spAutoFit/>
          </a:bodyPr>
          <a:lstStyle/>
          <a:p>
            <a:pPr>
              <a:lnSpc>
                <a:spcPct val="104000"/>
              </a:lnSpc>
              <a:spcAft>
                <a:spcPts val="620"/>
              </a:spcAft>
              <a:defRPr sz="3100" b="1">
                <a:solidFill>
                  <a:srgbClr val="142D3D"/>
                </a:solidFill>
                <a:latin typeface="Arial"/>
              </a:defRPr>
            </a:pPr>
            <a:r>
              <a:t>Different checks answer different questions.</a:t>
            </a:r>
          </a:p>
        </p:txBody>
      </p:sp>
      <p:sp>
        <p:nvSpPr>
          <p:cNvPr id="14" name="TextBox 13"/>
          <p:cNvSpPr txBox="1"/>
          <p:nvPr/>
        </p:nvSpPr>
        <p:spPr>
          <a:xfrm>
            <a:off x="640080" y="1517904"/>
            <a:ext cx="10927080" cy="438912"/>
          </a:xfrm>
          <a:prstGeom prst="rect">
            <a:avLst/>
          </a:prstGeom>
          <a:noFill/>
        </p:spPr>
        <p:txBody>
          <a:bodyPr wrap="square" lIns="0" rIns="0" tIns="0" bIns="0">
            <a:spAutoFit/>
          </a:bodyPr>
          <a:lstStyle/>
          <a:p>
            <a:pPr>
              <a:lnSpc>
                <a:spcPct val="104000"/>
              </a:lnSpc>
              <a:spcAft>
                <a:spcPts val="300"/>
              </a:spcAft>
              <a:defRPr sz="1500" b="0">
                <a:solidFill>
                  <a:srgbClr val="5D7280"/>
                </a:solidFill>
                <a:latin typeface="Arial"/>
              </a:defRPr>
            </a:pPr>
            <a:r>
              <a:t>Keep mechanical regression checks separate from stored Council behavior.</a:t>
            </a:r>
          </a:p>
        </p:txBody>
      </p:sp>
      <p:cxnSp>
        <p:nvCxnSpPr>
          <p:cNvPr id="15" name="Connector 14"/>
          <p:cNvCxnSpPr/>
          <p:nvPr/>
        </p:nvCxnSpPr>
        <p:spPr>
          <a:xfrm>
            <a:off x="594360" y="6382512"/>
            <a:ext cx="11000232" cy="0"/>
          </a:xfrm>
          <a:prstGeom prst="line">
            <a:avLst/>
          </a:prstGeom>
          <a:ln w="1016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6492240"/>
            <a:ext cx="10104120" cy="155448"/>
          </a:xfrm>
          <a:prstGeom prst="rect">
            <a:avLst/>
          </a:prstGeom>
          <a:noFill/>
        </p:spPr>
        <p:txBody>
          <a:bodyPr wrap="square" lIns="0" rIns="0" tIns="0" bIns="0">
            <a:spAutoFit/>
          </a:bodyPr>
          <a:lstStyle/>
          <a:p>
            <a:pPr>
              <a:lnSpc>
                <a:spcPct val="104000"/>
              </a:lnSpc>
              <a:spcAft>
                <a:spcPts val="166"/>
              </a:spcAft>
              <a:defRPr sz="830" b="0">
                <a:solidFill>
                  <a:srgbClr val="5D7280"/>
                </a:solidFill>
                <a:latin typeface="Arial"/>
              </a:defRPr>
            </a:pPr>
            <a:r>
              <a:t>Reproducible artefacts: evaluation/baseline_summary.json, council_archive_audit.json, pytest.xml</a:t>
            </a:r>
          </a:p>
        </p:txBody>
      </p:sp>
      <p:sp>
        <p:nvSpPr>
          <p:cNvPr id="17" name="TextBox 16"/>
          <p:cNvSpPr txBox="1"/>
          <p:nvPr/>
        </p:nvSpPr>
        <p:spPr>
          <a:xfrm>
            <a:off x="10853928" y="6464808"/>
            <a:ext cx="731520" cy="210312"/>
          </a:xfrm>
          <a:prstGeom prst="rect">
            <a:avLst/>
          </a:prstGeom>
          <a:noFill/>
        </p:spPr>
        <p:txBody>
          <a:bodyPr wrap="square" lIns="0" rIns="0" tIns="0" bIns="0">
            <a:spAutoFit/>
          </a:bodyPr>
          <a:lstStyle/>
          <a:p>
            <a:pPr algn="r">
              <a:lnSpc>
                <a:spcPct val="104000"/>
              </a:lnSpc>
              <a:spcAft>
                <a:spcPts val="180"/>
              </a:spcAft>
              <a:defRPr sz="900" b="0">
                <a:solidFill>
                  <a:srgbClr val="5D7280"/>
                </a:solidFill>
                <a:latin typeface="Arial"/>
              </a:defRPr>
            </a:pPr>
            <a:r>
              <a:t>12 / 13</a:t>
            </a:r>
          </a:p>
        </p:txBody>
      </p:sp>
      <p:sp>
        <p:nvSpPr>
          <p:cNvPr id="18" name="Rectangle 17"/>
          <p:cNvSpPr/>
          <p:nvPr/>
        </p:nvSpPr>
        <p:spPr>
          <a:xfrm>
            <a:off x="685800" y="2139696"/>
            <a:ext cx="10817352" cy="429768"/>
          </a:xfrm>
          <a:prstGeom prst="rect">
            <a:avLst/>
          </a:prstGeom>
          <a:solidFill>
            <a:srgbClr val="14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2267712"/>
            <a:ext cx="1856231" cy="210312"/>
          </a:xfrm>
          <a:prstGeom prst="rect">
            <a:avLst/>
          </a:prstGeom>
          <a:noFill/>
        </p:spPr>
        <p:txBody>
          <a:bodyPr wrap="square" lIns="0" rIns="0" tIns="0" bIns="0">
            <a:spAutoFit/>
          </a:bodyPr>
          <a:lstStyle/>
          <a:p>
            <a:pPr>
              <a:lnSpc>
                <a:spcPct val="104000"/>
              </a:lnSpc>
              <a:spcAft>
                <a:spcPts val="220"/>
              </a:spcAft>
              <a:defRPr sz="1100" b="1">
                <a:solidFill>
                  <a:srgbClr val="FFFFFF"/>
                </a:solidFill>
                <a:latin typeface="Arial"/>
              </a:defRPr>
            </a:pPr>
            <a:r>
              <a:t>Evidence</a:t>
            </a:r>
          </a:p>
        </p:txBody>
      </p:sp>
      <p:sp>
        <p:nvSpPr>
          <p:cNvPr id="20" name="TextBox 19"/>
          <p:cNvSpPr txBox="1"/>
          <p:nvPr/>
        </p:nvSpPr>
        <p:spPr>
          <a:xfrm>
            <a:off x="2862072" y="2267712"/>
            <a:ext cx="2651760" cy="210312"/>
          </a:xfrm>
          <a:prstGeom prst="rect">
            <a:avLst/>
          </a:prstGeom>
          <a:noFill/>
        </p:spPr>
        <p:txBody>
          <a:bodyPr wrap="square" lIns="0" rIns="0" tIns="0" bIns="0">
            <a:spAutoFit/>
          </a:bodyPr>
          <a:lstStyle/>
          <a:p>
            <a:pPr>
              <a:lnSpc>
                <a:spcPct val="104000"/>
              </a:lnSpc>
              <a:spcAft>
                <a:spcPts val="220"/>
              </a:spcAft>
              <a:defRPr sz="1100" b="1">
                <a:solidFill>
                  <a:srgbClr val="FFFFFF"/>
                </a:solidFill>
                <a:latin typeface="Arial"/>
              </a:defRPr>
            </a:pPr>
            <a:r>
              <a:t>Conditions</a:t>
            </a:r>
          </a:p>
        </p:txBody>
      </p:sp>
      <p:sp>
        <p:nvSpPr>
          <p:cNvPr id="21" name="TextBox 20"/>
          <p:cNvSpPr txBox="1"/>
          <p:nvPr/>
        </p:nvSpPr>
        <p:spPr>
          <a:xfrm>
            <a:off x="5715000" y="2267712"/>
            <a:ext cx="2679191" cy="210312"/>
          </a:xfrm>
          <a:prstGeom prst="rect">
            <a:avLst/>
          </a:prstGeom>
          <a:noFill/>
        </p:spPr>
        <p:txBody>
          <a:bodyPr wrap="square" lIns="0" rIns="0" tIns="0" bIns="0">
            <a:spAutoFit/>
          </a:bodyPr>
          <a:lstStyle/>
          <a:p>
            <a:pPr>
              <a:lnSpc>
                <a:spcPct val="104000"/>
              </a:lnSpc>
              <a:spcAft>
                <a:spcPts val="220"/>
              </a:spcAft>
              <a:defRPr sz="1100" b="1">
                <a:solidFill>
                  <a:srgbClr val="FFFFFF"/>
                </a:solidFill>
                <a:latin typeface="Arial"/>
              </a:defRPr>
            </a:pPr>
            <a:r>
              <a:t>Observed result</a:t>
            </a:r>
          </a:p>
        </p:txBody>
      </p:sp>
      <p:sp>
        <p:nvSpPr>
          <p:cNvPr id="22" name="TextBox 21"/>
          <p:cNvSpPr txBox="1"/>
          <p:nvPr/>
        </p:nvSpPr>
        <p:spPr>
          <a:xfrm>
            <a:off x="8595360" y="2267712"/>
            <a:ext cx="2825496" cy="210312"/>
          </a:xfrm>
          <a:prstGeom prst="rect">
            <a:avLst/>
          </a:prstGeom>
          <a:noFill/>
        </p:spPr>
        <p:txBody>
          <a:bodyPr wrap="square" lIns="0" rIns="0" tIns="0" bIns="0">
            <a:spAutoFit/>
          </a:bodyPr>
          <a:lstStyle/>
          <a:p>
            <a:pPr>
              <a:lnSpc>
                <a:spcPct val="104000"/>
              </a:lnSpc>
              <a:spcAft>
                <a:spcPts val="220"/>
              </a:spcAft>
              <a:defRPr sz="1100" b="1">
                <a:solidFill>
                  <a:srgbClr val="FFFFFF"/>
                </a:solidFill>
                <a:latin typeface="Arial"/>
              </a:defRPr>
            </a:pPr>
            <a:r>
              <a:t>What it does not prove</a:t>
            </a:r>
          </a:p>
        </p:txBody>
      </p:sp>
      <p:sp>
        <p:nvSpPr>
          <p:cNvPr id="23" name="Rectangle 22"/>
          <p:cNvSpPr/>
          <p:nvPr/>
        </p:nvSpPr>
        <p:spPr>
          <a:xfrm>
            <a:off x="685800" y="2569463"/>
            <a:ext cx="1081735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2679191"/>
            <a:ext cx="1856231" cy="384048"/>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Council archive</a:t>
            </a:r>
          </a:p>
        </p:txBody>
      </p:sp>
      <p:sp>
        <p:nvSpPr>
          <p:cNvPr id="25" name="TextBox 24"/>
          <p:cNvSpPr txBox="1"/>
          <p:nvPr/>
        </p:nvSpPr>
        <p:spPr>
          <a:xfrm>
            <a:off x="2862072" y="2679191"/>
            <a:ext cx="2651760"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6 saved final reports</a:t>
            </a:r>
          </a:p>
        </p:txBody>
      </p:sp>
      <p:sp>
        <p:nvSpPr>
          <p:cNvPr id="26" name="TextBox 25"/>
          <p:cNvSpPr txBox="1"/>
          <p:nvPr/>
        </p:nvSpPr>
        <p:spPr>
          <a:xfrm>
            <a:off x="5715000" y="2679191"/>
            <a:ext cx="2679191"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35/44 checks; 4 number flags</a:t>
            </a:r>
          </a:p>
        </p:txBody>
      </p:sp>
      <p:sp>
        <p:nvSpPr>
          <p:cNvPr id="27" name="TextBox 26"/>
          <p:cNvSpPr txBox="1"/>
          <p:nvPr/>
        </p:nvSpPr>
        <p:spPr>
          <a:xfrm>
            <a:off x="8595360" y="2679191"/>
            <a:ext cx="2825496"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Not fresh; not expert accuracy</a:t>
            </a:r>
          </a:p>
        </p:txBody>
      </p:sp>
      <p:cxnSp>
        <p:nvCxnSpPr>
          <p:cNvPr id="28" name="Connector 27"/>
          <p:cNvCxnSpPr/>
          <p:nvPr/>
        </p:nvCxnSpPr>
        <p:spPr>
          <a:xfrm>
            <a:off x="685800" y="3072383"/>
            <a:ext cx="10817352"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85800" y="3072383"/>
            <a:ext cx="10817352" cy="50292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3182111"/>
            <a:ext cx="1856231" cy="384048"/>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Fresh pipeline</a:t>
            </a:r>
          </a:p>
        </p:txBody>
      </p:sp>
      <p:sp>
        <p:nvSpPr>
          <p:cNvPr id="31" name="TextBox 30"/>
          <p:cNvSpPr txBox="1"/>
          <p:nvPr/>
        </p:nvSpPr>
        <p:spPr>
          <a:xfrm>
            <a:off x="2862072" y="3182111"/>
            <a:ext cx="2651760"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21 cases; rule-only / hashing</a:t>
            </a:r>
          </a:p>
        </p:txBody>
      </p:sp>
      <p:sp>
        <p:nvSpPr>
          <p:cNvPr id="32" name="TextBox 31"/>
          <p:cNvSpPr txBox="1"/>
          <p:nvPr/>
        </p:nvSpPr>
        <p:spPr>
          <a:xfrm>
            <a:off x="5715000" y="3182111"/>
            <a:ext cx="2679191"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21 completed; 7/7 adversarial</a:t>
            </a:r>
          </a:p>
        </p:txBody>
      </p:sp>
      <p:sp>
        <p:nvSpPr>
          <p:cNvPr id="33" name="TextBox 32"/>
          <p:cNvSpPr txBox="1"/>
          <p:nvPr/>
        </p:nvSpPr>
        <p:spPr>
          <a:xfrm>
            <a:off x="8595360" y="3182111"/>
            <a:ext cx="2825496"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Not a new LLM benchmark</a:t>
            </a:r>
          </a:p>
        </p:txBody>
      </p:sp>
      <p:cxnSp>
        <p:nvCxnSpPr>
          <p:cNvPr id="34" name="Connector 33"/>
          <p:cNvCxnSpPr/>
          <p:nvPr/>
        </p:nvCxnSpPr>
        <p:spPr>
          <a:xfrm>
            <a:off x="685800" y="3575303"/>
            <a:ext cx="10817352"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85800" y="3575303"/>
            <a:ext cx="1081735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3685031"/>
            <a:ext cx="1856231" cy="384048"/>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Verifier totals</a:t>
            </a:r>
          </a:p>
        </p:txBody>
      </p:sp>
      <p:sp>
        <p:nvSpPr>
          <p:cNvPr id="37" name="TextBox 36"/>
          <p:cNvSpPr txBox="1"/>
          <p:nvPr/>
        </p:nvSpPr>
        <p:spPr>
          <a:xfrm>
            <a:off x="2862072" y="3685031"/>
            <a:ext cx="2651760"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Same 21 offline cases</a:t>
            </a:r>
          </a:p>
        </p:txBody>
      </p:sp>
      <p:sp>
        <p:nvSpPr>
          <p:cNvPr id="38" name="TextBox 37"/>
          <p:cNvSpPr txBox="1"/>
          <p:nvPr/>
        </p:nvSpPr>
        <p:spPr>
          <a:xfrm>
            <a:off x="5715000" y="3685031"/>
            <a:ext cx="2679191"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179/179 counted checks</a:t>
            </a:r>
          </a:p>
        </p:txBody>
      </p:sp>
      <p:sp>
        <p:nvSpPr>
          <p:cNvPr id="39" name="TextBox 38"/>
          <p:cNvSpPr txBox="1"/>
          <p:nvPr/>
        </p:nvSpPr>
        <p:spPr>
          <a:xfrm>
            <a:off x="8595360" y="3685031"/>
            <a:ext cx="2825496"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Not semantic correctness</a:t>
            </a:r>
          </a:p>
        </p:txBody>
      </p:sp>
      <p:cxnSp>
        <p:nvCxnSpPr>
          <p:cNvPr id="40" name="Connector 39"/>
          <p:cNvCxnSpPr/>
          <p:nvPr/>
        </p:nvCxnSpPr>
        <p:spPr>
          <a:xfrm>
            <a:off x="685800" y="4078224"/>
            <a:ext cx="10817352"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85800" y="4078224"/>
            <a:ext cx="10817352" cy="50292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4187952"/>
            <a:ext cx="1856231" cy="384048"/>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Software suite</a:t>
            </a:r>
          </a:p>
        </p:txBody>
      </p:sp>
      <p:sp>
        <p:nvSpPr>
          <p:cNvPr id="43" name="TextBox 42"/>
          <p:cNvSpPr txBox="1"/>
          <p:nvPr/>
        </p:nvSpPr>
        <p:spPr>
          <a:xfrm>
            <a:off x="2862072" y="4187952"/>
            <a:ext cx="2651760"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SQLite; supplied corpus</a:t>
            </a:r>
          </a:p>
        </p:txBody>
      </p:sp>
      <p:sp>
        <p:nvSpPr>
          <p:cNvPr id="44" name="TextBox 43"/>
          <p:cNvSpPr txBox="1"/>
          <p:nvPr/>
        </p:nvSpPr>
        <p:spPr>
          <a:xfrm>
            <a:off x="5715000" y="4187952"/>
            <a:ext cx="2679191"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81 pass; 20 PG skips</a:t>
            </a:r>
          </a:p>
        </p:txBody>
      </p:sp>
      <p:sp>
        <p:nvSpPr>
          <p:cNvPr id="45" name="TextBox 44"/>
          <p:cNvSpPr txBox="1"/>
          <p:nvPr/>
        </p:nvSpPr>
        <p:spPr>
          <a:xfrm>
            <a:off x="8595360" y="4187952"/>
            <a:ext cx="2825496"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No PostgreSQL claim</a:t>
            </a:r>
          </a:p>
        </p:txBody>
      </p:sp>
      <p:cxnSp>
        <p:nvCxnSpPr>
          <p:cNvPr id="46" name="Connector 45"/>
          <p:cNvCxnSpPr/>
          <p:nvPr/>
        </p:nvCxnSpPr>
        <p:spPr>
          <a:xfrm>
            <a:off x="685800" y="4581144"/>
            <a:ext cx="10817352"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685800" y="4581144"/>
            <a:ext cx="1081735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672" y="4690872"/>
            <a:ext cx="1856231" cy="384048"/>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Feature demos</a:t>
            </a:r>
          </a:p>
        </p:txBody>
      </p:sp>
      <p:sp>
        <p:nvSpPr>
          <p:cNvPr id="49" name="TextBox 48"/>
          <p:cNvSpPr txBox="1"/>
          <p:nvPr/>
        </p:nvSpPr>
        <p:spPr>
          <a:xfrm>
            <a:off x="2862072" y="4690872"/>
            <a:ext cx="2651760"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Real local UI + API</a:t>
            </a:r>
          </a:p>
        </p:txBody>
      </p:sp>
      <p:sp>
        <p:nvSpPr>
          <p:cNvPr id="50" name="TextBox 49"/>
          <p:cNvSpPr txBox="1"/>
          <p:nvPr/>
        </p:nvSpPr>
        <p:spPr>
          <a:xfrm>
            <a:off x="5715000" y="4690872"/>
            <a:ext cx="2679191"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Coach 2→9; KB +2 records</a:t>
            </a:r>
          </a:p>
        </p:txBody>
      </p:sp>
      <p:sp>
        <p:nvSpPr>
          <p:cNvPr id="51" name="TextBox 50"/>
          <p:cNvSpPr txBox="1"/>
          <p:nvPr/>
        </p:nvSpPr>
        <p:spPr>
          <a:xfrm>
            <a:off x="8595360" y="4690872"/>
            <a:ext cx="2825496" cy="384048"/>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Illustrative customer answers</a:t>
            </a:r>
          </a:p>
        </p:txBody>
      </p:sp>
      <p:cxnSp>
        <p:nvCxnSpPr>
          <p:cNvPr id="52" name="Connector 51"/>
          <p:cNvCxnSpPr/>
          <p:nvPr/>
        </p:nvCxnSpPr>
        <p:spPr>
          <a:xfrm>
            <a:off x="685800" y="5084064"/>
            <a:ext cx="10817352"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40664" y="5413248"/>
            <a:ext cx="10561320" cy="640080"/>
          </a:xfrm>
          <a:prstGeom prst="rect">
            <a:avLst/>
          </a:prstGeom>
          <a:noFill/>
        </p:spPr>
        <p:txBody>
          <a:bodyPr wrap="square" lIns="0" rIns="0" tIns="0" bIns="0">
            <a:spAutoFit/>
          </a:bodyPr>
          <a:lstStyle/>
          <a:p>
            <a:pPr>
              <a:lnSpc>
                <a:spcPct val="104000"/>
              </a:lnSpc>
              <a:spcAft>
                <a:spcPts val="280"/>
              </a:spcAft>
              <a:defRPr sz="1400" b="0">
                <a:solidFill>
                  <a:srgbClr val="5D7280"/>
                </a:solidFill>
                <a:latin typeface="Arial"/>
              </a:defRPr>
            </a:pPr>
            <a:r>
              <a:t>Code: 40dd40b  ·  Council archive: 807609d  ·  No case-specific code changes</a:t>
            </a:r>
          </a:p>
          <a:p>
            <a:pPr>
              <a:lnSpc>
                <a:spcPct val="104000"/>
              </a:lnSpc>
              <a:spcAft>
                <a:spcPts val="280"/>
              </a:spcAft>
              <a:defRPr sz="1400" b="0">
                <a:solidFill>
                  <a:srgbClr val="5D7280"/>
                </a:solidFill>
                <a:latin typeface="Arial"/>
              </a:defRPr>
            </a:pPr>
            <a:r>
              <a:t>Mock evaluation: LLM_MOCK=1  ·  EMBED_BACKEND=hashing  ·  DB_BACKEND=sqlite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21028" cy="50292"/>
          </a:xfrm>
          <a:prstGeom prst="rect">
            <a:avLst/>
          </a:prstGeom>
          <a:solidFill>
            <a:srgbClr val="754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9199" y="0"/>
            <a:ext cx="1221028" cy="50292"/>
          </a:xfrm>
          <a:prstGeom prst="rect">
            <a:avLst/>
          </a:prstGeom>
          <a:solidFill>
            <a:srgbClr val="655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8399" y="0"/>
            <a:ext cx="1221028" cy="50292"/>
          </a:xfrm>
          <a:prstGeom prst="rect">
            <a:avLst/>
          </a:prstGeom>
          <a:solidFill>
            <a:srgbClr val="456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0"/>
            <a:ext cx="1221028" cy="50292"/>
          </a:xfrm>
          <a:prstGeom prst="rect">
            <a:avLst/>
          </a:prstGeom>
          <a:solidFill>
            <a:srgbClr val="268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799" y="0"/>
            <a:ext cx="1221028" cy="50292"/>
          </a:xfrm>
          <a:prstGeom prst="rect">
            <a:avLst/>
          </a:prstGeom>
          <a:solidFill>
            <a:srgbClr val="149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1221028" cy="50292"/>
          </a:xfrm>
          <a:prstGeom prst="rect">
            <a:avLst/>
          </a:prstGeom>
          <a:solidFill>
            <a:srgbClr val="269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199" y="0"/>
            <a:ext cx="1221028" cy="50292"/>
          </a:xfrm>
          <a:prstGeom prst="rect">
            <a:avLst/>
          </a:prstGeom>
          <a:solidFill>
            <a:srgbClr val="75A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34399" y="0"/>
            <a:ext cx="1221028" cy="50292"/>
          </a:xfrm>
          <a:prstGeom prst="rect">
            <a:avLst/>
          </a:prstGeom>
          <a:solidFill>
            <a:srgbClr val="B6A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53599" y="0"/>
            <a:ext cx="1221028" cy="50292"/>
          </a:xfrm>
          <a:prstGeom prst="rect">
            <a:avLst/>
          </a:prstGeom>
          <a:solidFill>
            <a:srgbClr val="C58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799" y="0"/>
            <a:ext cx="1221028" cy="50292"/>
          </a:xfrm>
          <a:prstGeom prst="rect">
            <a:avLst/>
          </a:prstGeom>
          <a:solidFill>
            <a:srgbClr val="B64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65760"/>
            <a:ext cx="10972800" cy="228600"/>
          </a:xfrm>
          <a:prstGeom prst="rect">
            <a:avLst/>
          </a:prstGeom>
          <a:noFill/>
        </p:spPr>
        <p:txBody>
          <a:bodyPr wrap="square" lIns="0" rIns="0" tIns="0" bIns="0">
            <a:spAutoFit/>
          </a:bodyPr>
          <a:lstStyle/>
          <a:p>
            <a:pPr>
              <a:lnSpc>
                <a:spcPct val="104000"/>
              </a:lnSpc>
              <a:spcAft>
                <a:spcPts val="210"/>
              </a:spcAft>
              <a:defRPr sz="1050" b="1">
                <a:solidFill>
                  <a:srgbClr val="087F8C"/>
                </a:solidFill>
                <a:latin typeface="Arial"/>
              </a:defRPr>
            </a:pPr>
            <a:r>
              <a:t>APPENDIX B · PROVENANCE</a:t>
            </a:r>
          </a:p>
        </p:txBody>
      </p:sp>
      <p:sp>
        <p:nvSpPr>
          <p:cNvPr id="13" name="TextBox 12"/>
          <p:cNvSpPr txBox="1"/>
          <p:nvPr/>
        </p:nvSpPr>
        <p:spPr>
          <a:xfrm>
            <a:off x="621792" y="841248"/>
            <a:ext cx="10972800" cy="621792"/>
          </a:xfrm>
          <a:prstGeom prst="rect">
            <a:avLst/>
          </a:prstGeom>
          <a:noFill/>
        </p:spPr>
        <p:txBody>
          <a:bodyPr wrap="square" lIns="0" rIns="0" tIns="0" bIns="0">
            <a:spAutoFit/>
          </a:bodyPr>
          <a:lstStyle/>
          <a:p>
            <a:pPr>
              <a:lnSpc>
                <a:spcPct val="104000"/>
              </a:lnSpc>
              <a:spcAft>
                <a:spcPts val="620"/>
              </a:spcAft>
              <a:defRPr sz="3100" b="1">
                <a:solidFill>
                  <a:srgbClr val="142D3D"/>
                </a:solidFill>
                <a:latin typeface="Arial"/>
              </a:defRPr>
            </a:pPr>
            <a:r>
              <a:t>Evidence scope travels with the claim.</a:t>
            </a:r>
          </a:p>
        </p:txBody>
      </p:sp>
      <p:sp>
        <p:nvSpPr>
          <p:cNvPr id="14" name="TextBox 13"/>
          <p:cNvSpPr txBox="1"/>
          <p:nvPr/>
        </p:nvSpPr>
        <p:spPr>
          <a:xfrm>
            <a:off x="640080" y="1517904"/>
            <a:ext cx="10927080" cy="438912"/>
          </a:xfrm>
          <a:prstGeom prst="rect">
            <a:avLst/>
          </a:prstGeom>
          <a:noFill/>
        </p:spPr>
        <p:txBody>
          <a:bodyPr wrap="square" lIns="0" rIns="0" tIns="0" bIns="0">
            <a:spAutoFit/>
          </a:bodyPr>
          <a:lstStyle/>
          <a:p>
            <a:pPr>
              <a:lnSpc>
                <a:spcPct val="104000"/>
              </a:lnSpc>
              <a:spcAft>
                <a:spcPts val="300"/>
              </a:spcAft>
              <a:defRPr sz="1500" b="0">
                <a:solidFill>
                  <a:srgbClr val="5D7280"/>
                </a:solidFill>
                <a:latin typeface="Arial"/>
              </a:defRPr>
            </a:pPr>
            <a:r>
              <a:t>Sources define what may be concluded, not just what may be cited.</a:t>
            </a:r>
          </a:p>
        </p:txBody>
      </p:sp>
      <p:cxnSp>
        <p:nvCxnSpPr>
          <p:cNvPr id="15" name="Connector 14"/>
          <p:cNvCxnSpPr/>
          <p:nvPr/>
        </p:nvCxnSpPr>
        <p:spPr>
          <a:xfrm>
            <a:off x="594360" y="6382512"/>
            <a:ext cx="11000232" cy="0"/>
          </a:xfrm>
          <a:prstGeom prst="line">
            <a:avLst/>
          </a:prstGeom>
          <a:ln w="10160">
            <a:solidFill>
              <a:srgbClr val="DCE5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6492240"/>
            <a:ext cx="10104120" cy="155448"/>
          </a:xfrm>
          <a:prstGeom prst="rect">
            <a:avLst/>
          </a:prstGeom>
          <a:noFill/>
        </p:spPr>
        <p:txBody>
          <a:bodyPr wrap="square" lIns="0" rIns="0" tIns="0" bIns="0">
            <a:spAutoFit/>
          </a:bodyPr>
          <a:lstStyle/>
          <a:p>
            <a:pPr>
              <a:lnSpc>
                <a:spcPct val="104000"/>
              </a:lnSpc>
              <a:spcAft>
                <a:spcPts val="166"/>
              </a:spcAft>
              <a:defRPr sz="830" b="0">
                <a:solidFill>
                  <a:srgbClr val="5D7280"/>
                </a:solidFill>
                <a:latin typeface="Arial"/>
              </a:defRPr>
            </a:pPr>
            <a:r>
              <a:t>Supplied AFS corpus, official challenge documents, repository and unedited Council archive</a:t>
            </a:r>
          </a:p>
        </p:txBody>
      </p:sp>
      <p:sp>
        <p:nvSpPr>
          <p:cNvPr id="17" name="TextBox 16"/>
          <p:cNvSpPr txBox="1"/>
          <p:nvPr/>
        </p:nvSpPr>
        <p:spPr>
          <a:xfrm>
            <a:off x="10853928" y="6464808"/>
            <a:ext cx="731520" cy="210312"/>
          </a:xfrm>
          <a:prstGeom prst="rect">
            <a:avLst/>
          </a:prstGeom>
          <a:noFill/>
        </p:spPr>
        <p:txBody>
          <a:bodyPr wrap="square" lIns="0" rIns="0" tIns="0" bIns="0">
            <a:spAutoFit/>
          </a:bodyPr>
          <a:lstStyle/>
          <a:p>
            <a:pPr algn="r">
              <a:lnSpc>
                <a:spcPct val="104000"/>
              </a:lnSpc>
              <a:spcAft>
                <a:spcPts val="180"/>
              </a:spcAft>
              <a:defRPr sz="900" b="0">
                <a:solidFill>
                  <a:srgbClr val="5D7280"/>
                </a:solidFill>
                <a:latin typeface="Arial"/>
              </a:defRPr>
            </a:pPr>
            <a:r>
              <a:t>13 / 13</a:t>
            </a:r>
          </a:p>
        </p:txBody>
      </p:sp>
      <p:sp>
        <p:nvSpPr>
          <p:cNvPr id="18" name="Rectangle 17"/>
          <p:cNvSpPr/>
          <p:nvPr/>
        </p:nvSpPr>
        <p:spPr>
          <a:xfrm>
            <a:off x="685800" y="2148840"/>
            <a:ext cx="10817352" cy="429768"/>
          </a:xfrm>
          <a:prstGeom prst="rect">
            <a:avLst/>
          </a:prstGeom>
          <a:solidFill>
            <a:srgbClr val="14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2276856"/>
            <a:ext cx="2679191" cy="210312"/>
          </a:xfrm>
          <a:prstGeom prst="rect">
            <a:avLst/>
          </a:prstGeom>
          <a:noFill/>
        </p:spPr>
        <p:txBody>
          <a:bodyPr wrap="square" lIns="0" rIns="0" tIns="0" bIns="0">
            <a:spAutoFit/>
          </a:bodyPr>
          <a:lstStyle/>
          <a:p>
            <a:pPr>
              <a:lnSpc>
                <a:spcPct val="104000"/>
              </a:lnSpc>
              <a:spcAft>
                <a:spcPts val="220"/>
              </a:spcAft>
              <a:defRPr sz="1100" b="1">
                <a:solidFill>
                  <a:srgbClr val="FFFFFF"/>
                </a:solidFill>
                <a:latin typeface="Arial"/>
              </a:defRPr>
            </a:pPr>
            <a:r>
              <a:t>Source</a:t>
            </a:r>
          </a:p>
        </p:txBody>
      </p:sp>
      <p:sp>
        <p:nvSpPr>
          <p:cNvPr id="20" name="TextBox 19"/>
          <p:cNvSpPr txBox="1"/>
          <p:nvPr/>
        </p:nvSpPr>
        <p:spPr>
          <a:xfrm>
            <a:off x="3685032" y="2276856"/>
            <a:ext cx="5394960" cy="210312"/>
          </a:xfrm>
          <a:prstGeom prst="rect">
            <a:avLst/>
          </a:prstGeom>
          <a:noFill/>
        </p:spPr>
        <p:txBody>
          <a:bodyPr wrap="square" lIns="0" rIns="0" tIns="0" bIns="0">
            <a:spAutoFit/>
          </a:bodyPr>
          <a:lstStyle/>
          <a:p>
            <a:pPr>
              <a:lnSpc>
                <a:spcPct val="104000"/>
              </a:lnSpc>
              <a:spcAft>
                <a:spcPts val="220"/>
              </a:spcAft>
              <a:defRPr sz="1100" b="1">
                <a:solidFill>
                  <a:srgbClr val="FFFFFF"/>
                </a:solidFill>
                <a:latin typeface="Arial"/>
              </a:defRPr>
            </a:pPr>
            <a:r>
              <a:t>Evidence boundary</a:t>
            </a:r>
          </a:p>
        </p:txBody>
      </p:sp>
      <p:sp>
        <p:nvSpPr>
          <p:cNvPr id="21" name="TextBox 20"/>
          <p:cNvSpPr txBox="1"/>
          <p:nvPr/>
        </p:nvSpPr>
        <p:spPr>
          <a:xfrm>
            <a:off x="9281160" y="2276856"/>
            <a:ext cx="2139696" cy="210312"/>
          </a:xfrm>
          <a:prstGeom prst="rect">
            <a:avLst/>
          </a:prstGeom>
          <a:noFill/>
        </p:spPr>
        <p:txBody>
          <a:bodyPr wrap="square" lIns="0" rIns="0" tIns="0" bIns="0">
            <a:spAutoFit/>
          </a:bodyPr>
          <a:lstStyle/>
          <a:p>
            <a:pPr>
              <a:lnSpc>
                <a:spcPct val="104000"/>
              </a:lnSpc>
              <a:spcAft>
                <a:spcPts val="220"/>
              </a:spcAft>
              <a:defRPr sz="1100" b="1">
                <a:solidFill>
                  <a:srgbClr val="FFFFFF"/>
                </a:solidFill>
                <a:latin typeface="Arial"/>
              </a:defRPr>
            </a:pPr>
            <a:r>
              <a:t>Used pages / form</a:t>
            </a:r>
          </a:p>
        </p:txBody>
      </p:sp>
      <p:sp>
        <p:nvSpPr>
          <p:cNvPr id="22" name="Rectangle 21"/>
          <p:cNvSpPr/>
          <p:nvPr/>
        </p:nvSpPr>
        <p:spPr>
          <a:xfrm>
            <a:off x="685800" y="2578608"/>
            <a:ext cx="10817352"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2688336"/>
            <a:ext cx="2679191" cy="329184"/>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S01 · Multispectral Laboratory</a:t>
            </a:r>
          </a:p>
        </p:txBody>
      </p:sp>
      <p:sp>
        <p:nvSpPr>
          <p:cNvPr id="24" name="TextBox 23"/>
          <p:cNvSpPr txBox="1"/>
          <p:nvPr/>
        </p:nvSpPr>
        <p:spPr>
          <a:xfrm>
            <a:off x="3685032" y="2688336"/>
            <a:ext cx="5394960" cy="329184"/>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Overview; method selection and sample optics</a:t>
            </a:r>
          </a:p>
        </p:txBody>
      </p:sp>
      <p:sp>
        <p:nvSpPr>
          <p:cNvPr id="25" name="TextBox 24"/>
          <p:cNvSpPr txBox="1"/>
          <p:nvPr/>
        </p:nvSpPr>
        <p:spPr>
          <a:xfrm>
            <a:off x="9281160" y="2688336"/>
            <a:ext cx="2139696" cy="329184"/>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pp.5–10, 16–18</a:t>
            </a:r>
          </a:p>
        </p:txBody>
      </p:sp>
      <p:cxnSp>
        <p:nvCxnSpPr>
          <p:cNvPr id="26" name="Connector 25"/>
          <p:cNvCxnSpPr/>
          <p:nvPr/>
        </p:nvCxnSpPr>
        <p:spPr>
          <a:xfrm>
            <a:off x="685800" y="3026664"/>
            <a:ext cx="10817352"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85800" y="3026664"/>
            <a:ext cx="10817352" cy="448056"/>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3136392"/>
            <a:ext cx="2679191" cy="329184"/>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S02 · Process-Control slides</a:t>
            </a:r>
          </a:p>
        </p:txBody>
      </p:sp>
      <p:sp>
        <p:nvSpPr>
          <p:cNvPr id="29" name="TextBox 28"/>
          <p:cNvSpPr txBox="1"/>
          <p:nvPr/>
        </p:nvSpPr>
        <p:spPr>
          <a:xfrm>
            <a:off x="3685032" y="3136392"/>
            <a:ext cx="5394960" cy="329184"/>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Company slides; fibers, lab petroleum, solution paths</a:t>
            </a:r>
          </a:p>
        </p:txBody>
      </p:sp>
      <p:sp>
        <p:nvSpPr>
          <p:cNvPr id="30" name="TextBox 29"/>
          <p:cNvSpPr txBox="1"/>
          <p:nvPr/>
        </p:nvSpPr>
        <p:spPr>
          <a:xfrm>
            <a:off x="9281160" y="3136392"/>
            <a:ext cx="2139696" cy="329184"/>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pp.6, 9, 13, 20</a:t>
            </a:r>
          </a:p>
        </p:txBody>
      </p:sp>
      <p:cxnSp>
        <p:nvCxnSpPr>
          <p:cNvPr id="31" name="Connector 30"/>
          <p:cNvCxnSpPr/>
          <p:nvPr/>
        </p:nvCxnSpPr>
        <p:spPr>
          <a:xfrm>
            <a:off x="685800" y="3474720"/>
            <a:ext cx="10817352"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685800" y="3474720"/>
            <a:ext cx="10817352"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3584448"/>
            <a:ext cx="2679191" cy="329184"/>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S03 · LED kidney study</a:t>
            </a:r>
          </a:p>
        </p:txBody>
      </p:sp>
      <p:sp>
        <p:nvSpPr>
          <p:cNvPr id="34" name="TextBox 33"/>
          <p:cNvSpPr txBox="1"/>
          <p:nvPr/>
        </p:nvSpPr>
        <p:spPr>
          <a:xfrm>
            <a:off x="3685032" y="3584448"/>
            <a:ext cx="5394960" cy="329184"/>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In-vitro proof of concept; not clinical readiness</a:t>
            </a:r>
          </a:p>
        </p:txBody>
      </p:sp>
      <p:sp>
        <p:nvSpPr>
          <p:cNvPr id="35" name="TextBox 34"/>
          <p:cNvSpPr txBox="1"/>
          <p:nvPr/>
        </p:nvSpPr>
        <p:spPr>
          <a:xfrm>
            <a:off x="9281160" y="3584448"/>
            <a:ext cx="2139696" cy="329184"/>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pp.1, 14</a:t>
            </a:r>
          </a:p>
        </p:txBody>
      </p:sp>
      <p:cxnSp>
        <p:nvCxnSpPr>
          <p:cNvPr id="36" name="Connector 35"/>
          <p:cNvCxnSpPr/>
          <p:nvPr/>
        </p:nvCxnSpPr>
        <p:spPr>
          <a:xfrm>
            <a:off x="685800" y="3922776"/>
            <a:ext cx="10817352"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85800" y="3922776"/>
            <a:ext cx="10817352" cy="448056"/>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 y="4032504"/>
            <a:ext cx="2679191" cy="329184"/>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S04 · MIR + fluorescence</a:t>
            </a:r>
          </a:p>
        </p:txBody>
      </p:sp>
      <p:sp>
        <p:nvSpPr>
          <p:cNvPr id="39" name="TextBox 38"/>
          <p:cNvSpPr txBox="1"/>
          <p:nvPr/>
        </p:nvSpPr>
        <p:spPr>
          <a:xfrm>
            <a:off x="3685032" y="4032504"/>
            <a:ext cx="5394960" cy="329184"/>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Laboratory/model-tissue demonstration</a:t>
            </a:r>
          </a:p>
        </p:txBody>
      </p:sp>
      <p:sp>
        <p:nvSpPr>
          <p:cNvPr id="40" name="TextBox 39"/>
          <p:cNvSpPr txBox="1"/>
          <p:nvPr/>
        </p:nvSpPr>
        <p:spPr>
          <a:xfrm>
            <a:off x="9281160" y="4032504"/>
            <a:ext cx="2139696" cy="329184"/>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6-page paper</a:t>
            </a:r>
          </a:p>
        </p:txBody>
      </p:sp>
      <p:cxnSp>
        <p:nvCxnSpPr>
          <p:cNvPr id="41" name="Connector 40"/>
          <p:cNvCxnSpPr/>
          <p:nvPr/>
        </p:nvCxnSpPr>
        <p:spPr>
          <a:xfrm>
            <a:off x="685800" y="4370832"/>
            <a:ext cx="10817352"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685800" y="4370832"/>
            <a:ext cx="10817352"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4672" y="4480560"/>
            <a:ext cx="2679191" cy="329184"/>
          </a:xfrm>
          <a:prstGeom prst="rect">
            <a:avLst/>
          </a:prstGeom>
          <a:noFill/>
        </p:spPr>
        <p:txBody>
          <a:bodyPr wrap="square" lIns="0" rIns="0" tIns="0" bIns="0">
            <a:spAutoFit/>
          </a:bodyPr>
          <a:lstStyle/>
          <a:p>
            <a:pPr>
              <a:lnSpc>
                <a:spcPct val="104000"/>
              </a:lnSpc>
              <a:spcAft>
                <a:spcPts val="280"/>
              </a:spcAft>
              <a:defRPr sz="1400" b="1">
                <a:solidFill>
                  <a:srgbClr val="142D3D"/>
                </a:solidFill>
                <a:latin typeface="Arial"/>
              </a:defRPr>
            </a:pPr>
            <a:r>
              <a:t>S05 / S06 · flyer + link</a:t>
            </a:r>
          </a:p>
        </p:txBody>
      </p:sp>
      <p:sp>
        <p:nvSpPr>
          <p:cNvPr id="44" name="TextBox 43"/>
          <p:cNvSpPr txBox="1"/>
          <p:nvPr/>
        </p:nvSpPr>
        <p:spPr>
          <a:xfrm>
            <a:off x="3685032" y="4480560"/>
            <a:ext cx="5394960" cy="329184"/>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Business context; not performance validation</a:t>
            </a:r>
          </a:p>
        </p:txBody>
      </p:sp>
      <p:sp>
        <p:nvSpPr>
          <p:cNvPr id="45" name="TextBox 44"/>
          <p:cNvSpPr txBox="1"/>
          <p:nvPr/>
        </p:nvSpPr>
        <p:spPr>
          <a:xfrm>
            <a:off x="9281160" y="4480560"/>
            <a:ext cx="2139696" cy="329184"/>
          </a:xfrm>
          <a:prstGeom prst="rect">
            <a:avLst/>
          </a:prstGeom>
          <a:noFill/>
        </p:spPr>
        <p:txBody>
          <a:bodyPr wrap="square" lIns="0" rIns="0" tIns="0" bIns="0">
            <a:spAutoFit/>
          </a:bodyPr>
          <a:lstStyle/>
          <a:p>
            <a:pPr>
              <a:lnSpc>
                <a:spcPct val="104000"/>
              </a:lnSpc>
              <a:spcAft>
                <a:spcPts val="280"/>
              </a:spcAft>
              <a:defRPr sz="1400" b="0">
                <a:solidFill>
                  <a:srgbClr val="142D3D"/>
                </a:solidFill>
                <a:latin typeface="Arial"/>
              </a:defRPr>
            </a:pPr>
            <a:r>
              <a:t>Flyer / lab link</a:t>
            </a:r>
          </a:p>
        </p:txBody>
      </p:sp>
      <p:cxnSp>
        <p:nvCxnSpPr>
          <p:cNvPr id="46" name="Connector 45"/>
          <p:cNvCxnSpPr/>
          <p:nvPr/>
        </p:nvCxnSpPr>
        <p:spPr>
          <a:xfrm>
            <a:off x="685800" y="4818888"/>
            <a:ext cx="10817352" cy="0"/>
          </a:xfrm>
          <a:prstGeom prst="line">
            <a:avLst/>
          </a:prstGeom>
          <a:ln w="6350">
            <a:solidFill>
              <a:srgbClr val="DCE5ED"/>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94944" y="5111496"/>
            <a:ext cx="10808208" cy="950976"/>
          </a:xfrm>
          <a:prstGeom prst="roundRect">
            <a:avLst>
              <a:gd name="adj" fmla="val 11538"/>
            </a:avLst>
          </a:prstGeom>
          <a:solidFill>
            <a:srgbClr val="E7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5285232"/>
            <a:ext cx="10387584" cy="585216"/>
          </a:xfrm>
          <a:prstGeom prst="rect">
            <a:avLst/>
          </a:prstGeom>
          <a:noFill/>
        </p:spPr>
        <p:txBody>
          <a:bodyPr wrap="square" lIns="0" rIns="0" tIns="0" bIns="0">
            <a:spAutoFit/>
          </a:bodyPr>
          <a:lstStyle/>
          <a:p>
            <a:pPr>
              <a:lnSpc>
                <a:spcPct val="104000"/>
              </a:lnSpc>
              <a:spcAft>
                <a:spcPts val="280"/>
              </a:spcAft>
              <a:defRPr sz="1400" b="0">
                <a:solidFill>
                  <a:srgbClr val="087F8C"/>
                </a:solidFill>
                <a:latin typeface="Arial"/>
              </a:defRPr>
            </a:pPr>
            <a:r>
              <a:t>Basis: README + frontend integration + pipeline/UI/KB/evaluation code; supplied drafts; official rubric.</a:t>
            </a:r>
          </a:p>
          <a:p>
            <a:pPr>
              <a:lnSpc>
                <a:spcPct val="104000"/>
              </a:lnSpc>
              <a:spcAft>
                <a:spcPts val="280"/>
              </a:spcAft>
              <a:defRPr sz="1400" b="0">
                <a:solidFill>
                  <a:srgbClr val="087F8C"/>
                </a:solidFill>
                <a:latin typeface="Arial"/>
              </a:defRPr>
            </a:pPr>
            <a:r>
              <a:t>Saved Council answers are preserved unedited. Presentation examples are labelled when condensed.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AFS Assessment Assistant | Hackathon Results &amp; Evaluation</dc:title>
  <dc:subject>Art Fiber Systems challenge, National AI Hackathon 2026</dc:subject>
  <dc:creator>Eisa Atif, Marie Habermann, Atfan Deshmukh, Akshdeep Singh, Naumanurrahman Shaikmujeeburrahman</dc:creator>
  <cp:keywords>AFS, spectroscopy, evaluation, clarification, Coach, knowledge base</cp:keywords>
  <dc:description>Evaluation-led results presentation. Source provenance, demo conditions, limitations and timings are included in every slide note.</dc:description>
  <cp:lastModifiedBy>Steve Canny</cp:lastModifiedBy>
  <cp:revision>1</cp:revision>
  <dcterms:created xsi:type="dcterms:W3CDTF">2013-01-27T09:14:16Z</dcterms:created>
  <dcterms:modified xsi:type="dcterms:W3CDTF">2013-01-27T09:15:58Z</dcterms:modified>
  <cp:category/>
</cp:coreProperties>
</file>